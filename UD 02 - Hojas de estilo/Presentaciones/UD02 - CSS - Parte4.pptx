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y="6858000" cx="9144000"/>
  <p:notesSz cx="9144000" cy="6858000"/>
  <p:embeddedFontLst>
    <p:embeddedFont>
      <p:font typeface="Montserrat"/>
      <p:regular r:id="rId61"/>
      <p:bold r:id="rId62"/>
      <p:italic r:id="rId63"/>
      <p:boldItalic r:id="rId64"/>
    </p:embeddedFont>
    <p:embeddedFont>
      <p:font typeface="Lato"/>
      <p:regular r:id="rId65"/>
      <p:bold r:id="rId66"/>
      <p:italic r:id="rId67"/>
      <p:boldItalic r:id="rId68"/>
    </p:embeddedFont>
    <p:embeddedFont>
      <p:font typeface="Noto Sans Symbols"/>
      <p:regular r:id="rId69"/>
      <p:bold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D2C677E-76CE-4C07-AC23-0E4C99C7E159}">
  <a:tblStyle styleId="{BD2C677E-76CE-4C07-AC23-0E4C99C7E159}"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0" Type="http://schemas.openxmlformats.org/officeDocument/2006/relationships/font" Target="fonts/NotoSansSymbols-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Montserrat-bold.fntdata"/><Relationship Id="rId61" Type="http://schemas.openxmlformats.org/officeDocument/2006/relationships/font" Target="fonts/Montserrat-regular.fntdata"/><Relationship Id="rId20" Type="http://schemas.openxmlformats.org/officeDocument/2006/relationships/slide" Target="slides/slide14.xml"/><Relationship Id="rId64" Type="http://schemas.openxmlformats.org/officeDocument/2006/relationships/font" Target="fonts/Montserrat-boldItalic.fntdata"/><Relationship Id="rId63" Type="http://schemas.openxmlformats.org/officeDocument/2006/relationships/font" Target="fonts/Montserrat-italic.fntdata"/><Relationship Id="rId22" Type="http://schemas.openxmlformats.org/officeDocument/2006/relationships/slide" Target="slides/slide16.xml"/><Relationship Id="rId66" Type="http://schemas.openxmlformats.org/officeDocument/2006/relationships/font" Target="fonts/Lato-bold.fntdata"/><Relationship Id="rId21" Type="http://schemas.openxmlformats.org/officeDocument/2006/relationships/slide" Target="slides/slide15.xml"/><Relationship Id="rId65" Type="http://schemas.openxmlformats.org/officeDocument/2006/relationships/font" Target="fonts/Lato-regular.fntdata"/><Relationship Id="rId24" Type="http://schemas.openxmlformats.org/officeDocument/2006/relationships/slide" Target="slides/slide18.xml"/><Relationship Id="rId68" Type="http://schemas.openxmlformats.org/officeDocument/2006/relationships/font" Target="fonts/Lato-boldItalic.fntdata"/><Relationship Id="rId23" Type="http://schemas.openxmlformats.org/officeDocument/2006/relationships/slide" Target="slides/slide17.xml"/><Relationship Id="rId67" Type="http://schemas.openxmlformats.org/officeDocument/2006/relationships/font" Target="fonts/Lato-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NotoSansSymbols-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48dfcb042d_3_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248dfcb042d_3_0: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8291efc7c4_0_36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g28291efc7c4_0_361: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48cc572544_0_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248cc572544_0_1: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48cc572544_0_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g248cc572544_0_6: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4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4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4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4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4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4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4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4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4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5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5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5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5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5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5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5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5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5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5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226400" y="274573"/>
            <a:ext cx="21915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654"/>
            <a:ext cx="5153705" cy="6845694"/>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2104533"/>
            <a:ext cx="5017500" cy="21051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5233233"/>
            <a:ext cx="3470700" cy="674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6857248"/>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737333"/>
            <a:ext cx="4587000" cy="15315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507989"/>
            <a:ext cx="1037850" cy="1355016"/>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525000"/>
            <a:ext cx="7038900" cy="12189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2090067"/>
            <a:ext cx="7038900" cy="3881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507989"/>
            <a:ext cx="1037850" cy="1355016"/>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525000"/>
            <a:ext cx="7038900" cy="12189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2090067"/>
            <a:ext cx="3403200" cy="3881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2090067"/>
            <a:ext cx="3403200" cy="3881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507989"/>
            <a:ext cx="1037850" cy="1355016"/>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525000"/>
            <a:ext cx="7038900" cy="12189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507989"/>
            <a:ext cx="1037850" cy="1355016"/>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525000"/>
            <a:ext cx="3798900" cy="19908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2630067"/>
            <a:ext cx="3798900" cy="322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6857829"/>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1155700"/>
            <a:ext cx="4587000" cy="4694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507989"/>
            <a:ext cx="1037850" cy="1355016"/>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2211100"/>
            <a:ext cx="3036300" cy="23355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4717333"/>
            <a:ext cx="3036300" cy="674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2262133"/>
            <a:ext cx="3676800" cy="3129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5504636"/>
            <a:ext cx="698925" cy="912853"/>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5740500"/>
            <a:ext cx="6936000" cy="6984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6857248"/>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712900"/>
            <a:ext cx="4776000" cy="17343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3524166"/>
            <a:ext cx="4776000" cy="1625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130" name="Shape 130"/>
        <p:cNvGrpSpPr/>
        <p:nvPr/>
      </p:nvGrpSpPr>
      <p:grpSpPr>
        <a:xfrm>
          <a:off x="0" y="0"/>
          <a:ext cx="0" cy="0"/>
          <a:chOff x="0" y="0"/>
          <a:chExt cx="0" cy="0"/>
        </a:xfrm>
      </p:grpSpPr>
      <p:sp>
        <p:nvSpPr>
          <p:cNvPr id="131" name="Google Shape;131;p13"/>
          <p:cNvSpPr txBox="1"/>
          <p:nvPr>
            <p:ph type="title"/>
          </p:nvPr>
        </p:nvSpPr>
        <p:spPr>
          <a:xfrm>
            <a:off x="364337" y="303352"/>
            <a:ext cx="8251200" cy="7581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2800"/>
              <a:buNone/>
              <a:defRPr b="1" i="0" sz="3200">
                <a:solidFill>
                  <a:schemeClr val="dk1"/>
                </a:solidFill>
                <a:latin typeface="Arial"/>
                <a:ea typeface="Arial"/>
                <a:cs typeface="Arial"/>
                <a:sym typeface="Aria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13"/>
          <p:cNvSpPr txBox="1"/>
          <p:nvPr>
            <p:ph idx="11" type="ftr"/>
          </p:nvPr>
        </p:nvSpPr>
        <p:spPr>
          <a:xfrm>
            <a:off x="3108960" y="6377940"/>
            <a:ext cx="2926200" cy="342900"/>
          </a:xfrm>
          <a:prstGeom prst="rect">
            <a:avLst/>
          </a:prstGeom>
          <a:noFill/>
          <a:ln>
            <a:noFill/>
          </a:ln>
        </p:spPr>
        <p:txBody>
          <a:bodyPr anchorCtr="0" anchor="t" bIns="0" lIns="0" spcFirstLastPara="1" rIns="0" wrap="square" tIns="0">
            <a:spAutoFit/>
          </a:bodyPr>
          <a:lstStyle>
            <a:lvl1pPr lvl="0" rtl="0" algn="ctr">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3" name="Google Shape;133;p13"/>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4" name="Google Shape;134;p13"/>
          <p:cNvSpPr txBox="1"/>
          <p:nvPr>
            <p:ph idx="12" type="sldNum"/>
          </p:nvPr>
        </p:nvSpPr>
        <p:spPr>
          <a:xfrm>
            <a:off x="6583680" y="6377940"/>
            <a:ext cx="2103000" cy="153900"/>
          </a:xfrm>
          <a:prstGeom prst="rect">
            <a:avLst/>
          </a:prstGeom>
          <a:noFill/>
          <a:ln>
            <a:noFill/>
          </a:ln>
        </p:spPr>
        <p:txBody>
          <a:bodyPr anchorCtr="0" anchor="t" bIns="0" lIns="0" spcFirstLastPara="1" rIns="0" wrap="square" tIns="0">
            <a:spAutoFit/>
          </a:bodyPr>
          <a:lstStyle>
            <a:lvl1pPr indent="0" lvl="0" rtl="0" algn="r">
              <a:spcBef>
                <a:spcPts val="0"/>
              </a:spcBef>
              <a:buNone/>
              <a:defRPr>
                <a:solidFill>
                  <a:srgbClr val="888888"/>
                </a:solidFill>
              </a:defRPr>
            </a:lvl1pPr>
            <a:lvl2pPr indent="0" lvl="1" rtl="0" algn="r">
              <a:spcBef>
                <a:spcPts val="0"/>
              </a:spcBef>
              <a:buNone/>
              <a:defRPr>
                <a:solidFill>
                  <a:srgbClr val="888888"/>
                </a:solidFill>
              </a:defRPr>
            </a:lvl2pPr>
            <a:lvl3pPr indent="0" lvl="2" rtl="0" algn="r">
              <a:spcBef>
                <a:spcPts val="0"/>
              </a:spcBef>
              <a:buNone/>
              <a:defRPr>
                <a:solidFill>
                  <a:srgbClr val="888888"/>
                </a:solidFill>
              </a:defRPr>
            </a:lvl3pPr>
            <a:lvl4pPr indent="0" lvl="3" rtl="0" algn="r">
              <a:spcBef>
                <a:spcPts val="0"/>
              </a:spcBef>
              <a:buNone/>
              <a:defRPr>
                <a:solidFill>
                  <a:srgbClr val="888888"/>
                </a:solidFill>
              </a:defRPr>
            </a:lvl4pPr>
            <a:lvl5pPr indent="0" lvl="4" rtl="0" algn="r">
              <a:spcBef>
                <a:spcPts val="0"/>
              </a:spcBef>
              <a:buNone/>
              <a:defRPr>
                <a:solidFill>
                  <a:srgbClr val="888888"/>
                </a:solidFill>
              </a:defRPr>
            </a:lvl5pPr>
            <a:lvl6pPr indent="0" lvl="5" rtl="0" algn="r">
              <a:spcBef>
                <a:spcPts val="0"/>
              </a:spcBef>
              <a:buNone/>
              <a:defRPr>
                <a:solidFill>
                  <a:srgbClr val="888888"/>
                </a:solidFill>
              </a:defRPr>
            </a:lvl6pPr>
            <a:lvl7pPr indent="0" lvl="6" rtl="0" algn="r">
              <a:spcBef>
                <a:spcPts val="0"/>
              </a:spcBef>
              <a:buNone/>
              <a:defRPr>
                <a:solidFill>
                  <a:srgbClr val="888888"/>
                </a:solidFill>
              </a:defRPr>
            </a:lvl7pPr>
            <a:lvl8pPr indent="0" lvl="7" rtl="0" algn="r">
              <a:spcBef>
                <a:spcPts val="0"/>
              </a:spcBef>
              <a:buNone/>
              <a:defRPr>
                <a:solidFill>
                  <a:srgbClr val="888888"/>
                </a:solidFill>
              </a:defRPr>
            </a:lvl8pPr>
            <a:lvl9pPr indent="0" lvl="8" rt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solidFill>
                <a:schemeClr val="lt1"/>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5" name="Shape 135"/>
        <p:cNvGrpSpPr/>
        <p:nvPr/>
      </p:nvGrpSpPr>
      <p:grpSpPr>
        <a:xfrm>
          <a:off x="0" y="0"/>
          <a:ext cx="0" cy="0"/>
          <a:chOff x="0" y="0"/>
          <a:chExt cx="0" cy="0"/>
        </a:xfrm>
      </p:grpSpPr>
      <p:sp>
        <p:nvSpPr>
          <p:cNvPr id="136" name="Google Shape;136;p14"/>
          <p:cNvSpPr txBox="1"/>
          <p:nvPr>
            <p:ph type="title"/>
          </p:nvPr>
        </p:nvSpPr>
        <p:spPr>
          <a:xfrm>
            <a:off x="364337" y="303352"/>
            <a:ext cx="8251200" cy="7581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2800"/>
              <a:buNone/>
              <a:defRPr b="1" i="0" sz="3200">
                <a:solidFill>
                  <a:schemeClr val="dk1"/>
                </a:solidFill>
                <a:latin typeface="Arial"/>
                <a:ea typeface="Arial"/>
                <a:cs typeface="Arial"/>
                <a:sym typeface="Aria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7" name="Google Shape;137;p14"/>
          <p:cNvSpPr txBox="1"/>
          <p:nvPr>
            <p:ph idx="1" type="body"/>
          </p:nvPr>
        </p:nvSpPr>
        <p:spPr>
          <a:xfrm>
            <a:off x="380491" y="1050416"/>
            <a:ext cx="7554000" cy="15627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1300"/>
              <a:buNone/>
              <a:defRPr b="0" i="0" sz="2000">
                <a:solidFill>
                  <a:srgbClr val="202429"/>
                </a:solidFill>
                <a:latin typeface="Calibri"/>
                <a:ea typeface="Calibri"/>
                <a:cs typeface="Calibri"/>
                <a:sym typeface="Calibri"/>
              </a:defRPr>
            </a:lvl1pPr>
            <a:lvl2pPr indent="-228600" lvl="1" marL="914400" rtl="0" algn="l">
              <a:spcBef>
                <a:spcPts val="1200"/>
              </a:spcBef>
              <a:spcAft>
                <a:spcPts val="0"/>
              </a:spcAft>
              <a:buSzPts val="1100"/>
              <a:buNone/>
              <a:defRPr/>
            </a:lvl2pPr>
            <a:lvl3pPr indent="-228600" lvl="2" marL="1371600" rtl="0" algn="l">
              <a:spcBef>
                <a:spcPts val="1200"/>
              </a:spcBef>
              <a:spcAft>
                <a:spcPts val="0"/>
              </a:spcAft>
              <a:buSzPts val="1100"/>
              <a:buNone/>
              <a:defRPr/>
            </a:lvl3pPr>
            <a:lvl4pPr indent="-228600" lvl="3" marL="1828800" rtl="0" algn="l">
              <a:spcBef>
                <a:spcPts val="1200"/>
              </a:spcBef>
              <a:spcAft>
                <a:spcPts val="0"/>
              </a:spcAft>
              <a:buSzPts val="1100"/>
              <a:buNone/>
              <a:defRPr/>
            </a:lvl4pPr>
            <a:lvl5pPr indent="-228600" lvl="4" marL="2286000" rtl="0" algn="l">
              <a:spcBef>
                <a:spcPts val="1200"/>
              </a:spcBef>
              <a:spcAft>
                <a:spcPts val="0"/>
              </a:spcAft>
              <a:buSzPts val="1100"/>
              <a:buNone/>
              <a:defRPr/>
            </a:lvl5pPr>
            <a:lvl6pPr indent="-228600" lvl="5" marL="2743200" rtl="0" algn="l">
              <a:spcBef>
                <a:spcPts val="1200"/>
              </a:spcBef>
              <a:spcAft>
                <a:spcPts val="0"/>
              </a:spcAft>
              <a:buSzPts val="1100"/>
              <a:buNone/>
              <a:defRPr/>
            </a:lvl6pPr>
            <a:lvl7pPr indent="-228600" lvl="6" marL="3200400" rtl="0" algn="l">
              <a:spcBef>
                <a:spcPts val="1200"/>
              </a:spcBef>
              <a:spcAft>
                <a:spcPts val="0"/>
              </a:spcAft>
              <a:buSzPts val="1100"/>
              <a:buNone/>
              <a:defRPr/>
            </a:lvl7pPr>
            <a:lvl8pPr indent="-228600" lvl="7" marL="3657600" rtl="0" algn="l">
              <a:spcBef>
                <a:spcPts val="1200"/>
              </a:spcBef>
              <a:spcAft>
                <a:spcPts val="0"/>
              </a:spcAft>
              <a:buSzPts val="1100"/>
              <a:buNone/>
              <a:defRPr/>
            </a:lvl8pPr>
            <a:lvl9pPr indent="-228600" lvl="8" marL="4114800" rtl="0" algn="l">
              <a:spcBef>
                <a:spcPts val="1200"/>
              </a:spcBef>
              <a:spcAft>
                <a:spcPts val="1200"/>
              </a:spcAft>
              <a:buSzPts val="1100"/>
              <a:buNone/>
              <a:defRPr/>
            </a:lvl9pPr>
          </a:lstStyle>
          <a:p/>
        </p:txBody>
      </p:sp>
      <p:sp>
        <p:nvSpPr>
          <p:cNvPr id="138" name="Google Shape;138;p14"/>
          <p:cNvSpPr txBox="1"/>
          <p:nvPr>
            <p:ph idx="11" type="ftr"/>
          </p:nvPr>
        </p:nvSpPr>
        <p:spPr>
          <a:xfrm>
            <a:off x="3108960" y="6377940"/>
            <a:ext cx="2926200" cy="342900"/>
          </a:xfrm>
          <a:prstGeom prst="rect">
            <a:avLst/>
          </a:prstGeom>
          <a:noFill/>
          <a:ln>
            <a:noFill/>
          </a:ln>
        </p:spPr>
        <p:txBody>
          <a:bodyPr anchorCtr="0" anchor="t" bIns="0" lIns="0" spcFirstLastPara="1" rIns="0" wrap="square" tIns="0">
            <a:spAutoFit/>
          </a:bodyPr>
          <a:lstStyle>
            <a:lvl1pPr lvl="0" rtl="0" algn="ctr">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9" name="Google Shape;139;p14"/>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0" name="Google Shape;140;p14"/>
          <p:cNvSpPr txBox="1"/>
          <p:nvPr>
            <p:ph idx="12" type="sldNum"/>
          </p:nvPr>
        </p:nvSpPr>
        <p:spPr>
          <a:xfrm>
            <a:off x="6583680" y="6377940"/>
            <a:ext cx="2103000" cy="153900"/>
          </a:xfrm>
          <a:prstGeom prst="rect">
            <a:avLst/>
          </a:prstGeom>
          <a:noFill/>
          <a:ln>
            <a:noFill/>
          </a:ln>
        </p:spPr>
        <p:txBody>
          <a:bodyPr anchorCtr="0" anchor="t" bIns="0" lIns="0" spcFirstLastPara="1" rIns="0" wrap="square" tIns="0">
            <a:spAutoFit/>
          </a:bodyPr>
          <a:lstStyle>
            <a:lvl1pPr indent="0" lvl="0" rtl="0" algn="r">
              <a:spcBef>
                <a:spcPts val="0"/>
              </a:spcBef>
              <a:buNone/>
              <a:defRPr>
                <a:solidFill>
                  <a:srgbClr val="888888"/>
                </a:solidFill>
              </a:defRPr>
            </a:lvl1pPr>
            <a:lvl2pPr indent="0" lvl="1" rtl="0" algn="r">
              <a:spcBef>
                <a:spcPts val="0"/>
              </a:spcBef>
              <a:buNone/>
              <a:defRPr>
                <a:solidFill>
                  <a:srgbClr val="888888"/>
                </a:solidFill>
              </a:defRPr>
            </a:lvl2pPr>
            <a:lvl3pPr indent="0" lvl="2" rtl="0" algn="r">
              <a:spcBef>
                <a:spcPts val="0"/>
              </a:spcBef>
              <a:buNone/>
              <a:defRPr>
                <a:solidFill>
                  <a:srgbClr val="888888"/>
                </a:solidFill>
              </a:defRPr>
            </a:lvl3pPr>
            <a:lvl4pPr indent="0" lvl="3" rtl="0" algn="r">
              <a:spcBef>
                <a:spcPts val="0"/>
              </a:spcBef>
              <a:buNone/>
              <a:defRPr>
                <a:solidFill>
                  <a:srgbClr val="888888"/>
                </a:solidFill>
              </a:defRPr>
            </a:lvl4pPr>
            <a:lvl5pPr indent="0" lvl="4" rtl="0" algn="r">
              <a:spcBef>
                <a:spcPts val="0"/>
              </a:spcBef>
              <a:buNone/>
              <a:defRPr>
                <a:solidFill>
                  <a:srgbClr val="888888"/>
                </a:solidFill>
              </a:defRPr>
            </a:lvl5pPr>
            <a:lvl6pPr indent="0" lvl="5" rtl="0" algn="r">
              <a:spcBef>
                <a:spcPts val="0"/>
              </a:spcBef>
              <a:buNone/>
              <a:defRPr>
                <a:solidFill>
                  <a:srgbClr val="888888"/>
                </a:solidFill>
              </a:defRPr>
            </a:lvl6pPr>
            <a:lvl7pPr indent="0" lvl="6" rtl="0" algn="r">
              <a:spcBef>
                <a:spcPts val="0"/>
              </a:spcBef>
              <a:buNone/>
              <a:defRPr>
                <a:solidFill>
                  <a:srgbClr val="888888"/>
                </a:solidFill>
              </a:defRPr>
            </a:lvl7pPr>
            <a:lvl8pPr indent="0" lvl="7" rtl="0" algn="r">
              <a:spcBef>
                <a:spcPts val="0"/>
              </a:spcBef>
              <a:buNone/>
              <a:defRPr>
                <a:solidFill>
                  <a:srgbClr val="888888"/>
                </a:solidFill>
              </a:defRPr>
            </a:lvl8pPr>
            <a:lvl9pPr indent="0" lvl="8" rt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solidFill>
                <a:schemeClr val="lt1"/>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41" name="Shape 141"/>
        <p:cNvGrpSpPr/>
        <p:nvPr/>
      </p:nvGrpSpPr>
      <p:grpSpPr>
        <a:xfrm>
          <a:off x="0" y="0"/>
          <a:ext cx="0" cy="0"/>
          <a:chOff x="0" y="0"/>
          <a:chExt cx="0" cy="0"/>
        </a:xfrm>
      </p:grpSpPr>
      <p:sp>
        <p:nvSpPr>
          <p:cNvPr id="142" name="Google Shape;142;p15"/>
          <p:cNvSpPr txBox="1"/>
          <p:nvPr>
            <p:ph idx="11" type="ftr"/>
          </p:nvPr>
        </p:nvSpPr>
        <p:spPr>
          <a:xfrm>
            <a:off x="3108960" y="6377940"/>
            <a:ext cx="2926200" cy="342900"/>
          </a:xfrm>
          <a:prstGeom prst="rect">
            <a:avLst/>
          </a:prstGeom>
          <a:noFill/>
          <a:ln>
            <a:noFill/>
          </a:ln>
        </p:spPr>
        <p:txBody>
          <a:bodyPr anchorCtr="0" anchor="t" bIns="0" lIns="0" spcFirstLastPara="1" rIns="0" wrap="square" tIns="0">
            <a:spAutoFit/>
          </a:bodyPr>
          <a:lstStyle>
            <a:lvl1pPr lvl="0" rtl="0" algn="ctr">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3" name="Google Shape;143;p15"/>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4" name="Google Shape;144;p15"/>
          <p:cNvSpPr txBox="1"/>
          <p:nvPr>
            <p:ph idx="12" type="sldNum"/>
          </p:nvPr>
        </p:nvSpPr>
        <p:spPr>
          <a:xfrm>
            <a:off x="6583680" y="6377940"/>
            <a:ext cx="2103000" cy="153900"/>
          </a:xfrm>
          <a:prstGeom prst="rect">
            <a:avLst/>
          </a:prstGeom>
          <a:noFill/>
          <a:ln>
            <a:noFill/>
          </a:ln>
        </p:spPr>
        <p:txBody>
          <a:bodyPr anchorCtr="0" anchor="t" bIns="0" lIns="0" spcFirstLastPara="1" rIns="0" wrap="square" tIns="0">
            <a:spAutoFit/>
          </a:bodyPr>
          <a:lstStyle>
            <a:lvl1pPr indent="0" lvl="0" rtl="0" algn="r">
              <a:spcBef>
                <a:spcPts val="0"/>
              </a:spcBef>
              <a:buNone/>
              <a:defRPr>
                <a:solidFill>
                  <a:srgbClr val="888888"/>
                </a:solidFill>
              </a:defRPr>
            </a:lvl1pPr>
            <a:lvl2pPr indent="0" lvl="1" rtl="0" algn="r">
              <a:spcBef>
                <a:spcPts val="0"/>
              </a:spcBef>
              <a:buNone/>
              <a:defRPr>
                <a:solidFill>
                  <a:srgbClr val="888888"/>
                </a:solidFill>
              </a:defRPr>
            </a:lvl2pPr>
            <a:lvl3pPr indent="0" lvl="2" rtl="0" algn="r">
              <a:spcBef>
                <a:spcPts val="0"/>
              </a:spcBef>
              <a:buNone/>
              <a:defRPr>
                <a:solidFill>
                  <a:srgbClr val="888888"/>
                </a:solidFill>
              </a:defRPr>
            </a:lvl3pPr>
            <a:lvl4pPr indent="0" lvl="3" rtl="0" algn="r">
              <a:spcBef>
                <a:spcPts val="0"/>
              </a:spcBef>
              <a:buNone/>
              <a:defRPr>
                <a:solidFill>
                  <a:srgbClr val="888888"/>
                </a:solidFill>
              </a:defRPr>
            </a:lvl4pPr>
            <a:lvl5pPr indent="0" lvl="4" rtl="0" algn="r">
              <a:spcBef>
                <a:spcPts val="0"/>
              </a:spcBef>
              <a:buNone/>
              <a:defRPr>
                <a:solidFill>
                  <a:srgbClr val="888888"/>
                </a:solidFill>
              </a:defRPr>
            </a:lvl5pPr>
            <a:lvl6pPr indent="0" lvl="5" rtl="0" algn="r">
              <a:spcBef>
                <a:spcPts val="0"/>
              </a:spcBef>
              <a:buNone/>
              <a:defRPr>
                <a:solidFill>
                  <a:srgbClr val="888888"/>
                </a:solidFill>
              </a:defRPr>
            </a:lvl6pPr>
            <a:lvl7pPr indent="0" lvl="6" rtl="0" algn="r">
              <a:spcBef>
                <a:spcPts val="0"/>
              </a:spcBef>
              <a:buNone/>
              <a:defRPr>
                <a:solidFill>
                  <a:srgbClr val="888888"/>
                </a:solidFill>
              </a:defRPr>
            </a:lvl7pPr>
            <a:lvl8pPr indent="0" lvl="7" rtl="0" algn="r">
              <a:spcBef>
                <a:spcPts val="0"/>
              </a:spcBef>
              <a:buNone/>
              <a:defRPr>
                <a:solidFill>
                  <a:srgbClr val="888888"/>
                </a:solidFill>
              </a:defRPr>
            </a:lvl8pPr>
            <a:lvl9pPr indent="0" lvl="8" rt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solidFill>
                <a:schemeClr val="lt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uniwebsidad.com/libros/referencia-css2/el-valor-inheri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4.png"/><Relationship Id="rId4" Type="http://schemas.openxmlformats.org/officeDocument/2006/relationships/image" Target="../media/image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29.png"/><Relationship Id="rId5" Type="http://schemas.openxmlformats.org/officeDocument/2006/relationships/image" Target="../media/image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8.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5.jpg"/><Relationship Id="rId4" Type="http://schemas.openxmlformats.org/officeDocument/2006/relationships/image" Target="../media/image30.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8.png"/><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hyperlink" Target="https://developer.mozilla.org/es/docs/Web/CSS/CSS_Positioning/entendiendo_z_index/ejemplo_1_del_contexto_de_apilamiento" TargetMode="External"/><Relationship Id="rId4" Type="http://schemas.openxmlformats.org/officeDocument/2006/relationships/hyperlink" Target="http://www.sidar.org/recur/desdi/mcss/manual/ejemplos/zindex.html" TargetMode="External"/><Relationship Id="rId5"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6"/>
          <p:cNvSpPr txBox="1"/>
          <p:nvPr>
            <p:ph type="ctrTitle"/>
          </p:nvPr>
        </p:nvSpPr>
        <p:spPr>
          <a:xfrm>
            <a:off x="4280575" y="2345175"/>
            <a:ext cx="3685800" cy="843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2700">
                <a:latin typeface="Lucida Sans"/>
                <a:ea typeface="Lucida Sans"/>
                <a:cs typeface="Lucida Sans"/>
                <a:sym typeface="Lucida Sans"/>
              </a:rPr>
              <a:t>Posicionamiento y Visualización</a:t>
            </a:r>
            <a:endParaRPr sz="2700">
              <a:latin typeface="Lucida Sans"/>
              <a:ea typeface="Lucida Sans"/>
              <a:cs typeface="Lucida Sans"/>
              <a:sym typeface="Lucida Sans"/>
            </a:endParaRPr>
          </a:p>
        </p:txBody>
      </p:sp>
      <p:sp>
        <p:nvSpPr>
          <p:cNvPr id="150" name="Google Shape;150;p16"/>
          <p:cNvSpPr txBox="1"/>
          <p:nvPr>
            <p:ph idx="1" type="subTitle"/>
          </p:nvPr>
        </p:nvSpPr>
        <p:spPr>
          <a:xfrm>
            <a:off x="5083950" y="5233233"/>
            <a:ext cx="3470700" cy="67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a:t>UD 02 - HOJAS DE ESTILO (IV)</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7"/>
          <p:cNvSpPr txBox="1"/>
          <p:nvPr>
            <p:ph idx="1" type="body"/>
          </p:nvPr>
        </p:nvSpPr>
        <p:spPr>
          <a:xfrm>
            <a:off x="1364350" y="1885417"/>
            <a:ext cx="7038900" cy="3707100"/>
          </a:xfrm>
          <a:prstGeom prst="rect">
            <a:avLst/>
          </a:prstGeom>
          <a:noFill/>
          <a:ln>
            <a:noFill/>
          </a:ln>
        </p:spPr>
        <p:txBody>
          <a:bodyPr anchorCtr="0" anchor="t" bIns="0" lIns="0" spcFirstLastPara="1" rIns="0" wrap="square" tIns="73725">
            <a:spAutoFit/>
          </a:bodyPr>
          <a:lstStyle/>
          <a:p>
            <a:pPr indent="0" lvl="0" marL="0" marR="5080" rtl="0" algn="just">
              <a:lnSpc>
                <a:spcPct val="100000"/>
              </a:lnSpc>
              <a:spcBef>
                <a:spcPts val="0"/>
              </a:spcBef>
              <a:spcAft>
                <a:spcPts val="0"/>
              </a:spcAft>
              <a:buNone/>
            </a:pPr>
            <a:r>
              <a:rPr lang="en-US" sz="2400">
                <a:latin typeface="Arial"/>
                <a:ea typeface="Arial"/>
                <a:cs typeface="Arial"/>
                <a:sym typeface="Arial"/>
              </a:rPr>
              <a:t>Cuando los navegadores descargan el contenido HTML y CSS de las páginas web, aplican un </a:t>
            </a:r>
            <a:r>
              <a:rPr b="1" lang="en-US" sz="2400">
                <a:latin typeface="Arial"/>
                <a:ea typeface="Arial"/>
                <a:cs typeface="Arial"/>
                <a:sym typeface="Arial"/>
              </a:rPr>
              <a:t>procesamiento </a:t>
            </a:r>
            <a:r>
              <a:rPr lang="en-US" sz="2400">
                <a:latin typeface="Arial"/>
                <a:ea typeface="Arial"/>
                <a:cs typeface="Arial"/>
                <a:sym typeface="Arial"/>
              </a:rPr>
              <a:t>muy complejo </a:t>
            </a:r>
            <a:r>
              <a:rPr b="1" lang="en-US" sz="2400">
                <a:latin typeface="Arial"/>
                <a:ea typeface="Arial"/>
                <a:cs typeface="Arial"/>
                <a:sym typeface="Arial"/>
              </a:rPr>
              <a:t>antes </a:t>
            </a:r>
            <a:r>
              <a:rPr lang="en-US" sz="2400">
                <a:latin typeface="Arial"/>
                <a:ea typeface="Arial"/>
                <a:cs typeface="Arial"/>
                <a:sym typeface="Arial"/>
              </a:rPr>
              <a:t>de </a:t>
            </a:r>
            <a:r>
              <a:rPr b="1" lang="en-US" sz="2400">
                <a:latin typeface="Arial"/>
                <a:ea typeface="Arial"/>
                <a:cs typeface="Arial"/>
                <a:sym typeface="Arial"/>
              </a:rPr>
              <a:t>mostrar </a:t>
            </a:r>
            <a:r>
              <a:rPr lang="en-US" sz="2400">
                <a:latin typeface="Arial"/>
                <a:ea typeface="Arial"/>
                <a:cs typeface="Arial"/>
                <a:sym typeface="Arial"/>
              </a:rPr>
              <a:t>las páginas en la pantalla del usuario.</a:t>
            </a:r>
            <a:endParaRPr sz="2400">
              <a:latin typeface="Arial"/>
              <a:ea typeface="Arial"/>
              <a:cs typeface="Arial"/>
              <a:sym typeface="Arial"/>
            </a:endParaRPr>
          </a:p>
          <a:p>
            <a:pPr indent="0" lvl="0" marL="171450" marR="5080" rtl="0" algn="just">
              <a:lnSpc>
                <a:spcPct val="100000"/>
              </a:lnSpc>
              <a:spcBef>
                <a:spcPts val="1200"/>
              </a:spcBef>
              <a:spcAft>
                <a:spcPts val="0"/>
              </a:spcAft>
              <a:buNone/>
            </a:pPr>
            <a:r>
              <a:t/>
            </a:r>
            <a:endParaRPr sz="2400">
              <a:latin typeface="Arial"/>
              <a:ea typeface="Arial"/>
              <a:cs typeface="Arial"/>
              <a:sym typeface="Arial"/>
            </a:endParaRPr>
          </a:p>
          <a:p>
            <a:pPr indent="0" lvl="0" marL="12700" marR="5080" rtl="0" algn="just">
              <a:lnSpc>
                <a:spcPct val="100000"/>
              </a:lnSpc>
              <a:spcBef>
                <a:spcPts val="1200"/>
              </a:spcBef>
              <a:spcAft>
                <a:spcPts val="0"/>
              </a:spcAft>
              <a:buNone/>
            </a:pPr>
            <a:r>
              <a:rPr lang="en-US" sz="2400">
                <a:latin typeface="Arial"/>
                <a:ea typeface="Arial"/>
                <a:cs typeface="Arial"/>
                <a:sym typeface="Arial"/>
              </a:rPr>
              <a:t>Los navegadores crean una </a:t>
            </a:r>
            <a:r>
              <a:rPr lang="en-US" sz="2400">
                <a:solidFill>
                  <a:schemeClr val="lt2"/>
                </a:solidFill>
                <a:latin typeface="Arial"/>
                <a:ea typeface="Arial"/>
                <a:cs typeface="Arial"/>
                <a:sym typeface="Arial"/>
              </a:rPr>
              <a:t>caja (Box Model)</a:t>
            </a:r>
            <a:r>
              <a:rPr lang="en-US" sz="2400">
                <a:latin typeface="Arial"/>
                <a:ea typeface="Arial"/>
                <a:cs typeface="Arial"/>
                <a:sym typeface="Arial"/>
              </a:rPr>
              <a:t> para representar a	cada elemento de la página HTML. Los </a:t>
            </a:r>
            <a:r>
              <a:rPr b="1" lang="en-US" sz="2400">
                <a:latin typeface="Arial"/>
                <a:ea typeface="Arial"/>
                <a:cs typeface="Arial"/>
                <a:sym typeface="Arial"/>
              </a:rPr>
              <a:t>factores que se	tienen en cuenta </a:t>
            </a:r>
            <a:r>
              <a:rPr lang="en-US" sz="2400">
                <a:latin typeface="Arial"/>
                <a:ea typeface="Arial"/>
                <a:cs typeface="Arial"/>
                <a:sym typeface="Arial"/>
              </a:rPr>
              <a:t>para generar cada </a:t>
            </a:r>
            <a:r>
              <a:rPr b="1" lang="en-US" sz="2400">
                <a:latin typeface="Arial"/>
                <a:ea typeface="Arial"/>
                <a:cs typeface="Arial"/>
                <a:sym typeface="Arial"/>
              </a:rPr>
              <a:t>caja </a:t>
            </a:r>
            <a:r>
              <a:rPr lang="en-US" sz="2400">
                <a:latin typeface="Arial"/>
                <a:ea typeface="Arial"/>
                <a:cs typeface="Arial"/>
                <a:sym typeface="Arial"/>
              </a:rPr>
              <a:t>son:</a:t>
            </a:r>
            <a:endParaRPr sz="24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8"/>
          <p:cNvSpPr txBox="1"/>
          <p:nvPr/>
        </p:nvSpPr>
        <p:spPr>
          <a:xfrm>
            <a:off x="1459825" y="901025"/>
            <a:ext cx="7081200" cy="5215500"/>
          </a:xfrm>
          <a:prstGeom prst="rect">
            <a:avLst/>
          </a:prstGeom>
          <a:noFill/>
          <a:ln>
            <a:noFill/>
          </a:ln>
        </p:spPr>
        <p:txBody>
          <a:bodyPr anchorCtr="0" anchor="t" bIns="0" lIns="0" spcFirstLastPara="1" rIns="0" wrap="square" tIns="12700">
            <a:spAutoFit/>
          </a:bodyPr>
          <a:lstStyle/>
          <a:p>
            <a:pPr indent="-139700" lvl="0" marL="0" marR="1100455" rtl="0" algn="just">
              <a:lnSpc>
                <a:spcPct val="100000"/>
              </a:lnSpc>
              <a:spcBef>
                <a:spcPts val="0"/>
              </a:spcBef>
              <a:spcAft>
                <a:spcPts val="0"/>
              </a:spcAft>
              <a:buClr>
                <a:schemeClr val="lt1"/>
              </a:buClr>
              <a:buSzPts val="2200"/>
              <a:buFont typeface="Arial"/>
              <a:buChar char="▪"/>
            </a:pPr>
            <a:r>
              <a:rPr lang="en-US" sz="2200">
                <a:solidFill>
                  <a:schemeClr val="lt1"/>
                </a:solidFill>
              </a:rPr>
              <a:t>Las propiedades </a:t>
            </a:r>
            <a:r>
              <a:rPr lang="en-US" sz="2200">
                <a:solidFill>
                  <a:schemeClr val="lt2"/>
                </a:solidFill>
              </a:rPr>
              <a:t>width </a:t>
            </a:r>
            <a:r>
              <a:rPr lang="en-US" sz="2200">
                <a:solidFill>
                  <a:schemeClr val="lt1"/>
                </a:solidFill>
              </a:rPr>
              <a:t>y </a:t>
            </a:r>
            <a:r>
              <a:rPr lang="en-US" sz="2200">
                <a:solidFill>
                  <a:schemeClr val="lt2"/>
                </a:solidFill>
              </a:rPr>
              <a:t>height </a:t>
            </a:r>
            <a:r>
              <a:rPr lang="en-US" sz="2200">
                <a:solidFill>
                  <a:schemeClr val="lt1"/>
                </a:solidFill>
              </a:rPr>
              <a:t>de la caja (si están establecidas).</a:t>
            </a:r>
            <a:endParaRPr sz="2200">
              <a:solidFill>
                <a:schemeClr val="lt1"/>
              </a:solidFill>
            </a:endParaRPr>
          </a:p>
          <a:p>
            <a:pPr indent="0" lvl="0" marL="0" rtl="0" algn="just">
              <a:lnSpc>
                <a:spcPct val="100000"/>
              </a:lnSpc>
              <a:spcBef>
                <a:spcPts val="240"/>
              </a:spcBef>
              <a:spcAft>
                <a:spcPts val="0"/>
              </a:spcAft>
              <a:buSzPts val="2400"/>
              <a:buFont typeface="Arial"/>
              <a:buNone/>
            </a:pPr>
            <a:r>
              <a:t/>
            </a:r>
            <a:endParaRPr sz="2200">
              <a:solidFill>
                <a:schemeClr val="lt1"/>
              </a:solidFill>
            </a:endParaRPr>
          </a:p>
          <a:p>
            <a:pPr indent="-139700" lvl="0" marL="0" rtl="0" algn="just">
              <a:lnSpc>
                <a:spcPct val="100000"/>
              </a:lnSpc>
              <a:spcBef>
                <a:spcPts val="0"/>
              </a:spcBef>
              <a:spcAft>
                <a:spcPts val="0"/>
              </a:spcAft>
              <a:buClr>
                <a:schemeClr val="lt1"/>
              </a:buClr>
              <a:buSzPts val="2200"/>
              <a:buFont typeface="Arial"/>
              <a:buChar char="▪"/>
            </a:pPr>
            <a:r>
              <a:rPr lang="en-US" sz="2200">
                <a:solidFill>
                  <a:schemeClr val="lt1"/>
                </a:solidFill>
              </a:rPr>
              <a:t> El </a:t>
            </a:r>
            <a:r>
              <a:rPr lang="en-US" sz="2200">
                <a:solidFill>
                  <a:schemeClr val="lt2"/>
                </a:solidFill>
              </a:rPr>
              <a:t>tipo </a:t>
            </a:r>
            <a:r>
              <a:rPr lang="en-US" sz="2200">
                <a:solidFill>
                  <a:schemeClr val="lt1"/>
                </a:solidFill>
              </a:rPr>
              <a:t>de cada elemento HTML (elemento de </a:t>
            </a:r>
            <a:r>
              <a:rPr lang="en-US" sz="2200">
                <a:solidFill>
                  <a:schemeClr val="lt2"/>
                </a:solidFill>
              </a:rPr>
              <a:t>bloque </a:t>
            </a:r>
            <a:r>
              <a:rPr lang="en-US" sz="2200">
                <a:solidFill>
                  <a:schemeClr val="lt1"/>
                </a:solidFill>
              </a:rPr>
              <a:t>o</a:t>
            </a:r>
            <a:endParaRPr sz="2200">
              <a:solidFill>
                <a:schemeClr val="lt1"/>
              </a:solidFill>
            </a:endParaRPr>
          </a:p>
          <a:p>
            <a:pPr indent="0" lvl="0" marL="0" rtl="0" algn="just">
              <a:lnSpc>
                <a:spcPct val="100000"/>
              </a:lnSpc>
              <a:spcBef>
                <a:spcPts val="0"/>
              </a:spcBef>
              <a:spcAft>
                <a:spcPts val="0"/>
              </a:spcAft>
              <a:buNone/>
            </a:pPr>
            <a:r>
              <a:rPr lang="en-US" sz="2200">
                <a:solidFill>
                  <a:schemeClr val="lt1"/>
                </a:solidFill>
              </a:rPr>
              <a:t>elemento en </a:t>
            </a:r>
            <a:r>
              <a:rPr lang="en-US" sz="2200">
                <a:solidFill>
                  <a:schemeClr val="lt2"/>
                </a:solidFill>
              </a:rPr>
              <a:t>línea</a:t>
            </a:r>
            <a:r>
              <a:rPr lang="en-US" sz="2200">
                <a:solidFill>
                  <a:schemeClr val="lt1"/>
                </a:solidFill>
              </a:rPr>
              <a:t>).</a:t>
            </a:r>
            <a:endParaRPr sz="2200">
              <a:solidFill>
                <a:schemeClr val="lt1"/>
              </a:solidFill>
            </a:endParaRPr>
          </a:p>
          <a:p>
            <a:pPr indent="0" lvl="0" marL="0" rtl="0" algn="just">
              <a:lnSpc>
                <a:spcPct val="100000"/>
              </a:lnSpc>
              <a:spcBef>
                <a:spcPts val="240"/>
              </a:spcBef>
              <a:spcAft>
                <a:spcPts val="0"/>
              </a:spcAft>
              <a:buNone/>
            </a:pPr>
            <a:r>
              <a:t/>
            </a:r>
            <a:endParaRPr sz="2200">
              <a:solidFill>
                <a:schemeClr val="lt1"/>
              </a:solidFill>
            </a:endParaRPr>
          </a:p>
          <a:p>
            <a:pPr indent="-139700" lvl="0" marL="0" rtl="0" algn="just">
              <a:lnSpc>
                <a:spcPct val="100000"/>
              </a:lnSpc>
              <a:spcBef>
                <a:spcPts val="0"/>
              </a:spcBef>
              <a:spcAft>
                <a:spcPts val="0"/>
              </a:spcAft>
              <a:buClr>
                <a:schemeClr val="lt1"/>
              </a:buClr>
              <a:buSzPts val="2200"/>
              <a:buFont typeface="Arial"/>
              <a:buChar char="▪"/>
            </a:pPr>
            <a:r>
              <a:rPr lang="en-US" sz="2200">
                <a:solidFill>
                  <a:schemeClr val="lt2"/>
                </a:solidFill>
              </a:rPr>
              <a:t>Posicionamiento </a:t>
            </a:r>
            <a:r>
              <a:rPr lang="en-US" sz="2200">
                <a:solidFill>
                  <a:schemeClr val="lt1"/>
                </a:solidFill>
              </a:rPr>
              <a:t>de la caja (normal, relativo, absoluto, fijo o flotante).</a:t>
            </a:r>
            <a:endParaRPr sz="2200">
              <a:solidFill>
                <a:schemeClr val="lt1"/>
              </a:solidFill>
            </a:endParaRPr>
          </a:p>
          <a:p>
            <a:pPr indent="0" lvl="0" marL="0" rtl="0" algn="just">
              <a:lnSpc>
                <a:spcPct val="100000"/>
              </a:lnSpc>
              <a:spcBef>
                <a:spcPts val="240"/>
              </a:spcBef>
              <a:spcAft>
                <a:spcPts val="0"/>
              </a:spcAft>
              <a:buNone/>
            </a:pPr>
            <a:r>
              <a:t/>
            </a:r>
            <a:endParaRPr sz="2200">
              <a:solidFill>
                <a:schemeClr val="lt1"/>
              </a:solidFill>
            </a:endParaRPr>
          </a:p>
          <a:p>
            <a:pPr indent="-139700" lvl="0" marL="0" marR="109220" rtl="0" algn="just">
              <a:lnSpc>
                <a:spcPct val="100000"/>
              </a:lnSpc>
              <a:spcBef>
                <a:spcPts val="0"/>
              </a:spcBef>
              <a:spcAft>
                <a:spcPts val="0"/>
              </a:spcAft>
              <a:buClr>
                <a:schemeClr val="lt1"/>
              </a:buClr>
              <a:buSzPts val="2200"/>
              <a:buFont typeface="Arial"/>
              <a:buChar char="▪"/>
            </a:pPr>
            <a:r>
              <a:rPr lang="en-US" sz="2200">
                <a:solidFill>
                  <a:schemeClr val="lt1"/>
                </a:solidFill>
              </a:rPr>
              <a:t>Las </a:t>
            </a:r>
            <a:r>
              <a:rPr lang="en-US" sz="2200">
                <a:solidFill>
                  <a:schemeClr val="lt2"/>
                </a:solidFill>
              </a:rPr>
              <a:t>relaciones entre elementos</a:t>
            </a:r>
            <a:r>
              <a:rPr lang="en-US" sz="2200">
                <a:solidFill>
                  <a:schemeClr val="lt1"/>
                </a:solidFill>
              </a:rPr>
              <a:t> (dónde se encuentra cada elemento, elementos descendientes, etc.)</a:t>
            </a:r>
            <a:endParaRPr sz="2200">
              <a:solidFill>
                <a:schemeClr val="lt1"/>
              </a:solidFill>
            </a:endParaRPr>
          </a:p>
          <a:p>
            <a:pPr indent="0" lvl="0" marL="0" rtl="0" algn="just">
              <a:lnSpc>
                <a:spcPct val="100000"/>
              </a:lnSpc>
              <a:spcBef>
                <a:spcPts val="240"/>
              </a:spcBef>
              <a:spcAft>
                <a:spcPts val="0"/>
              </a:spcAft>
              <a:buSzPts val="2400"/>
              <a:buFont typeface="Arial"/>
              <a:buNone/>
            </a:pPr>
            <a:r>
              <a:t/>
            </a:r>
            <a:endParaRPr sz="2200">
              <a:solidFill>
                <a:schemeClr val="lt1"/>
              </a:solidFill>
            </a:endParaRPr>
          </a:p>
          <a:p>
            <a:pPr indent="-139700" lvl="0" marL="0" marR="344170" rtl="0" algn="just">
              <a:lnSpc>
                <a:spcPct val="100000"/>
              </a:lnSpc>
              <a:spcBef>
                <a:spcPts val="0"/>
              </a:spcBef>
              <a:spcAft>
                <a:spcPts val="0"/>
              </a:spcAft>
              <a:buClr>
                <a:schemeClr val="lt1"/>
              </a:buClr>
              <a:buSzPts val="2200"/>
              <a:buFont typeface="Arial"/>
              <a:buChar char="▪"/>
            </a:pPr>
            <a:r>
              <a:rPr lang="en-US" sz="2200">
                <a:solidFill>
                  <a:schemeClr val="lt1"/>
                </a:solidFill>
              </a:rPr>
              <a:t>Otro tipo de información, como por ejemplo el </a:t>
            </a:r>
            <a:r>
              <a:rPr lang="en-US" sz="2200">
                <a:solidFill>
                  <a:schemeClr val="lt2"/>
                </a:solidFill>
              </a:rPr>
              <a:t>tamaño de las imágenes</a:t>
            </a:r>
            <a:r>
              <a:rPr lang="en-US" sz="2200">
                <a:solidFill>
                  <a:schemeClr val="lt1"/>
                </a:solidFill>
              </a:rPr>
              <a:t> y el </a:t>
            </a:r>
            <a:r>
              <a:rPr lang="en-US" sz="2200">
                <a:solidFill>
                  <a:schemeClr val="lt2"/>
                </a:solidFill>
              </a:rPr>
              <a:t>tamaño de la ventana del navegador</a:t>
            </a:r>
            <a:r>
              <a:rPr lang="en-US" sz="2200">
                <a:solidFill>
                  <a:schemeClr val="lt1"/>
                </a:solidFill>
              </a:rPr>
              <a:t>.</a:t>
            </a:r>
            <a:endParaRPr sz="2200">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1297500" y="525000"/>
            <a:ext cx="7038900" cy="750900"/>
          </a:xfrm>
          <a:prstGeom prst="rect">
            <a:avLst/>
          </a:prstGeom>
          <a:noFill/>
          <a:ln>
            <a:noFill/>
          </a:ln>
        </p:spPr>
        <p:txBody>
          <a:bodyPr anchorCtr="0" anchor="t" bIns="0" lIns="0" spcFirstLastPara="1" rIns="0" wrap="square" tIns="194725">
            <a:spAutoFit/>
          </a:bodyPr>
          <a:lstStyle/>
          <a:p>
            <a:pPr indent="0" lvl="0" marL="337820" rtl="0" algn="l">
              <a:lnSpc>
                <a:spcPct val="100000"/>
              </a:lnSpc>
              <a:spcBef>
                <a:spcPts val="0"/>
              </a:spcBef>
              <a:spcAft>
                <a:spcPts val="0"/>
              </a:spcAft>
              <a:buNone/>
            </a:pPr>
            <a:r>
              <a:rPr lang="en-US" sz="3600">
                <a:solidFill>
                  <a:schemeClr val="lt1"/>
                </a:solidFill>
              </a:rPr>
              <a:t>Tipos de elementos</a:t>
            </a:r>
            <a:endParaRPr sz="3600">
              <a:solidFill>
                <a:schemeClr val="lt1"/>
              </a:solidFill>
            </a:endParaRPr>
          </a:p>
        </p:txBody>
      </p:sp>
      <p:sp>
        <p:nvSpPr>
          <p:cNvPr id="166" name="Google Shape;166;p19"/>
          <p:cNvSpPr txBox="1"/>
          <p:nvPr/>
        </p:nvSpPr>
        <p:spPr>
          <a:xfrm>
            <a:off x="618236" y="1577797"/>
            <a:ext cx="7087200" cy="380400"/>
          </a:xfrm>
          <a:prstGeom prst="rect">
            <a:avLst/>
          </a:prstGeom>
          <a:noFill/>
          <a:ln>
            <a:noFill/>
          </a:ln>
        </p:spPr>
        <p:txBody>
          <a:bodyPr anchorCtr="0" anchor="t" bIns="0" lIns="0" spcFirstLastPara="1" rIns="0" wrap="square" tIns="10775">
            <a:spAutoFit/>
          </a:bodyPr>
          <a:lstStyle/>
          <a:p>
            <a:pPr indent="0" lvl="0" marL="12700" marR="5080" rtl="0" algn="l">
              <a:lnSpc>
                <a:spcPct val="100299"/>
              </a:lnSpc>
              <a:spcBef>
                <a:spcPts val="0"/>
              </a:spcBef>
              <a:spcAft>
                <a:spcPts val="0"/>
              </a:spcAft>
              <a:buNone/>
            </a:pPr>
            <a:r>
              <a:t/>
            </a:r>
            <a:endParaRPr sz="2400">
              <a:latin typeface="Arial"/>
              <a:ea typeface="Arial"/>
              <a:cs typeface="Arial"/>
              <a:sym typeface="Arial"/>
            </a:endParaRPr>
          </a:p>
        </p:txBody>
      </p:sp>
      <p:sp>
        <p:nvSpPr>
          <p:cNvPr id="167" name="Google Shape;167;p19"/>
          <p:cNvSpPr txBox="1"/>
          <p:nvPr/>
        </p:nvSpPr>
        <p:spPr>
          <a:xfrm>
            <a:off x="616712" y="3685159"/>
            <a:ext cx="7677300" cy="381000"/>
          </a:xfrm>
          <a:prstGeom prst="rect">
            <a:avLst/>
          </a:prstGeom>
          <a:noFill/>
          <a:ln>
            <a:noFill/>
          </a:ln>
        </p:spPr>
        <p:txBody>
          <a:bodyPr anchorCtr="0" anchor="t" bIns="0" lIns="0" spcFirstLastPara="1" rIns="0" wrap="square" tIns="11425">
            <a:spAutoFit/>
          </a:bodyPr>
          <a:lstStyle/>
          <a:p>
            <a:pPr indent="0" lvl="0" marL="12700" marR="5080" rtl="0" algn="l">
              <a:lnSpc>
                <a:spcPct val="100200"/>
              </a:lnSpc>
              <a:spcBef>
                <a:spcPts val="0"/>
              </a:spcBef>
              <a:spcAft>
                <a:spcPts val="0"/>
              </a:spcAft>
              <a:buNone/>
            </a:pPr>
            <a:r>
              <a:t/>
            </a:r>
            <a:endParaRPr sz="2400">
              <a:latin typeface="Arial"/>
              <a:ea typeface="Arial"/>
              <a:cs typeface="Arial"/>
              <a:sym typeface="Arial"/>
            </a:endParaRPr>
          </a:p>
        </p:txBody>
      </p:sp>
      <p:sp>
        <p:nvSpPr>
          <p:cNvPr id="168" name="Google Shape;168;p19"/>
          <p:cNvSpPr txBox="1"/>
          <p:nvPr>
            <p:ph idx="1" type="body"/>
          </p:nvPr>
        </p:nvSpPr>
        <p:spPr>
          <a:xfrm>
            <a:off x="1297500" y="2090067"/>
            <a:ext cx="7038900" cy="3881700"/>
          </a:xfrm>
          <a:prstGeom prst="rect">
            <a:avLst/>
          </a:prstGeom>
        </p:spPr>
        <p:txBody>
          <a:bodyPr anchorCtr="0" anchor="t" bIns="91425" lIns="91425" spcFirstLastPara="1" rIns="91425" wrap="square" tIns="91425">
            <a:normAutofit/>
          </a:bodyPr>
          <a:lstStyle/>
          <a:p>
            <a:pPr indent="0" lvl="0" marL="12700" marR="5080" rtl="0" algn="l">
              <a:lnSpc>
                <a:spcPct val="100299"/>
              </a:lnSpc>
              <a:spcBef>
                <a:spcPts val="0"/>
              </a:spcBef>
              <a:spcAft>
                <a:spcPts val="0"/>
              </a:spcAft>
              <a:buNone/>
            </a:pPr>
            <a:r>
              <a:rPr b="1" lang="en-US" sz="2800" u="sng">
                <a:latin typeface="Arial"/>
                <a:ea typeface="Arial"/>
                <a:cs typeface="Arial"/>
                <a:sym typeface="Arial"/>
              </a:rPr>
              <a:t>Elementos de bloque</a:t>
            </a:r>
            <a:r>
              <a:rPr b="1" lang="en-US" sz="2800">
                <a:latin typeface="Arial"/>
                <a:ea typeface="Arial"/>
                <a:cs typeface="Arial"/>
                <a:sym typeface="Arial"/>
              </a:rPr>
              <a:t> </a:t>
            </a:r>
            <a:r>
              <a:rPr lang="en-US" sz="2400">
                <a:latin typeface="Arial"/>
                <a:ea typeface="Arial"/>
                <a:cs typeface="Arial"/>
                <a:sym typeface="Arial"/>
              </a:rPr>
              <a:t>(</a:t>
            </a:r>
            <a:r>
              <a:rPr i="1" lang="en-US" sz="2400">
                <a:solidFill>
                  <a:schemeClr val="lt2"/>
                </a:solidFill>
                <a:latin typeface="Arial"/>
                <a:ea typeface="Arial"/>
                <a:cs typeface="Arial"/>
                <a:sym typeface="Arial"/>
              </a:rPr>
              <a:t>block elements</a:t>
            </a:r>
            <a:r>
              <a:rPr lang="en-US" sz="2400">
                <a:latin typeface="Arial"/>
                <a:ea typeface="Arial"/>
                <a:cs typeface="Arial"/>
                <a:sym typeface="Arial"/>
              </a:rPr>
              <a:t>) siempre </a:t>
            </a:r>
            <a:r>
              <a:rPr b="1" lang="en-US" sz="2400">
                <a:latin typeface="Arial"/>
                <a:ea typeface="Arial"/>
                <a:cs typeface="Arial"/>
                <a:sym typeface="Arial"/>
              </a:rPr>
              <a:t>empiezan </a:t>
            </a:r>
            <a:r>
              <a:rPr lang="en-US" sz="2400">
                <a:latin typeface="Arial"/>
                <a:ea typeface="Arial"/>
                <a:cs typeface="Arial"/>
                <a:sym typeface="Arial"/>
              </a:rPr>
              <a:t>en una </a:t>
            </a:r>
            <a:r>
              <a:rPr b="1" lang="en-US" sz="2400">
                <a:latin typeface="Arial"/>
                <a:ea typeface="Arial"/>
                <a:cs typeface="Arial"/>
                <a:sym typeface="Arial"/>
              </a:rPr>
              <a:t>nueva línea </a:t>
            </a:r>
            <a:r>
              <a:rPr lang="en-US" sz="2400">
                <a:latin typeface="Arial"/>
                <a:ea typeface="Arial"/>
                <a:cs typeface="Arial"/>
                <a:sym typeface="Arial"/>
              </a:rPr>
              <a:t>y ocupan </a:t>
            </a:r>
            <a:r>
              <a:rPr b="1" lang="en-US" sz="2400">
                <a:latin typeface="Arial"/>
                <a:ea typeface="Arial"/>
                <a:cs typeface="Arial"/>
                <a:sym typeface="Arial"/>
              </a:rPr>
              <a:t>todo </a:t>
            </a:r>
            <a:r>
              <a:rPr lang="en-US" sz="2400">
                <a:latin typeface="Arial"/>
                <a:ea typeface="Arial"/>
                <a:cs typeface="Arial"/>
                <a:sym typeface="Arial"/>
              </a:rPr>
              <a:t>el espacio	disponible hasta el final de la línea.</a:t>
            </a:r>
            <a:endParaRPr sz="2400">
              <a:latin typeface="Arial"/>
              <a:ea typeface="Arial"/>
              <a:cs typeface="Arial"/>
              <a:sym typeface="Arial"/>
            </a:endParaRPr>
          </a:p>
          <a:p>
            <a:pPr indent="0" lvl="0" marL="12700" marR="5080" rtl="0" algn="l">
              <a:lnSpc>
                <a:spcPct val="100299"/>
              </a:lnSpc>
              <a:spcBef>
                <a:spcPts val="0"/>
              </a:spcBef>
              <a:spcAft>
                <a:spcPts val="0"/>
              </a:spcAft>
              <a:buClr>
                <a:srgbClr val="000000"/>
              </a:buClr>
              <a:buFont typeface="Arial"/>
              <a:buNone/>
            </a:pPr>
            <a:r>
              <a:t/>
            </a:r>
            <a:endParaRPr sz="2400">
              <a:latin typeface="Arial"/>
              <a:ea typeface="Arial"/>
              <a:cs typeface="Arial"/>
              <a:sym typeface="Arial"/>
            </a:endParaRPr>
          </a:p>
          <a:p>
            <a:pPr indent="0" lvl="0" marL="12700" marR="5080" rtl="0" algn="l">
              <a:lnSpc>
                <a:spcPct val="100200"/>
              </a:lnSpc>
              <a:spcBef>
                <a:spcPts val="0"/>
              </a:spcBef>
              <a:spcAft>
                <a:spcPts val="0"/>
              </a:spcAft>
              <a:buNone/>
            </a:pPr>
            <a:r>
              <a:rPr b="1" lang="en-US" sz="2800" u="sng">
                <a:latin typeface="Arial"/>
                <a:ea typeface="Arial"/>
                <a:cs typeface="Arial"/>
                <a:sym typeface="Arial"/>
              </a:rPr>
              <a:t>Elementos en línea</a:t>
            </a:r>
            <a:r>
              <a:rPr b="1" lang="en-US" sz="2800">
                <a:latin typeface="Arial"/>
                <a:ea typeface="Arial"/>
                <a:cs typeface="Arial"/>
                <a:sym typeface="Arial"/>
              </a:rPr>
              <a:t> </a:t>
            </a:r>
            <a:r>
              <a:rPr lang="en-US" sz="2400">
                <a:latin typeface="Arial"/>
                <a:ea typeface="Arial"/>
                <a:cs typeface="Arial"/>
                <a:sym typeface="Arial"/>
              </a:rPr>
              <a:t>(</a:t>
            </a:r>
            <a:r>
              <a:rPr i="1" lang="en-US" sz="2400">
                <a:solidFill>
                  <a:schemeClr val="lt2"/>
                </a:solidFill>
                <a:latin typeface="Arial"/>
                <a:ea typeface="Arial"/>
                <a:cs typeface="Arial"/>
                <a:sym typeface="Arial"/>
              </a:rPr>
              <a:t>inline elements</a:t>
            </a:r>
            <a:r>
              <a:rPr lang="en-US" sz="2400">
                <a:latin typeface="Arial"/>
                <a:ea typeface="Arial"/>
                <a:cs typeface="Arial"/>
                <a:sym typeface="Arial"/>
              </a:rPr>
              <a:t>)</a:t>
            </a:r>
            <a:endParaRPr sz="2400">
              <a:latin typeface="Arial"/>
              <a:ea typeface="Arial"/>
              <a:cs typeface="Arial"/>
              <a:sym typeface="Arial"/>
            </a:endParaRPr>
          </a:p>
          <a:p>
            <a:pPr indent="0" lvl="0" marL="12700" marR="5080" rtl="0" algn="l">
              <a:lnSpc>
                <a:spcPct val="100200"/>
              </a:lnSpc>
              <a:spcBef>
                <a:spcPts val="0"/>
              </a:spcBef>
              <a:spcAft>
                <a:spcPts val="0"/>
              </a:spcAft>
              <a:buNone/>
            </a:pPr>
            <a:r>
              <a:rPr lang="en-US" sz="2400">
                <a:latin typeface="Arial"/>
                <a:ea typeface="Arial"/>
                <a:cs typeface="Arial"/>
                <a:sym typeface="Arial"/>
              </a:rPr>
              <a:t>no empiezan necesariamente en nueva línea y sólo ocupan el espacio </a:t>
            </a:r>
            <a:r>
              <a:rPr b="1" lang="en-US" sz="2400">
                <a:latin typeface="Arial"/>
                <a:ea typeface="Arial"/>
                <a:cs typeface="Arial"/>
                <a:sym typeface="Arial"/>
              </a:rPr>
              <a:t>necesario </a:t>
            </a:r>
            <a:r>
              <a:rPr lang="en-US" sz="2400">
                <a:latin typeface="Arial"/>
                <a:ea typeface="Arial"/>
                <a:cs typeface="Arial"/>
                <a:sym typeface="Arial"/>
              </a:rPr>
              <a:t>para mostrar sus contenidos.</a:t>
            </a:r>
            <a:endParaRPr b="1" sz="28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grpSp>
        <p:nvGrpSpPr>
          <p:cNvPr id="173" name="Google Shape;173;p20"/>
          <p:cNvGrpSpPr/>
          <p:nvPr/>
        </p:nvGrpSpPr>
        <p:grpSpPr>
          <a:xfrm>
            <a:off x="1222247" y="1951481"/>
            <a:ext cx="6817741" cy="4533138"/>
            <a:chOff x="1222247" y="2103881"/>
            <a:chExt cx="6817741" cy="4533138"/>
          </a:xfrm>
        </p:grpSpPr>
        <p:pic>
          <p:nvPicPr>
            <p:cNvPr id="174" name="Google Shape;174;p20"/>
            <p:cNvPicPr preferRelativeResize="0"/>
            <p:nvPr/>
          </p:nvPicPr>
          <p:blipFill rotWithShape="1">
            <a:blip r:embed="rId3">
              <a:alphaModFix/>
            </a:blip>
            <a:srcRect b="0" l="0" r="0" t="0"/>
            <a:stretch/>
          </p:blipFill>
          <p:spPr>
            <a:xfrm>
              <a:off x="1222247" y="2161031"/>
              <a:ext cx="6742176" cy="4475988"/>
            </a:xfrm>
            <a:prstGeom prst="rect">
              <a:avLst/>
            </a:prstGeom>
            <a:noFill/>
            <a:ln>
              <a:noFill/>
            </a:ln>
          </p:spPr>
        </p:pic>
        <p:pic>
          <p:nvPicPr>
            <p:cNvPr id="175" name="Google Shape;175;p20"/>
            <p:cNvPicPr preferRelativeResize="0"/>
            <p:nvPr/>
          </p:nvPicPr>
          <p:blipFill rotWithShape="1">
            <a:blip r:embed="rId4">
              <a:alphaModFix/>
            </a:blip>
            <a:srcRect b="0" l="0" r="0" t="0"/>
            <a:stretch/>
          </p:blipFill>
          <p:spPr>
            <a:xfrm>
              <a:off x="1357883" y="2142743"/>
              <a:ext cx="6580632" cy="4360164"/>
            </a:xfrm>
            <a:prstGeom prst="rect">
              <a:avLst/>
            </a:prstGeom>
            <a:noFill/>
            <a:ln>
              <a:noFill/>
            </a:ln>
          </p:spPr>
        </p:pic>
        <p:sp>
          <p:nvSpPr>
            <p:cNvPr id="176" name="Google Shape;176;p20"/>
            <p:cNvSpPr/>
            <p:nvPr/>
          </p:nvSpPr>
          <p:spPr>
            <a:xfrm>
              <a:off x="1300733" y="2103881"/>
              <a:ext cx="6739255" cy="4439920"/>
            </a:xfrm>
            <a:custGeom>
              <a:rect b="b" l="l" r="r" t="t"/>
              <a:pathLst>
                <a:path extrusionOk="0" h="4439920" w="6739255">
                  <a:moveTo>
                    <a:pt x="0" y="4439411"/>
                  </a:moveTo>
                  <a:lnTo>
                    <a:pt x="6738747" y="4439411"/>
                  </a:lnTo>
                </a:path>
                <a:path extrusionOk="0" h="4439920" w="6739255">
                  <a:moveTo>
                    <a:pt x="16763" y="18287"/>
                  </a:moveTo>
                  <a:lnTo>
                    <a:pt x="16763" y="4422647"/>
                  </a:lnTo>
                </a:path>
                <a:path extrusionOk="0" h="4439920" w="6739255">
                  <a:moveTo>
                    <a:pt x="0" y="0"/>
                  </a:moveTo>
                  <a:lnTo>
                    <a:pt x="6738747" y="0"/>
                  </a:lnTo>
                </a:path>
                <a:path extrusionOk="0" h="4439920" w="6739255">
                  <a:moveTo>
                    <a:pt x="6722364" y="16763"/>
                  </a:moveTo>
                  <a:lnTo>
                    <a:pt x="6722364" y="4422647"/>
                  </a:lnTo>
                </a:path>
              </a:pathLst>
            </a:custGeom>
            <a:noFill/>
            <a:ln cap="flat" cmpd="sng" w="35050">
              <a:solidFill>
                <a:srgbClr val="DEF5F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7" name="Google Shape;177;p20"/>
            <p:cNvSpPr/>
            <p:nvPr/>
          </p:nvSpPr>
          <p:spPr>
            <a:xfrm>
              <a:off x="1346453" y="2138933"/>
              <a:ext cx="6647815" cy="4369435"/>
            </a:xfrm>
            <a:custGeom>
              <a:rect b="b" l="l" r="r" t="t"/>
              <a:pathLst>
                <a:path extrusionOk="0" h="4369434" w="6647815">
                  <a:moveTo>
                    <a:pt x="0" y="4369308"/>
                  </a:moveTo>
                  <a:lnTo>
                    <a:pt x="6647307" y="4369308"/>
                  </a:lnTo>
                </a:path>
                <a:path extrusionOk="0" h="4369434" w="6647815">
                  <a:moveTo>
                    <a:pt x="6096" y="6095"/>
                  </a:moveTo>
                  <a:lnTo>
                    <a:pt x="6096" y="4364736"/>
                  </a:lnTo>
                </a:path>
                <a:path extrusionOk="0" h="4369434" w="6647815">
                  <a:moveTo>
                    <a:pt x="0" y="0"/>
                  </a:moveTo>
                  <a:lnTo>
                    <a:pt x="6647307" y="0"/>
                  </a:lnTo>
                </a:path>
                <a:path extrusionOk="0" h="4369434" w="6647815">
                  <a:moveTo>
                    <a:pt x="6641592" y="4571"/>
                  </a:moveTo>
                  <a:lnTo>
                    <a:pt x="6641592" y="4364736"/>
                  </a:lnTo>
                </a:path>
              </a:pathLst>
            </a:custGeom>
            <a:noFill/>
            <a:ln cap="flat" cmpd="sng" w="10650">
              <a:solidFill>
                <a:srgbClr val="DEF5F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78" name="Google Shape;178;p20"/>
          <p:cNvSpPr txBox="1"/>
          <p:nvPr>
            <p:ph type="title"/>
          </p:nvPr>
        </p:nvSpPr>
        <p:spPr>
          <a:xfrm>
            <a:off x="1297500" y="525000"/>
            <a:ext cx="7038900" cy="11211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0" lang="en-US" sz="2400">
                <a:latin typeface="Arial"/>
                <a:ea typeface="Arial"/>
                <a:cs typeface="Arial"/>
                <a:sym typeface="Arial"/>
              </a:rPr>
              <a:t>La siguiente imagen muestra las cajas que crea el navegador para representar los diferentes elementos que forman una página HTML</a:t>
            </a:r>
            <a:r>
              <a:rPr b="0" lang="en-US" sz="2400">
                <a:solidFill>
                  <a:srgbClr val="FFFFFF"/>
                </a:solidFill>
                <a:latin typeface="Arial"/>
                <a:ea typeface="Arial"/>
                <a:cs typeface="Arial"/>
                <a:sym typeface="Arial"/>
              </a:rPr>
              <a:t>:</a:t>
            </a:r>
            <a:endParaRPr sz="24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nvSpPr>
        <p:spPr>
          <a:xfrm>
            <a:off x="1205825" y="326200"/>
            <a:ext cx="7499700" cy="2644800"/>
          </a:xfrm>
          <a:prstGeom prst="rect">
            <a:avLst/>
          </a:prstGeom>
          <a:noFill/>
          <a:ln>
            <a:noFill/>
          </a:ln>
        </p:spPr>
        <p:txBody>
          <a:bodyPr anchorCtr="0" anchor="t" bIns="0" lIns="0" spcFirstLastPara="1" rIns="0" wrap="square" tIns="12700">
            <a:spAutoFit/>
          </a:bodyPr>
          <a:lstStyle/>
          <a:p>
            <a:pPr indent="0" lvl="0" marL="12700" marR="70485" rtl="0" algn="l">
              <a:lnSpc>
                <a:spcPct val="100000"/>
              </a:lnSpc>
              <a:spcBef>
                <a:spcPts val="0"/>
              </a:spcBef>
              <a:spcAft>
                <a:spcPts val="0"/>
              </a:spcAft>
              <a:buNone/>
            </a:pPr>
            <a:r>
              <a:rPr lang="en-US" sz="1700">
                <a:solidFill>
                  <a:schemeClr val="lt1"/>
                </a:solidFill>
                <a:latin typeface="Calibri"/>
                <a:ea typeface="Calibri"/>
                <a:cs typeface="Calibri"/>
                <a:sym typeface="Calibri"/>
              </a:rPr>
              <a:t>Los </a:t>
            </a:r>
            <a:r>
              <a:rPr b="1" lang="en-US" sz="1700">
                <a:solidFill>
                  <a:schemeClr val="lt1"/>
                </a:solidFill>
                <a:latin typeface="Calibri"/>
                <a:ea typeface="Calibri"/>
                <a:cs typeface="Calibri"/>
                <a:sym typeface="Calibri"/>
              </a:rPr>
              <a:t>párrafos </a:t>
            </a:r>
            <a:r>
              <a:rPr lang="en-US" sz="1700">
                <a:solidFill>
                  <a:schemeClr val="lt1"/>
                </a:solidFill>
                <a:latin typeface="Calibri"/>
                <a:ea typeface="Calibri"/>
                <a:cs typeface="Calibri"/>
                <a:sym typeface="Calibri"/>
              </a:rPr>
              <a:t>son elementos de </a:t>
            </a:r>
            <a:r>
              <a:rPr b="1" lang="en-US" sz="1700">
                <a:solidFill>
                  <a:schemeClr val="lt1"/>
                </a:solidFill>
                <a:latin typeface="Calibri"/>
                <a:ea typeface="Calibri"/>
                <a:cs typeface="Calibri"/>
                <a:sym typeface="Calibri"/>
              </a:rPr>
              <a:t>bloque </a:t>
            </a:r>
            <a:r>
              <a:rPr lang="en-US" sz="1700">
                <a:solidFill>
                  <a:schemeClr val="lt1"/>
                </a:solidFill>
                <a:latin typeface="Calibri"/>
                <a:ea typeface="Calibri"/>
                <a:cs typeface="Calibri"/>
                <a:sym typeface="Calibri"/>
              </a:rPr>
              <a:t>y por ese motivo su caja empieza en una nueva línea y llega hasta el final de esa misma línea. Aunque los contenidos de texto del párrafo no son suficientes para ocupar toda la línea, el navegador </a:t>
            </a:r>
            <a:r>
              <a:rPr b="1" lang="en-US" sz="1700">
                <a:solidFill>
                  <a:schemeClr val="lt1"/>
                </a:solidFill>
                <a:latin typeface="Calibri"/>
                <a:ea typeface="Calibri"/>
                <a:cs typeface="Calibri"/>
                <a:sym typeface="Calibri"/>
              </a:rPr>
              <a:t>reserva </a:t>
            </a:r>
            <a:r>
              <a:rPr lang="en-US" sz="1700">
                <a:solidFill>
                  <a:schemeClr val="lt1"/>
                </a:solidFill>
                <a:latin typeface="Calibri"/>
                <a:ea typeface="Calibri"/>
                <a:cs typeface="Calibri"/>
                <a:sym typeface="Calibri"/>
              </a:rPr>
              <a:t>todo el espacio disponible en la primera línea.</a:t>
            </a:r>
            <a:endParaRPr sz="1700">
              <a:solidFill>
                <a:schemeClr val="lt1"/>
              </a:solidFill>
              <a:latin typeface="Calibri"/>
              <a:ea typeface="Calibri"/>
              <a:cs typeface="Calibri"/>
              <a:sym typeface="Calibri"/>
            </a:endParaRPr>
          </a:p>
          <a:p>
            <a:pPr indent="0" lvl="0" marL="12700" marR="5080" rtl="0" algn="l">
              <a:lnSpc>
                <a:spcPct val="100000"/>
              </a:lnSpc>
              <a:spcBef>
                <a:spcPts val="2160"/>
              </a:spcBef>
              <a:spcAft>
                <a:spcPts val="0"/>
              </a:spcAft>
              <a:buNone/>
            </a:pPr>
            <a:r>
              <a:rPr lang="en-US" sz="1700">
                <a:solidFill>
                  <a:schemeClr val="lt1"/>
                </a:solidFill>
                <a:latin typeface="Calibri"/>
                <a:ea typeface="Calibri"/>
                <a:cs typeface="Calibri"/>
                <a:sym typeface="Calibri"/>
              </a:rPr>
              <a:t>El segundo elemento de la página es un </a:t>
            </a:r>
            <a:r>
              <a:rPr b="1" lang="en-US" sz="1700">
                <a:solidFill>
                  <a:schemeClr val="lt1"/>
                </a:solidFill>
                <a:latin typeface="Calibri"/>
                <a:ea typeface="Calibri"/>
                <a:cs typeface="Calibri"/>
                <a:sym typeface="Calibri"/>
              </a:rPr>
              <a:t>enlace</a:t>
            </a:r>
            <a:r>
              <a:rPr lang="en-US" sz="1700">
                <a:solidFill>
                  <a:schemeClr val="lt1"/>
                </a:solidFill>
                <a:latin typeface="Calibri"/>
                <a:ea typeface="Calibri"/>
                <a:cs typeface="Calibri"/>
                <a:sym typeface="Calibri"/>
              </a:rPr>
              <a:t>. Los enlaces son elementos en </a:t>
            </a:r>
            <a:r>
              <a:rPr b="1" lang="en-US" sz="1700">
                <a:solidFill>
                  <a:schemeClr val="lt1"/>
                </a:solidFill>
                <a:latin typeface="Calibri"/>
                <a:ea typeface="Calibri"/>
                <a:cs typeface="Calibri"/>
                <a:sym typeface="Calibri"/>
              </a:rPr>
              <a:t>línea</a:t>
            </a:r>
            <a:r>
              <a:rPr lang="en-US" sz="1700">
                <a:solidFill>
                  <a:schemeClr val="lt1"/>
                </a:solidFill>
                <a:latin typeface="Calibri"/>
                <a:ea typeface="Calibri"/>
                <a:cs typeface="Calibri"/>
                <a:sym typeface="Calibri"/>
              </a:rPr>
              <a:t>, por lo que su caja </a:t>
            </a:r>
            <a:r>
              <a:rPr b="1" lang="en-US" sz="1700">
                <a:solidFill>
                  <a:schemeClr val="lt1"/>
                </a:solidFill>
                <a:latin typeface="Calibri"/>
                <a:ea typeface="Calibri"/>
                <a:cs typeface="Calibri"/>
                <a:sym typeface="Calibri"/>
              </a:rPr>
              <a:t>sólo ocupa el espacio necesario </a:t>
            </a:r>
            <a:r>
              <a:rPr lang="en-US" sz="1700">
                <a:solidFill>
                  <a:schemeClr val="lt1"/>
                </a:solidFill>
                <a:latin typeface="Calibri"/>
                <a:ea typeface="Calibri"/>
                <a:cs typeface="Calibri"/>
                <a:sym typeface="Calibri"/>
              </a:rPr>
              <a:t>para mostrar sus contenidos. Si después de este elemento se incluye otro elemento en línea (por ejemplo otro enlace o una imagen) el navegador mostraría los dos elementos en la </a:t>
            </a:r>
            <a:r>
              <a:rPr b="1" lang="en-US" sz="1700">
                <a:solidFill>
                  <a:schemeClr val="lt1"/>
                </a:solidFill>
                <a:latin typeface="Calibri"/>
                <a:ea typeface="Calibri"/>
                <a:cs typeface="Calibri"/>
                <a:sym typeface="Calibri"/>
              </a:rPr>
              <a:t>misma línea</a:t>
            </a:r>
            <a:r>
              <a:rPr lang="en-US" sz="1700">
                <a:solidFill>
                  <a:schemeClr val="lt1"/>
                </a:solidFill>
                <a:latin typeface="Calibri"/>
                <a:ea typeface="Calibri"/>
                <a:cs typeface="Calibri"/>
                <a:sym typeface="Calibri"/>
              </a:rPr>
              <a:t>, ya que existe espacio </a:t>
            </a:r>
            <a:r>
              <a:rPr b="1" lang="en-US" sz="1700">
                <a:solidFill>
                  <a:schemeClr val="lt1"/>
                </a:solidFill>
                <a:latin typeface="Calibri"/>
                <a:ea typeface="Calibri"/>
                <a:cs typeface="Calibri"/>
                <a:sym typeface="Calibri"/>
              </a:rPr>
              <a:t>suficiente</a:t>
            </a:r>
            <a:r>
              <a:rPr lang="en-US" sz="1700">
                <a:solidFill>
                  <a:schemeClr val="lt1"/>
                </a:solidFill>
                <a:latin typeface="Calibri"/>
                <a:ea typeface="Calibri"/>
                <a:cs typeface="Calibri"/>
                <a:sym typeface="Calibri"/>
              </a:rPr>
              <a:t>.</a:t>
            </a:r>
            <a:endParaRPr sz="1700">
              <a:solidFill>
                <a:schemeClr val="lt1"/>
              </a:solidFill>
              <a:latin typeface="Calibri"/>
              <a:ea typeface="Calibri"/>
              <a:cs typeface="Calibri"/>
              <a:sym typeface="Calibri"/>
            </a:endParaRPr>
          </a:p>
        </p:txBody>
      </p:sp>
      <p:pic>
        <p:nvPicPr>
          <p:cNvPr id="184" name="Google Shape;184;p21"/>
          <p:cNvPicPr preferRelativeResize="0"/>
          <p:nvPr/>
        </p:nvPicPr>
        <p:blipFill rotWithShape="1">
          <a:blip r:embed="rId3">
            <a:alphaModFix/>
          </a:blip>
          <a:srcRect b="0" l="0" r="0" t="0"/>
          <a:stretch/>
        </p:blipFill>
        <p:spPr>
          <a:xfrm>
            <a:off x="2424683" y="3124199"/>
            <a:ext cx="5271516" cy="353110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txBox="1"/>
          <p:nvPr>
            <p:ph type="title"/>
          </p:nvPr>
        </p:nvSpPr>
        <p:spPr>
          <a:xfrm>
            <a:off x="1192475" y="1541000"/>
            <a:ext cx="7845300" cy="1553100"/>
          </a:xfrm>
          <a:prstGeom prst="rect">
            <a:avLst/>
          </a:prstGeom>
          <a:noFill/>
          <a:ln>
            <a:noFill/>
          </a:ln>
        </p:spPr>
        <p:txBody>
          <a:bodyPr anchorCtr="0" anchor="t" bIns="0" lIns="0" spcFirstLastPara="1" rIns="0" wrap="square" tIns="11425">
            <a:spAutoFit/>
          </a:bodyPr>
          <a:lstStyle/>
          <a:p>
            <a:pPr indent="0" lvl="0" marL="12700" marR="5080" rtl="0" algn="l">
              <a:lnSpc>
                <a:spcPct val="100200"/>
              </a:lnSpc>
              <a:spcBef>
                <a:spcPts val="0"/>
              </a:spcBef>
              <a:spcAft>
                <a:spcPts val="0"/>
              </a:spcAft>
              <a:buNone/>
            </a:pPr>
            <a:r>
              <a:rPr b="1" lang="en-US" sz="2800"/>
              <a:t>Los elementos en línea</a:t>
            </a:r>
            <a:r>
              <a:rPr lang="en-US" sz="2800"/>
              <a:t> </a:t>
            </a:r>
            <a:r>
              <a:rPr b="0" lang="en-US" sz="2400">
                <a:latin typeface="Arial"/>
                <a:ea typeface="Arial"/>
                <a:cs typeface="Arial"/>
                <a:sym typeface="Arial"/>
              </a:rPr>
              <a:t>definidos por HTML son: </a:t>
            </a:r>
            <a:r>
              <a:rPr b="0" lang="en-US" sz="2400">
                <a:solidFill>
                  <a:schemeClr val="lt2"/>
                </a:solidFill>
                <a:latin typeface="Arial"/>
                <a:ea typeface="Arial"/>
                <a:cs typeface="Arial"/>
                <a:sym typeface="Arial"/>
              </a:rPr>
              <a:t>a</a:t>
            </a:r>
            <a:r>
              <a:rPr b="0" lang="en-US" sz="2400">
                <a:latin typeface="Arial"/>
                <a:ea typeface="Arial"/>
                <a:cs typeface="Arial"/>
                <a:sym typeface="Arial"/>
              </a:rPr>
              <a:t>, abbr, acronym, b, basefont, bdo, big, </a:t>
            </a:r>
            <a:r>
              <a:rPr b="0" lang="en-US" sz="2400">
                <a:solidFill>
                  <a:schemeClr val="lt2"/>
                </a:solidFill>
                <a:latin typeface="Arial"/>
                <a:ea typeface="Arial"/>
                <a:cs typeface="Arial"/>
                <a:sym typeface="Arial"/>
              </a:rPr>
              <a:t>br</a:t>
            </a:r>
            <a:r>
              <a:rPr b="0" lang="en-US" sz="2400">
                <a:latin typeface="Arial"/>
                <a:ea typeface="Arial"/>
                <a:cs typeface="Arial"/>
                <a:sym typeface="Arial"/>
              </a:rPr>
              <a:t>, cite, code, dfn, </a:t>
            </a:r>
            <a:r>
              <a:rPr b="0" lang="en-US" sz="2400">
                <a:solidFill>
                  <a:schemeClr val="lt2"/>
                </a:solidFill>
                <a:latin typeface="Arial"/>
                <a:ea typeface="Arial"/>
                <a:cs typeface="Arial"/>
                <a:sym typeface="Arial"/>
              </a:rPr>
              <a:t>em</a:t>
            </a:r>
            <a:r>
              <a:rPr b="0" lang="en-US" sz="2400">
                <a:latin typeface="Arial"/>
                <a:ea typeface="Arial"/>
                <a:cs typeface="Arial"/>
                <a:sym typeface="Arial"/>
              </a:rPr>
              <a:t>, font, i, </a:t>
            </a:r>
            <a:r>
              <a:rPr b="0" lang="en-US" sz="2400">
                <a:solidFill>
                  <a:schemeClr val="lt2"/>
                </a:solidFill>
                <a:latin typeface="Arial"/>
                <a:ea typeface="Arial"/>
                <a:cs typeface="Arial"/>
                <a:sym typeface="Arial"/>
              </a:rPr>
              <a:t>img</a:t>
            </a:r>
            <a:r>
              <a:rPr b="0" lang="en-US" sz="2400">
                <a:latin typeface="Arial"/>
                <a:ea typeface="Arial"/>
                <a:cs typeface="Arial"/>
                <a:sym typeface="Arial"/>
              </a:rPr>
              <a:t>, input, kbd, label, q, s, samp, select, small, </a:t>
            </a:r>
            <a:r>
              <a:rPr b="0" lang="en-US" sz="2400">
                <a:solidFill>
                  <a:schemeClr val="lt2"/>
                </a:solidFill>
                <a:latin typeface="Arial"/>
                <a:ea typeface="Arial"/>
                <a:cs typeface="Arial"/>
                <a:sym typeface="Arial"/>
              </a:rPr>
              <a:t>span</a:t>
            </a:r>
            <a:r>
              <a:rPr b="0" lang="en-US" sz="2400">
                <a:latin typeface="Arial"/>
                <a:ea typeface="Arial"/>
                <a:cs typeface="Arial"/>
                <a:sym typeface="Arial"/>
              </a:rPr>
              <a:t>, strike, </a:t>
            </a:r>
            <a:r>
              <a:rPr b="0" lang="en-US" sz="2400">
                <a:solidFill>
                  <a:schemeClr val="lt2"/>
                </a:solidFill>
                <a:latin typeface="Arial"/>
                <a:ea typeface="Arial"/>
                <a:cs typeface="Arial"/>
                <a:sym typeface="Arial"/>
              </a:rPr>
              <a:t>strong</a:t>
            </a:r>
            <a:r>
              <a:rPr b="0" lang="en-US" sz="2400">
                <a:latin typeface="Arial"/>
                <a:ea typeface="Arial"/>
                <a:cs typeface="Arial"/>
                <a:sym typeface="Arial"/>
              </a:rPr>
              <a:t>, sub, sup, </a:t>
            </a:r>
            <a:r>
              <a:rPr b="0" lang="en-US" sz="2400">
                <a:solidFill>
                  <a:schemeClr val="lt2"/>
                </a:solidFill>
                <a:latin typeface="Arial"/>
                <a:ea typeface="Arial"/>
                <a:cs typeface="Arial"/>
                <a:sym typeface="Arial"/>
              </a:rPr>
              <a:t>textarea</a:t>
            </a:r>
            <a:r>
              <a:rPr b="0" lang="en-US" sz="2400">
                <a:latin typeface="Arial"/>
                <a:ea typeface="Arial"/>
                <a:cs typeface="Arial"/>
                <a:sym typeface="Arial"/>
              </a:rPr>
              <a:t>, tt, u, var</a:t>
            </a:r>
            <a:r>
              <a:rPr lang="en-US">
                <a:latin typeface="Arial"/>
                <a:ea typeface="Arial"/>
                <a:cs typeface="Arial"/>
                <a:sym typeface="Arial"/>
              </a:rPr>
              <a:t>…</a:t>
            </a:r>
            <a:endParaRPr sz="2400">
              <a:latin typeface="Arial"/>
              <a:ea typeface="Arial"/>
              <a:cs typeface="Arial"/>
              <a:sym typeface="Arial"/>
            </a:endParaRPr>
          </a:p>
        </p:txBody>
      </p:sp>
      <p:sp>
        <p:nvSpPr>
          <p:cNvPr id="190" name="Google Shape;190;p22"/>
          <p:cNvSpPr txBox="1"/>
          <p:nvPr/>
        </p:nvSpPr>
        <p:spPr>
          <a:xfrm>
            <a:off x="1192475" y="4096050"/>
            <a:ext cx="7740300" cy="1553100"/>
          </a:xfrm>
          <a:prstGeom prst="rect">
            <a:avLst/>
          </a:prstGeom>
          <a:noFill/>
          <a:ln>
            <a:noFill/>
          </a:ln>
        </p:spPr>
        <p:txBody>
          <a:bodyPr anchorCtr="0" anchor="t" bIns="0" lIns="0" spcFirstLastPara="1" rIns="0" wrap="square" tIns="11425">
            <a:spAutoFit/>
          </a:bodyPr>
          <a:lstStyle/>
          <a:p>
            <a:pPr indent="0" lvl="0" marL="12700" marR="5080" rtl="0" algn="l">
              <a:lnSpc>
                <a:spcPct val="100200"/>
              </a:lnSpc>
              <a:spcBef>
                <a:spcPts val="0"/>
              </a:spcBef>
              <a:spcAft>
                <a:spcPts val="0"/>
              </a:spcAft>
              <a:buNone/>
            </a:pPr>
            <a:r>
              <a:rPr b="1" lang="en-US" sz="2800">
                <a:solidFill>
                  <a:schemeClr val="lt1"/>
                </a:solidFill>
                <a:latin typeface="Arial"/>
                <a:ea typeface="Arial"/>
                <a:cs typeface="Arial"/>
                <a:sym typeface="Arial"/>
              </a:rPr>
              <a:t>Los elementos de bloque </a:t>
            </a:r>
            <a:r>
              <a:rPr lang="en-US" sz="2400">
                <a:solidFill>
                  <a:schemeClr val="lt1"/>
                </a:solidFill>
                <a:latin typeface="Arial"/>
                <a:ea typeface="Arial"/>
                <a:cs typeface="Arial"/>
                <a:sym typeface="Arial"/>
              </a:rPr>
              <a:t>definidos por HTML son: address, blockquote, center, dir, </a:t>
            </a:r>
            <a:r>
              <a:rPr lang="en-US" sz="2400">
                <a:solidFill>
                  <a:schemeClr val="lt2"/>
                </a:solidFill>
                <a:latin typeface="Arial"/>
                <a:ea typeface="Arial"/>
                <a:cs typeface="Arial"/>
                <a:sym typeface="Arial"/>
              </a:rPr>
              <a:t>div</a:t>
            </a:r>
            <a:r>
              <a:rPr lang="en-US" sz="2400">
                <a:solidFill>
                  <a:schemeClr val="lt1"/>
                </a:solidFill>
                <a:latin typeface="Arial"/>
                <a:ea typeface="Arial"/>
                <a:cs typeface="Arial"/>
                <a:sym typeface="Arial"/>
              </a:rPr>
              <a:t>, dl, fieldset, form, </a:t>
            </a:r>
            <a:r>
              <a:rPr lang="en-US" sz="2400">
                <a:solidFill>
                  <a:schemeClr val="lt2"/>
                </a:solidFill>
                <a:latin typeface="Arial"/>
                <a:ea typeface="Arial"/>
                <a:cs typeface="Arial"/>
                <a:sym typeface="Arial"/>
              </a:rPr>
              <a:t>h1, h2, h3, h4, h5, h6</a:t>
            </a:r>
            <a:r>
              <a:rPr lang="en-US" sz="2400">
                <a:solidFill>
                  <a:schemeClr val="lt1"/>
                </a:solidFill>
                <a:latin typeface="Arial"/>
                <a:ea typeface="Arial"/>
                <a:cs typeface="Arial"/>
                <a:sym typeface="Arial"/>
              </a:rPr>
              <a:t>, hr, isindex, </a:t>
            </a:r>
            <a:r>
              <a:rPr lang="en-US" sz="2400">
                <a:solidFill>
                  <a:schemeClr val="lt2"/>
                </a:solidFill>
              </a:rPr>
              <a:t>nav</a:t>
            </a:r>
            <a:r>
              <a:rPr lang="en-US" sz="2400">
                <a:solidFill>
                  <a:schemeClr val="lt1"/>
                </a:solidFill>
                <a:latin typeface="Arial"/>
                <a:ea typeface="Arial"/>
                <a:cs typeface="Arial"/>
                <a:sym typeface="Arial"/>
              </a:rPr>
              <a:t>, noframes, noscript, ol, </a:t>
            </a:r>
            <a:r>
              <a:rPr lang="en-US" sz="2400">
                <a:solidFill>
                  <a:schemeClr val="lt2"/>
                </a:solidFill>
                <a:latin typeface="Arial"/>
                <a:ea typeface="Arial"/>
                <a:cs typeface="Arial"/>
                <a:sym typeface="Arial"/>
              </a:rPr>
              <a:t>p</a:t>
            </a:r>
            <a:r>
              <a:rPr lang="en-US" sz="2400">
                <a:solidFill>
                  <a:schemeClr val="lt1"/>
                </a:solidFill>
                <a:latin typeface="Arial"/>
                <a:ea typeface="Arial"/>
                <a:cs typeface="Arial"/>
                <a:sym typeface="Arial"/>
              </a:rPr>
              <a:t>, pre, </a:t>
            </a:r>
            <a:r>
              <a:rPr lang="en-US" sz="2400">
                <a:solidFill>
                  <a:schemeClr val="lt2"/>
                </a:solidFill>
                <a:latin typeface="Arial"/>
                <a:ea typeface="Arial"/>
                <a:cs typeface="Arial"/>
                <a:sym typeface="Arial"/>
              </a:rPr>
              <a:t>table</a:t>
            </a:r>
            <a:r>
              <a:rPr lang="en-US" sz="2400">
                <a:solidFill>
                  <a:schemeClr val="lt1"/>
                </a:solidFill>
                <a:latin typeface="Arial"/>
                <a:ea typeface="Arial"/>
                <a:cs typeface="Arial"/>
                <a:sym typeface="Arial"/>
              </a:rPr>
              <a:t>, </a:t>
            </a:r>
            <a:r>
              <a:rPr lang="en-US" sz="2400">
                <a:solidFill>
                  <a:schemeClr val="lt2"/>
                </a:solidFill>
                <a:latin typeface="Arial"/>
                <a:ea typeface="Arial"/>
                <a:cs typeface="Arial"/>
                <a:sym typeface="Arial"/>
              </a:rPr>
              <a:t>ul</a:t>
            </a:r>
            <a:r>
              <a:rPr lang="en-US" sz="2400">
                <a:solidFill>
                  <a:schemeClr val="lt1"/>
                </a:solidFill>
              </a:rPr>
              <a:t>…</a:t>
            </a:r>
            <a:endParaRPr sz="2400">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3852750" y="484900"/>
            <a:ext cx="2286000" cy="442500"/>
          </a:xfrm>
          <a:prstGeom prst="rect">
            <a:avLst/>
          </a:prstGeom>
          <a:noFill/>
          <a:ln>
            <a:noFill/>
          </a:ln>
        </p:spPr>
        <p:txBody>
          <a:bodyPr anchorCtr="0" anchor="t" bIns="0" lIns="0" spcFirstLastPara="1" rIns="0" wrap="square" tIns="11425">
            <a:spAutoFit/>
          </a:bodyPr>
          <a:lstStyle/>
          <a:p>
            <a:pPr indent="0" lvl="0" marL="0" marR="5080" rtl="0" algn="l">
              <a:lnSpc>
                <a:spcPct val="100200"/>
              </a:lnSpc>
              <a:spcBef>
                <a:spcPts val="0"/>
              </a:spcBef>
              <a:spcAft>
                <a:spcPts val="0"/>
              </a:spcAft>
              <a:buNone/>
            </a:pPr>
            <a:r>
              <a:rPr b="1" lang="en-US" sz="2800"/>
              <a:t>inline-block</a:t>
            </a:r>
            <a:endParaRPr sz="2400">
              <a:latin typeface="Arial"/>
              <a:ea typeface="Arial"/>
              <a:cs typeface="Arial"/>
              <a:sym typeface="Arial"/>
            </a:endParaRPr>
          </a:p>
        </p:txBody>
      </p:sp>
      <p:sp>
        <p:nvSpPr>
          <p:cNvPr id="196" name="Google Shape;196;p23"/>
          <p:cNvSpPr txBox="1"/>
          <p:nvPr/>
        </p:nvSpPr>
        <p:spPr>
          <a:xfrm>
            <a:off x="1433100" y="1370125"/>
            <a:ext cx="7125300" cy="1429800"/>
          </a:xfrm>
          <a:prstGeom prst="rect">
            <a:avLst/>
          </a:prstGeom>
          <a:noFill/>
          <a:ln>
            <a:noFill/>
          </a:ln>
        </p:spPr>
        <p:txBody>
          <a:bodyPr anchorCtr="0" anchor="t" bIns="0" lIns="0" spcFirstLastPara="1" rIns="0" wrap="square" tIns="11425">
            <a:spAutoFit/>
          </a:bodyPr>
          <a:lstStyle/>
          <a:p>
            <a:pPr indent="0" lvl="0" marL="12700" marR="5080" rtl="0" algn="just">
              <a:lnSpc>
                <a:spcPct val="100200"/>
              </a:lnSpc>
              <a:spcBef>
                <a:spcPts val="0"/>
              </a:spcBef>
              <a:spcAft>
                <a:spcPts val="0"/>
              </a:spcAft>
              <a:buNone/>
            </a:pPr>
            <a:r>
              <a:rPr b="1" lang="en-US" sz="2300">
                <a:solidFill>
                  <a:schemeClr val="lt1"/>
                </a:solidFill>
              </a:rPr>
              <a:t>Es un híbrido entre ambos. Los elementos se posicionan uno tras otro en la misma </a:t>
            </a:r>
            <a:r>
              <a:rPr b="1" lang="en-US" sz="2300">
                <a:solidFill>
                  <a:schemeClr val="lt1"/>
                </a:solidFill>
              </a:rPr>
              <a:t>línea</a:t>
            </a:r>
            <a:r>
              <a:rPr b="1" lang="en-US" sz="2300">
                <a:solidFill>
                  <a:schemeClr val="lt1"/>
                </a:solidFill>
              </a:rPr>
              <a:t> como en inline pero se les puede dar altura y anchura como en block.</a:t>
            </a:r>
            <a:endParaRPr sz="2300">
              <a:solidFill>
                <a:schemeClr val="lt1"/>
              </a:solidFill>
              <a:latin typeface="Arial"/>
              <a:ea typeface="Arial"/>
              <a:cs typeface="Arial"/>
              <a:sym typeface="Arial"/>
            </a:endParaRPr>
          </a:p>
        </p:txBody>
      </p:sp>
      <p:sp>
        <p:nvSpPr>
          <p:cNvPr id="197" name="Google Shape;197;p23"/>
          <p:cNvSpPr txBox="1"/>
          <p:nvPr/>
        </p:nvSpPr>
        <p:spPr>
          <a:xfrm>
            <a:off x="1459825" y="3160300"/>
            <a:ext cx="7125300" cy="3181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a:solidFill>
                  <a:schemeClr val="lt1"/>
                </a:solidFill>
                <a:latin typeface="Lato"/>
                <a:ea typeface="Lato"/>
                <a:cs typeface="Lato"/>
                <a:sym typeface="Lato"/>
              </a:rPr>
              <a:t>Para cambiar o establecer el tipo de elemento deberemos utilizar la propiedad </a:t>
            </a:r>
            <a:r>
              <a:rPr lang="en-US">
                <a:solidFill>
                  <a:schemeClr val="lt2"/>
                </a:solidFill>
                <a:latin typeface="Lato"/>
                <a:ea typeface="Lato"/>
                <a:cs typeface="Lato"/>
                <a:sym typeface="Lato"/>
              </a:rPr>
              <a:t>display </a:t>
            </a:r>
            <a:r>
              <a:rPr lang="en-US">
                <a:solidFill>
                  <a:schemeClr val="lt1"/>
                </a:solidFill>
                <a:latin typeface="Lato"/>
                <a:ea typeface="Lato"/>
                <a:cs typeface="Lato"/>
                <a:sym typeface="Lato"/>
              </a:rPr>
              <a:t>y darle el valor que deseemos que adquiera el elemento.</a:t>
            </a:r>
            <a:endParaRPr>
              <a:solidFill>
                <a:schemeClr val="lt1"/>
              </a:solidFill>
              <a:latin typeface="Lato"/>
              <a:ea typeface="Lato"/>
              <a:cs typeface="Lato"/>
              <a:sym typeface="Lato"/>
            </a:endParaRPr>
          </a:p>
          <a:p>
            <a:pPr indent="0" lvl="0" marL="0" rtl="0" algn="just">
              <a:spcBef>
                <a:spcPts val="0"/>
              </a:spcBef>
              <a:spcAft>
                <a:spcPts val="0"/>
              </a:spcAft>
              <a:buNone/>
            </a:pPr>
            <a:r>
              <a:t/>
            </a:r>
            <a:endParaRPr>
              <a:solidFill>
                <a:schemeClr val="lt1"/>
              </a:solidFill>
              <a:latin typeface="Lato"/>
              <a:ea typeface="Lato"/>
              <a:cs typeface="Lato"/>
              <a:sym typeface="Lato"/>
            </a:endParaRPr>
          </a:p>
          <a:p>
            <a:pPr indent="0" lvl="0" marL="0" rtl="0" algn="just">
              <a:spcBef>
                <a:spcPts val="0"/>
              </a:spcBef>
              <a:spcAft>
                <a:spcPts val="0"/>
              </a:spcAft>
              <a:buNone/>
            </a:pPr>
            <a:r>
              <a:rPr lang="en-US">
                <a:solidFill>
                  <a:schemeClr val="lt1"/>
                </a:solidFill>
                <a:latin typeface="Lato"/>
                <a:ea typeface="Lato"/>
                <a:cs typeface="Lato"/>
                <a:sym typeface="Lato"/>
              </a:rPr>
              <a:t>Los principales valores que podremos asignarles son los siguientes:</a:t>
            </a:r>
            <a:endParaRPr>
              <a:solidFill>
                <a:schemeClr val="lt1"/>
              </a:solidFill>
              <a:latin typeface="Lato"/>
              <a:ea typeface="Lato"/>
              <a:cs typeface="Lato"/>
              <a:sym typeface="Lato"/>
            </a:endParaRPr>
          </a:p>
          <a:p>
            <a:pPr indent="0" lvl="0" marL="0" rtl="0" algn="just">
              <a:spcBef>
                <a:spcPts val="0"/>
              </a:spcBef>
              <a:spcAft>
                <a:spcPts val="0"/>
              </a:spcAft>
              <a:buNone/>
            </a:pPr>
            <a:r>
              <a:t/>
            </a:r>
            <a:endParaRPr>
              <a:solidFill>
                <a:schemeClr val="lt1"/>
              </a:solidFill>
              <a:latin typeface="Lato"/>
              <a:ea typeface="Lato"/>
              <a:cs typeface="Lato"/>
              <a:sym typeface="Lato"/>
            </a:endParaRPr>
          </a:p>
          <a:p>
            <a:pPr indent="0" lvl="0" marL="0" rtl="0" algn="just">
              <a:spcBef>
                <a:spcPts val="0"/>
              </a:spcBef>
              <a:spcAft>
                <a:spcPts val="0"/>
              </a:spcAft>
              <a:buNone/>
            </a:pPr>
            <a:r>
              <a:rPr lang="en-US">
                <a:solidFill>
                  <a:schemeClr val="lt2"/>
                </a:solidFill>
                <a:latin typeface="Lato"/>
                <a:ea typeface="Lato"/>
                <a:cs typeface="Lato"/>
                <a:sym typeface="Lato"/>
              </a:rPr>
              <a:t>block</a:t>
            </a:r>
            <a:r>
              <a:rPr lang="en-US">
                <a:solidFill>
                  <a:schemeClr val="lt1"/>
                </a:solidFill>
                <a:latin typeface="Lato"/>
                <a:ea typeface="Lato"/>
                <a:cs typeface="Lato"/>
                <a:sym typeface="Lato"/>
              </a:rPr>
              <a:t>					</a:t>
            </a:r>
            <a:r>
              <a:rPr lang="en-US">
                <a:solidFill>
                  <a:schemeClr val="lt2"/>
                </a:solidFill>
                <a:latin typeface="Lato"/>
                <a:ea typeface="Lato"/>
                <a:cs typeface="Lato"/>
                <a:sym typeface="Lato"/>
              </a:rPr>
              <a:t>inline-block	</a:t>
            </a:r>
            <a:r>
              <a:rPr lang="en-US">
                <a:solidFill>
                  <a:schemeClr val="lt1"/>
                </a:solidFill>
                <a:latin typeface="Lato"/>
                <a:ea typeface="Lato"/>
                <a:cs typeface="Lato"/>
                <a:sym typeface="Lato"/>
              </a:rPr>
              <a:t>				</a:t>
            </a:r>
            <a:r>
              <a:rPr lang="en-US">
                <a:solidFill>
                  <a:schemeClr val="lt2"/>
                </a:solidFill>
                <a:latin typeface="Lato"/>
                <a:ea typeface="Lato"/>
                <a:cs typeface="Lato"/>
                <a:sym typeface="Lato"/>
              </a:rPr>
              <a:t>inline</a:t>
            </a:r>
            <a:endParaRPr>
              <a:solidFill>
                <a:schemeClr val="lt2"/>
              </a:solidFill>
              <a:latin typeface="Lato"/>
              <a:ea typeface="Lato"/>
              <a:cs typeface="Lato"/>
              <a:sym typeface="Lato"/>
            </a:endParaRPr>
          </a:p>
          <a:p>
            <a:pPr indent="0" lvl="0" marL="0" rtl="0" algn="just">
              <a:spcBef>
                <a:spcPts val="0"/>
              </a:spcBef>
              <a:spcAft>
                <a:spcPts val="0"/>
              </a:spcAft>
              <a:buNone/>
            </a:pPr>
            <a:r>
              <a:t/>
            </a:r>
            <a:endParaRPr>
              <a:solidFill>
                <a:schemeClr val="lt1"/>
              </a:solidFill>
              <a:latin typeface="Lato"/>
              <a:ea typeface="Lato"/>
              <a:cs typeface="Lato"/>
              <a:sym typeface="Lato"/>
            </a:endParaRPr>
          </a:p>
          <a:p>
            <a:pPr indent="0" lvl="0" marL="0" rtl="0" algn="just">
              <a:spcBef>
                <a:spcPts val="0"/>
              </a:spcBef>
              <a:spcAft>
                <a:spcPts val="0"/>
              </a:spcAft>
              <a:buNone/>
            </a:pPr>
            <a:r>
              <a:rPr lang="en-US">
                <a:solidFill>
                  <a:schemeClr val="lt2"/>
                </a:solidFill>
                <a:latin typeface="Lato"/>
                <a:ea typeface="Lato"/>
                <a:cs typeface="Lato"/>
                <a:sym typeface="Lato"/>
              </a:rPr>
              <a:t>table </a:t>
            </a:r>
            <a:r>
              <a:rPr lang="en-US">
                <a:solidFill>
                  <a:schemeClr val="lt1"/>
                </a:solidFill>
                <a:latin typeface="Lato"/>
                <a:ea typeface="Lato"/>
                <a:cs typeface="Lato"/>
                <a:sym typeface="Lato"/>
              </a:rPr>
              <a:t>y sus derivados table-row, table-column y table-cell</a:t>
            </a:r>
            <a:endParaRPr>
              <a:solidFill>
                <a:schemeClr val="lt1"/>
              </a:solidFill>
              <a:latin typeface="Lato"/>
              <a:ea typeface="Lato"/>
              <a:cs typeface="Lato"/>
              <a:sym typeface="Lato"/>
            </a:endParaRPr>
          </a:p>
          <a:p>
            <a:pPr indent="0" lvl="0" marL="0" rtl="0" algn="just">
              <a:spcBef>
                <a:spcPts val="0"/>
              </a:spcBef>
              <a:spcAft>
                <a:spcPts val="0"/>
              </a:spcAft>
              <a:buNone/>
            </a:pPr>
            <a:r>
              <a:t/>
            </a:r>
            <a:endParaRPr>
              <a:solidFill>
                <a:schemeClr val="lt1"/>
              </a:solidFill>
              <a:latin typeface="Lato"/>
              <a:ea typeface="Lato"/>
              <a:cs typeface="Lato"/>
              <a:sym typeface="Lato"/>
            </a:endParaRPr>
          </a:p>
          <a:p>
            <a:pPr indent="0" lvl="0" marL="0" rtl="0" algn="just">
              <a:spcBef>
                <a:spcPts val="0"/>
              </a:spcBef>
              <a:spcAft>
                <a:spcPts val="0"/>
              </a:spcAft>
              <a:buNone/>
            </a:pPr>
            <a:r>
              <a:rPr lang="en-US">
                <a:solidFill>
                  <a:schemeClr val="lt2"/>
                </a:solidFill>
                <a:latin typeface="Lato"/>
                <a:ea typeface="Lato"/>
                <a:cs typeface="Lato"/>
                <a:sym typeface="Lato"/>
              </a:rPr>
              <a:t>flex</a:t>
            </a:r>
            <a:endParaRPr>
              <a:solidFill>
                <a:schemeClr val="lt2"/>
              </a:solidFill>
              <a:latin typeface="Lato"/>
              <a:ea typeface="Lato"/>
              <a:cs typeface="Lato"/>
              <a:sym typeface="Lato"/>
            </a:endParaRPr>
          </a:p>
          <a:p>
            <a:pPr indent="0" lvl="0" marL="0" rtl="0" algn="just">
              <a:spcBef>
                <a:spcPts val="0"/>
              </a:spcBef>
              <a:spcAft>
                <a:spcPts val="0"/>
              </a:spcAft>
              <a:buNone/>
            </a:pPr>
            <a:r>
              <a:t/>
            </a:r>
            <a:endParaRPr>
              <a:solidFill>
                <a:schemeClr val="lt1"/>
              </a:solidFill>
              <a:latin typeface="Lato"/>
              <a:ea typeface="Lato"/>
              <a:cs typeface="Lato"/>
              <a:sym typeface="Lato"/>
            </a:endParaRPr>
          </a:p>
          <a:p>
            <a:pPr indent="0" lvl="0" marL="0" rtl="0" algn="just">
              <a:spcBef>
                <a:spcPts val="0"/>
              </a:spcBef>
              <a:spcAft>
                <a:spcPts val="0"/>
              </a:spcAft>
              <a:buNone/>
            </a:pPr>
            <a:r>
              <a:rPr lang="en-US">
                <a:solidFill>
                  <a:schemeClr val="lt2"/>
                </a:solidFill>
                <a:latin typeface="Lato"/>
                <a:ea typeface="Lato"/>
                <a:cs typeface="Lato"/>
                <a:sym typeface="Lato"/>
              </a:rPr>
              <a:t>grid</a:t>
            </a:r>
            <a:endParaRPr>
              <a:solidFill>
                <a:schemeClr val="lt2"/>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4"/>
          <p:cNvSpPr txBox="1"/>
          <p:nvPr>
            <p:ph type="title"/>
          </p:nvPr>
        </p:nvSpPr>
        <p:spPr>
          <a:xfrm>
            <a:off x="1297500" y="525000"/>
            <a:ext cx="7038900" cy="6279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Posicionamiento</a:t>
            </a:r>
            <a:endParaRPr sz="4000"/>
          </a:p>
        </p:txBody>
      </p:sp>
      <p:sp>
        <p:nvSpPr>
          <p:cNvPr id="203" name="Google Shape;203;p24"/>
          <p:cNvSpPr txBox="1"/>
          <p:nvPr/>
        </p:nvSpPr>
        <p:spPr>
          <a:xfrm>
            <a:off x="1165725" y="1342200"/>
            <a:ext cx="6939900" cy="4932000"/>
          </a:xfrm>
          <a:prstGeom prst="rect">
            <a:avLst/>
          </a:prstGeom>
          <a:noFill/>
          <a:ln>
            <a:noFill/>
          </a:ln>
        </p:spPr>
        <p:txBody>
          <a:bodyPr anchorCtr="0" anchor="t" bIns="0" lIns="0" spcFirstLastPara="1" rIns="0" wrap="square" tIns="12700">
            <a:spAutoFit/>
          </a:bodyPr>
          <a:lstStyle/>
          <a:p>
            <a:pPr indent="0" lvl="0" marL="12700" marR="188595" rtl="0" algn="l">
              <a:lnSpc>
                <a:spcPct val="100000"/>
              </a:lnSpc>
              <a:spcBef>
                <a:spcPts val="0"/>
              </a:spcBef>
              <a:spcAft>
                <a:spcPts val="0"/>
              </a:spcAft>
              <a:buNone/>
            </a:pPr>
            <a:r>
              <a:rPr lang="en-US" sz="1600">
                <a:solidFill>
                  <a:schemeClr val="lt1"/>
                </a:solidFill>
                <a:latin typeface="Arial"/>
                <a:ea typeface="Arial"/>
                <a:cs typeface="Arial"/>
                <a:sym typeface="Arial"/>
              </a:rPr>
              <a:t>Los navegadores crean y posicionan de forma </a:t>
            </a:r>
            <a:r>
              <a:rPr b="1" lang="en-US" sz="1600">
                <a:solidFill>
                  <a:schemeClr val="lt1"/>
                </a:solidFill>
                <a:latin typeface="Arial"/>
                <a:ea typeface="Arial"/>
                <a:cs typeface="Arial"/>
                <a:sym typeface="Arial"/>
              </a:rPr>
              <a:t>automática </a:t>
            </a:r>
            <a:r>
              <a:rPr lang="en-US" sz="1600">
                <a:solidFill>
                  <a:schemeClr val="lt1"/>
                </a:solidFill>
                <a:latin typeface="Arial"/>
                <a:ea typeface="Arial"/>
                <a:cs typeface="Arial"/>
                <a:sym typeface="Arial"/>
              </a:rPr>
              <a:t>todas las cajas que forman cada página HTML. No obstante, CSS permite al diseñador modificar la posición en la que se muestra cada caja.</a:t>
            </a:r>
            <a:endParaRPr sz="1600">
              <a:solidFill>
                <a:schemeClr val="lt1"/>
              </a:solidFill>
              <a:latin typeface="Arial"/>
              <a:ea typeface="Arial"/>
              <a:cs typeface="Arial"/>
              <a:sym typeface="Arial"/>
            </a:endParaRPr>
          </a:p>
          <a:p>
            <a:pPr indent="0" lvl="0" marL="12700" marR="188595" rtl="0" algn="l">
              <a:lnSpc>
                <a:spcPct val="100000"/>
              </a:lnSpc>
              <a:spcBef>
                <a:spcPts val="0"/>
              </a:spcBef>
              <a:spcAft>
                <a:spcPts val="0"/>
              </a:spcAft>
              <a:buNone/>
            </a:pPr>
            <a:r>
              <a:t/>
            </a:r>
            <a:endParaRPr sz="1600">
              <a:solidFill>
                <a:schemeClr val="lt1"/>
              </a:solidFill>
            </a:endParaRPr>
          </a:p>
          <a:p>
            <a:pPr indent="0" lvl="0" marL="12700" rtl="0" algn="l">
              <a:lnSpc>
                <a:spcPct val="100000"/>
              </a:lnSpc>
              <a:spcBef>
                <a:spcPts val="85"/>
              </a:spcBef>
              <a:spcAft>
                <a:spcPts val="0"/>
              </a:spcAft>
              <a:buNone/>
            </a:pPr>
            <a:r>
              <a:rPr lang="en-US" sz="2200">
                <a:solidFill>
                  <a:schemeClr val="lt1"/>
                </a:solidFill>
                <a:latin typeface="Arial"/>
                <a:ea typeface="Arial"/>
                <a:cs typeface="Arial"/>
                <a:sym typeface="Arial"/>
              </a:rPr>
              <a:t>El estándar de CSS define </a:t>
            </a:r>
            <a:r>
              <a:rPr lang="en-US" sz="2200">
                <a:solidFill>
                  <a:schemeClr val="lt2"/>
                </a:solidFill>
              </a:rPr>
              <a:t>seis </a:t>
            </a:r>
            <a:r>
              <a:rPr lang="en-US" sz="2200">
                <a:solidFill>
                  <a:schemeClr val="lt2"/>
                </a:solidFill>
                <a:latin typeface="Arial"/>
                <a:ea typeface="Arial"/>
                <a:cs typeface="Arial"/>
                <a:sym typeface="Arial"/>
              </a:rPr>
              <a:t>modelos diferentes</a:t>
            </a:r>
            <a:r>
              <a:rPr lang="en-US" sz="2200">
                <a:solidFill>
                  <a:schemeClr val="lt1"/>
                </a:solidFill>
              </a:rPr>
              <a:t> </a:t>
            </a:r>
            <a:r>
              <a:rPr lang="en-US" sz="2200">
                <a:solidFill>
                  <a:schemeClr val="lt1"/>
                </a:solidFill>
                <a:latin typeface="Arial"/>
                <a:ea typeface="Arial"/>
                <a:cs typeface="Arial"/>
                <a:sym typeface="Arial"/>
              </a:rPr>
              <a:t>para</a:t>
            </a:r>
            <a:r>
              <a:rPr lang="en-US" sz="2200">
                <a:solidFill>
                  <a:schemeClr val="lt1"/>
                </a:solidFill>
              </a:rPr>
              <a:t> </a:t>
            </a:r>
            <a:r>
              <a:rPr lang="en-US" sz="2200">
                <a:solidFill>
                  <a:schemeClr val="lt1"/>
                </a:solidFill>
                <a:latin typeface="Arial"/>
                <a:ea typeface="Arial"/>
                <a:cs typeface="Arial"/>
                <a:sym typeface="Arial"/>
              </a:rPr>
              <a:t>posicionar una caja:</a:t>
            </a:r>
            <a:endParaRPr sz="2200">
              <a:solidFill>
                <a:schemeClr val="lt1"/>
              </a:solidFill>
              <a:latin typeface="Arial"/>
              <a:ea typeface="Arial"/>
              <a:cs typeface="Arial"/>
              <a:sym typeface="Arial"/>
            </a:endParaRPr>
          </a:p>
          <a:p>
            <a:pPr indent="-176530" lvl="0" marL="1116330" rtl="0" algn="l">
              <a:lnSpc>
                <a:spcPct val="100000"/>
              </a:lnSpc>
              <a:spcBef>
                <a:spcPts val="615"/>
              </a:spcBef>
              <a:spcAft>
                <a:spcPts val="0"/>
              </a:spcAft>
              <a:buClr>
                <a:schemeClr val="lt1"/>
              </a:buClr>
              <a:buSzPts val="2200"/>
              <a:buFont typeface="Arial"/>
              <a:buChar char="•"/>
            </a:pPr>
            <a:r>
              <a:rPr b="1" lang="en-US" sz="1600">
                <a:solidFill>
                  <a:schemeClr val="lt1"/>
                </a:solidFill>
                <a:latin typeface="Arial"/>
                <a:ea typeface="Arial"/>
                <a:cs typeface="Arial"/>
                <a:sym typeface="Arial"/>
              </a:rPr>
              <a:t>Posicionamiento normal o estático (</a:t>
            </a:r>
            <a:r>
              <a:rPr b="1" lang="en-US" sz="1600">
                <a:solidFill>
                  <a:schemeClr val="lt2"/>
                </a:solidFill>
                <a:latin typeface="Arial"/>
                <a:ea typeface="Arial"/>
                <a:cs typeface="Arial"/>
                <a:sym typeface="Arial"/>
              </a:rPr>
              <a:t>static</a:t>
            </a:r>
            <a:r>
              <a:rPr b="1" lang="en-US" sz="1600">
                <a:solidFill>
                  <a:schemeClr val="lt1"/>
                </a:solidFill>
                <a:latin typeface="Arial"/>
                <a:ea typeface="Arial"/>
                <a:cs typeface="Arial"/>
                <a:sym typeface="Arial"/>
              </a:rPr>
              <a:t>)</a:t>
            </a:r>
            <a:endParaRPr sz="1600">
              <a:solidFill>
                <a:schemeClr val="lt1"/>
              </a:solidFill>
              <a:latin typeface="Arial"/>
              <a:ea typeface="Arial"/>
              <a:cs typeface="Arial"/>
              <a:sym typeface="Arial"/>
            </a:endParaRPr>
          </a:p>
          <a:p>
            <a:pPr indent="0" lvl="0" marL="0" rtl="0" algn="l">
              <a:lnSpc>
                <a:spcPct val="100000"/>
              </a:lnSpc>
              <a:spcBef>
                <a:spcPts val="229"/>
              </a:spcBef>
              <a:spcAft>
                <a:spcPts val="0"/>
              </a:spcAft>
              <a:buSzPts val="1800"/>
              <a:buFont typeface="Arial"/>
              <a:buNone/>
            </a:pPr>
            <a:r>
              <a:t/>
            </a:r>
            <a:endParaRPr sz="1600">
              <a:solidFill>
                <a:schemeClr val="lt1"/>
              </a:solidFill>
              <a:latin typeface="Arial"/>
              <a:ea typeface="Arial"/>
              <a:cs typeface="Arial"/>
              <a:sym typeface="Arial"/>
            </a:endParaRPr>
          </a:p>
          <a:p>
            <a:pPr indent="-130175" lvl="0" marL="1069975" rtl="0" algn="l">
              <a:lnSpc>
                <a:spcPct val="100000"/>
              </a:lnSpc>
              <a:spcBef>
                <a:spcPts val="0"/>
              </a:spcBef>
              <a:spcAft>
                <a:spcPts val="0"/>
              </a:spcAft>
              <a:buClr>
                <a:schemeClr val="lt1"/>
              </a:buClr>
              <a:buSzPts val="1600"/>
              <a:buFont typeface="Arial"/>
              <a:buChar char="•"/>
            </a:pPr>
            <a:r>
              <a:rPr b="1" lang="en-US" sz="1600">
                <a:solidFill>
                  <a:schemeClr val="lt1"/>
                </a:solidFill>
                <a:latin typeface="Arial"/>
                <a:ea typeface="Arial"/>
                <a:cs typeface="Arial"/>
                <a:sym typeface="Arial"/>
              </a:rPr>
              <a:t>Posicionamiento relativo (</a:t>
            </a:r>
            <a:r>
              <a:rPr b="1" lang="en-US" sz="1600">
                <a:solidFill>
                  <a:schemeClr val="lt2"/>
                </a:solidFill>
              </a:rPr>
              <a:t>relative</a:t>
            </a:r>
            <a:r>
              <a:rPr b="1" lang="en-US" sz="1600">
                <a:solidFill>
                  <a:schemeClr val="lt1"/>
                </a:solidFill>
                <a:latin typeface="Arial"/>
                <a:ea typeface="Arial"/>
                <a:cs typeface="Arial"/>
                <a:sym typeface="Arial"/>
              </a:rPr>
              <a:t>)</a:t>
            </a:r>
            <a:endParaRPr sz="1600">
              <a:solidFill>
                <a:schemeClr val="lt1"/>
              </a:solidFill>
              <a:latin typeface="Arial"/>
              <a:ea typeface="Arial"/>
              <a:cs typeface="Arial"/>
              <a:sym typeface="Arial"/>
            </a:endParaRPr>
          </a:p>
          <a:p>
            <a:pPr indent="0" lvl="0" marL="0" rtl="0" algn="l">
              <a:lnSpc>
                <a:spcPct val="100000"/>
              </a:lnSpc>
              <a:spcBef>
                <a:spcPts val="155"/>
              </a:spcBef>
              <a:spcAft>
                <a:spcPts val="0"/>
              </a:spcAft>
              <a:buSzPts val="1800"/>
              <a:buFont typeface="Arial"/>
              <a:buNone/>
            </a:pPr>
            <a:r>
              <a:t/>
            </a:r>
            <a:endParaRPr sz="1600">
              <a:solidFill>
                <a:schemeClr val="lt1"/>
              </a:solidFill>
              <a:latin typeface="Arial"/>
              <a:ea typeface="Arial"/>
              <a:cs typeface="Arial"/>
              <a:sym typeface="Arial"/>
            </a:endParaRPr>
          </a:p>
          <a:p>
            <a:pPr indent="-132079" lvl="0" marL="1071880" rtl="0" algn="l">
              <a:lnSpc>
                <a:spcPct val="100000"/>
              </a:lnSpc>
              <a:spcBef>
                <a:spcPts val="0"/>
              </a:spcBef>
              <a:spcAft>
                <a:spcPts val="0"/>
              </a:spcAft>
              <a:buClr>
                <a:schemeClr val="lt1"/>
              </a:buClr>
              <a:buSzPts val="1500"/>
              <a:buFont typeface="Arial"/>
              <a:buChar char="•"/>
            </a:pPr>
            <a:r>
              <a:rPr b="1" lang="en-US" sz="1600">
                <a:solidFill>
                  <a:schemeClr val="lt1"/>
                </a:solidFill>
                <a:latin typeface="Arial"/>
                <a:ea typeface="Arial"/>
                <a:cs typeface="Arial"/>
                <a:sym typeface="Arial"/>
              </a:rPr>
              <a:t>Posicionamiento absoluto (</a:t>
            </a:r>
            <a:r>
              <a:rPr b="1" lang="en-US" sz="1600">
                <a:solidFill>
                  <a:schemeClr val="lt2"/>
                </a:solidFill>
              </a:rPr>
              <a:t>absolute</a:t>
            </a:r>
            <a:r>
              <a:rPr b="1" lang="en-US" sz="1600">
                <a:solidFill>
                  <a:schemeClr val="lt1"/>
                </a:solidFill>
                <a:latin typeface="Arial"/>
                <a:ea typeface="Arial"/>
                <a:cs typeface="Arial"/>
                <a:sym typeface="Arial"/>
              </a:rPr>
              <a:t>)</a:t>
            </a:r>
            <a:endParaRPr sz="1600">
              <a:solidFill>
                <a:schemeClr val="lt1"/>
              </a:solidFill>
              <a:latin typeface="Arial"/>
              <a:ea typeface="Arial"/>
              <a:cs typeface="Arial"/>
              <a:sym typeface="Arial"/>
            </a:endParaRPr>
          </a:p>
          <a:p>
            <a:pPr indent="0" lvl="0" marL="0" rtl="0" algn="l">
              <a:lnSpc>
                <a:spcPct val="100000"/>
              </a:lnSpc>
              <a:spcBef>
                <a:spcPts val="150"/>
              </a:spcBef>
              <a:spcAft>
                <a:spcPts val="0"/>
              </a:spcAft>
              <a:buSzPts val="1800"/>
              <a:buFont typeface="Arial"/>
              <a:buNone/>
            </a:pPr>
            <a:r>
              <a:t/>
            </a:r>
            <a:endParaRPr sz="1600">
              <a:solidFill>
                <a:schemeClr val="lt1"/>
              </a:solidFill>
              <a:latin typeface="Arial"/>
              <a:ea typeface="Arial"/>
              <a:cs typeface="Arial"/>
              <a:sym typeface="Arial"/>
            </a:endParaRPr>
          </a:p>
          <a:p>
            <a:pPr indent="-132079" lvl="0" marL="1071880" rtl="0" algn="l">
              <a:lnSpc>
                <a:spcPct val="100000"/>
              </a:lnSpc>
              <a:spcBef>
                <a:spcPts val="0"/>
              </a:spcBef>
              <a:spcAft>
                <a:spcPts val="0"/>
              </a:spcAft>
              <a:buClr>
                <a:schemeClr val="lt1"/>
              </a:buClr>
              <a:buSzPts val="1500"/>
              <a:buFont typeface="Arial"/>
              <a:buChar char="•"/>
            </a:pPr>
            <a:r>
              <a:rPr b="1" lang="en-US" sz="1600">
                <a:solidFill>
                  <a:schemeClr val="lt1"/>
                </a:solidFill>
                <a:latin typeface="Arial"/>
                <a:ea typeface="Arial"/>
                <a:cs typeface="Arial"/>
                <a:sym typeface="Arial"/>
              </a:rPr>
              <a:t>Posicionam</a:t>
            </a:r>
            <a:r>
              <a:rPr b="1" lang="en-US" sz="1600">
                <a:solidFill>
                  <a:schemeClr val="lt1"/>
                </a:solidFill>
                <a:latin typeface="Arial"/>
                <a:ea typeface="Arial"/>
                <a:cs typeface="Arial"/>
                <a:sym typeface="Arial"/>
              </a:rPr>
              <a:t>iento fijo (</a:t>
            </a:r>
            <a:r>
              <a:rPr b="1" lang="en-US" sz="1600">
                <a:solidFill>
                  <a:schemeClr val="lt2"/>
                </a:solidFill>
              </a:rPr>
              <a:t>fixed</a:t>
            </a:r>
            <a:r>
              <a:rPr b="1" lang="en-US" sz="1600">
                <a:solidFill>
                  <a:schemeClr val="lt1"/>
                </a:solidFill>
              </a:rPr>
              <a:t>)</a:t>
            </a:r>
            <a:endParaRPr b="1" sz="1600">
              <a:solidFill>
                <a:schemeClr val="lt1"/>
              </a:solidFill>
            </a:endParaRPr>
          </a:p>
          <a:p>
            <a:pPr indent="0" lvl="0" marL="457200" rtl="0" algn="l">
              <a:lnSpc>
                <a:spcPct val="100000"/>
              </a:lnSpc>
              <a:spcBef>
                <a:spcPts val="0"/>
              </a:spcBef>
              <a:spcAft>
                <a:spcPts val="0"/>
              </a:spcAft>
              <a:buNone/>
            </a:pPr>
            <a:r>
              <a:t/>
            </a:r>
            <a:endParaRPr b="1" sz="1600">
              <a:solidFill>
                <a:schemeClr val="lt1"/>
              </a:solidFill>
            </a:endParaRPr>
          </a:p>
          <a:p>
            <a:pPr indent="-138430" lvl="0" marL="1071880" rtl="0" algn="l">
              <a:lnSpc>
                <a:spcPct val="100000"/>
              </a:lnSpc>
              <a:spcBef>
                <a:spcPts val="0"/>
              </a:spcBef>
              <a:spcAft>
                <a:spcPts val="0"/>
              </a:spcAft>
              <a:buClr>
                <a:schemeClr val="lt1"/>
              </a:buClr>
              <a:buSzPts val="1600"/>
              <a:buFont typeface="Arial"/>
              <a:buChar char="•"/>
            </a:pPr>
            <a:r>
              <a:rPr b="1" lang="en-US" sz="1600">
                <a:solidFill>
                  <a:schemeClr val="lt1"/>
                </a:solidFill>
              </a:rPr>
              <a:t>Posicionamiento pegajoso (</a:t>
            </a:r>
            <a:r>
              <a:rPr b="1" lang="en-US" sz="1600">
                <a:solidFill>
                  <a:schemeClr val="lt2"/>
                </a:solidFill>
              </a:rPr>
              <a:t>sticky)</a:t>
            </a:r>
            <a:endParaRPr b="1" sz="1600">
              <a:solidFill>
                <a:schemeClr val="lt1"/>
              </a:solidFill>
            </a:endParaRPr>
          </a:p>
          <a:p>
            <a:pPr indent="0" lvl="0" marL="0" rtl="0" algn="l">
              <a:lnSpc>
                <a:spcPct val="100000"/>
              </a:lnSpc>
              <a:spcBef>
                <a:spcPts val="150"/>
              </a:spcBef>
              <a:spcAft>
                <a:spcPts val="0"/>
              </a:spcAft>
              <a:buSzPts val="1800"/>
              <a:buFont typeface="Arial"/>
              <a:buNone/>
            </a:pPr>
            <a:r>
              <a:t/>
            </a:r>
            <a:endParaRPr sz="1600">
              <a:solidFill>
                <a:schemeClr val="lt1"/>
              </a:solidFill>
              <a:latin typeface="Arial"/>
              <a:ea typeface="Arial"/>
              <a:cs typeface="Arial"/>
              <a:sym typeface="Arial"/>
            </a:endParaRPr>
          </a:p>
          <a:p>
            <a:pPr indent="-132079" lvl="0" marL="1071880" rtl="0" algn="l">
              <a:lnSpc>
                <a:spcPct val="100000"/>
              </a:lnSpc>
              <a:spcBef>
                <a:spcPts val="0"/>
              </a:spcBef>
              <a:spcAft>
                <a:spcPts val="0"/>
              </a:spcAft>
              <a:buClr>
                <a:schemeClr val="lt1"/>
              </a:buClr>
              <a:buSzPts val="1500"/>
              <a:buFont typeface="Arial"/>
              <a:buChar char="•"/>
            </a:pPr>
            <a:r>
              <a:rPr b="1" lang="en-US" sz="1600">
                <a:solidFill>
                  <a:schemeClr val="lt1"/>
                </a:solidFill>
                <a:latin typeface="Arial"/>
                <a:ea typeface="Arial"/>
                <a:cs typeface="Arial"/>
                <a:sym typeface="Arial"/>
              </a:rPr>
              <a:t>Posicionamiento flotante </a:t>
            </a:r>
            <a:r>
              <a:rPr b="1" lang="en-US" sz="1600">
                <a:solidFill>
                  <a:schemeClr val="lt1"/>
                </a:solidFill>
              </a:rPr>
              <a:t>(</a:t>
            </a:r>
            <a:r>
              <a:rPr b="1" lang="en-US" sz="1600">
                <a:solidFill>
                  <a:schemeClr val="lt2"/>
                </a:solidFill>
              </a:rPr>
              <a:t>float</a:t>
            </a:r>
            <a:r>
              <a:rPr b="1" lang="en-US" sz="1600">
                <a:solidFill>
                  <a:schemeClr val="lt1"/>
                </a:solidFill>
              </a:rPr>
              <a:t>)</a:t>
            </a:r>
            <a:endParaRPr sz="1600">
              <a:solidFill>
                <a:schemeClr val="lt1"/>
              </a:solidFill>
              <a:latin typeface="Arial"/>
              <a:ea typeface="Arial"/>
              <a:cs typeface="Arial"/>
              <a:sym typeface="Arial"/>
            </a:endParaRPr>
          </a:p>
          <a:p>
            <a:pPr indent="0" lvl="0" marL="12700" rtl="0" algn="l">
              <a:lnSpc>
                <a:spcPct val="100000"/>
              </a:lnSpc>
              <a:spcBef>
                <a:spcPts val="5"/>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type="title"/>
          </p:nvPr>
        </p:nvSpPr>
        <p:spPr>
          <a:xfrm>
            <a:off x="1297500" y="525000"/>
            <a:ext cx="7038900" cy="6279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Posicionamiento</a:t>
            </a:r>
            <a:endParaRPr sz="4000"/>
          </a:p>
        </p:txBody>
      </p:sp>
      <p:sp>
        <p:nvSpPr>
          <p:cNvPr id="209" name="Google Shape;209;p25"/>
          <p:cNvSpPr txBox="1"/>
          <p:nvPr/>
        </p:nvSpPr>
        <p:spPr>
          <a:xfrm>
            <a:off x="1365251" y="1059550"/>
            <a:ext cx="6621900" cy="875400"/>
          </a:xfrm>
          <a:prstGeom prst="rect">
            <a:avLst/>
          </a:prstGeom>
          <a:noFill/>
          <a:ln>
            <a:noFill/>
          </a:ln>
        </p:spPr>
        <p:txBody>
          <a:bodyPr anchorCtr="0" anchor="t" bIns="0" lIns="0" spcFirstLastPara="1" rIns="0" wrap="square" tIns="13325">
            <a:spAutoFit/>
          </a:bodyPr>
          <a:lstStyle/>
          <a:p>
            <a:pPr indent="0" lvl="0" marL="12700" rtl="0" algn="l">
              <a:spcBef>
                <a:spcPts val="1285"/>
              </a:spcBef>
              <a:spcAft>
                <a:spcPts val="0"/>
              </a:spcAft>
              <a:buNone/>
            </a:pPr>
            <a:r>
              <a:rPr lang="en-US" sz="1800">
                <a:solidFill>
                  <a:schemeClr val="lt1"/>
                </a:solidFill>
              </a:rPr>
              <a:t>El posicionamiento de una caja se establece mediante la propiedad </a:t>
            </a:r>
            <a:r>
              <a:rPr b="1" lang="en-US" sz="1800">
                <a:solidFill>
                  <a:schemeClr val="lt2"/>
                </a:solidFill>
              </a:rPr>
              <a:t>position</a:t>
            </a:r>
            <a:r>
              <a:rPr lang="en-US" sz="1800">
                <a:solidFill>
                  <a:schemeClr val="lt1"/>
                </a:solidFill>
              </a:rPr>
              <a:t>:</a:t>
            </a:r>
            <a:endParaRPr sz="1800">
              <a:solidFill>
                <a:schemeClr val="lt1"/>
              </a:solidFill>
            </a:endParaRPr>
          </a:p>
          <a:p>
            <a:pPr indent="0" lvl="0" marL="12700" rtl="0" algn="l">
              <a:lnSpc>
                <a:spcPct val="100000"/>
              </a:lnSpc>
              <a:spcBef>
                <a:spcPts val="0"/>
              </a:spcBef>
              <a:spcAft>
                <a:spcPts val="0"/>
              </a:spcAft>
              <a:buNone/>
            </a:pPr>
            <a:r>
              <a:t/>
            </a:r>
            <a:endParaRPr sz="2000"/>
          </a:p>
        </p:txBody>
      </p:sp>
      <p:graphicFrame>
        <p:nvGraphicFramePr>
          <p:cNvPr id="210" name="Google Shape;210;p25"/>
          <p:cNvGraphicFramePr/>
          <p:nvPr/>
        </p:nvGraphicFramePr>
        <p:xfrm>
          <a:off x="2129050" y="1858885"/>
          <a:ext cx="3000000" cy="3000000"/>
        </p:xfrm>
        <a:graphic>
          <a:graphicData uri="http://schemas.openxmlformats.org/drawingml/2006/table">
            <a:tbl>
              <a:tblPr bandRow="1" firstRow="1">
                <a:noFill/>
                <a:tableStyleId>{BD2C677E-76CE-4C07-AC23-0E4C99C7E159}</a:tableStyleId>
              </a:tblPr>
              <a:tblGrid>
                <a:gridCol w="2442950"/>
                <a:gridCol w="2442950"/>
              </a:tblGrid>
              <a:tr h="198050">
                <a:tc>
                  <a:txBody>
                    <a:bodyPr/>
                    <a:lstStyle/>
                    <a:p>
                      <a:pPr indent="0" lvl="0" marL="55244" marR="0" rtl="0" algn="l">
                        <a:lnSpc>
                          <a:spcPct val="100000"/>
                        </a:lnSpc>
                        <a:spcBef>
                          <a:spcPts val="0"/>
                        </a:spcBef>
                        <a:spcAft>
                          <a:spcPts val="0"/>
                        </a:spcAft>
                        <a:buNone/>
                      </a:pPr>
                      <a:r>
                        <a:rPr b="1" lang="en-US" sz="1000" u="none" cap="none" strike="noStrike">
                          <a:latin typeface="Calibri"/>
                          <a:ea typeface="Calibri"/>
                          <a:cs typeface="Calibri"/>
                          <a:sym typeface="Calibri"/>
                        </a:rPr>
                        <a:t>position</a:t>
                      </a:r>
                      <a:endParaRPr sz="1000" u="none" cap="none" strike="noStrike">
                        <a:latin typeface="Calibri"/>
                        <a:ea typeface="Calibri"/>
                        <a:cs typeface="Calibri"/>
                        <a:sym typeface="Calibri"/>
                      </a:endParaRPr>
                    </a:p>
                  </a:txBody>
                  <a:tcPr marT="45725" marB="0" marR="0" marL="0">
                    <a:lnL cap="flat" cmpd="sng" w="9525">
                      <a:solidFill>
                        <a:srgbClr val="DFE1E4"/>
                      </a:solidFill>
                      <a:prstDash val="solid"/>
                      <a:round/>
                      <a:headEnd len="sm" w="sm" type="none"/>
                      <a:tailEnd len="sm" w="sm" type="none"/>
                    </a:lnL>
                    <a:lnR cap="flat" cmpd="sng" w="9525">
                      <a:solidFill>
                        <a:srgbClr val="DFE1E4"/>
                      </a:solidFill>
                      <a:prstDash val="solid"/>
                      <a:round/>
                      <a:headEnd len="sm" w="sm" type="none"/>
                      <a:tailEnd len="sm" w="sm" type="none"/>
                    </a:lnR>
                    <a:lnT cap="flat" cmpd="sng" w="9525">
                      <a:solidFill>
                        <a:srgbClr val="DFE1E4"/>
                      </a:solidFill>
                      <a:prstDash val="solid"/>
                      <a:round/>
                      <a:headEnd len="sm" w="sm" type="none"/>
                      <a:tailEnd len="sm" w="sm" type="none"/>
                    </a:lnT>
                    <a:lnB cap="flat" cmpd="sng" w="9525">
                      <a:solidFill>
                        <a:srgbClr val="DFE1E4"/>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500" u="none" cap="none" strike="noStrike">
                        <a:latin typeface="Times New Roman"/>
                        <a:ea typeface="Times New Roman"/>
                        <a:cs typeface="Times New Roman"/>
                        <a:sym typeface="Times New Roman"/>
                      </a:endParaRPr>
                    </a:p>
                  </a:txBody>
                  <a:tcPr marT="0" marB="0" marR="0" marL="0">
                    <a:lnL cap="flat" cmpd="sng" w="9525">
                      <a:solidFill>
                        <a:srgbClr val="DFE1E4"/>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DFE1E4"/>
                      </a:solidFill>
                      <a:prstDash val="solid"/>
                      <a:round/>
                      <a:headEnd len="sm" w="sm" type="none"/>
                      <a:tailEnd len="sm" w="sm" type="none"/>
                    </a:lnB>
                  </a:tcPr>
                </a:tc>
              </a:tr>
              <a:tr h="345250">
                <a:tc>
                  <a:txBody>
                    <a:bodyPr/>
                    <a:lstStyle/>
                    <a:p>
                      <a:pPr indent="0" lvl="0" marL="55244" marR="0" rtl="0" algn="l">
                        <a:lnSpc>
                          <a:spcPct val="100000"/>
                        </a:lnSpc>
                        <a:spcBef>
                          <a:spcPts val="0"/>
                        </a:spcBef>
                        <a:spcAft>
                          <a:spcPts val="0"/>
                        </a:spcAft>
                        <a:buNone/>
                      </a:pPr>
                      <a:r>
                        <a:rPr lang="en-US" sz="1000" u="none" cap="none" strike="noStrike">
                          <a:latin typeface="Calibri"/>
                          <a:ea typeface="Calibri"/>
                          <a:cs typeface="Calibri"/>
                          <a:sym typeface="Calibri"/>
                        </a:rPr>
                        <a:t>Valores</a:t>
                      </a:r>
                      <a:endParaRPr sz="1000" u="none" cap="none" strike="noStrike">
                        <a:latin typeface="Calibri"/>
                        <a:ea typeface="Calibri"/>
                        <a:cs typeface="Calibri"/>
                        <a:sym typeface="Calibri"/>
                      </a:endParaRPr>
                    </a:p>
                  </a:txBody>
                  <a:tcPr marT="142250" marB="0" marR="0" marL="0">
                    <a:lnL cap="flat" cmpd="sng" w="9525">
                      <a:solidFill>
                        <a:srgbClr val="DFE1E4"/>
                      </a:solidFill>
                      <a:prstDash val="solid"/>
                      <a:round/>
                      <a:headEnd len="sm" w="sm" type="none"/>
                      <a:tailEnd len="sm" w="sm" type="none"/>
                    </a:lnL>
                    <a:lnR cap="flat" cmpd="sng" w="9525">
                      <a:solidFill>
                        <a:srgbClr val="DFE1E4"/>
                      </a:solidFill>
                      <a:prstDash val="solid"/>
                      <a:round/>
                      <a:headEnd len="sm" w="sm" type="none"/>
                      <a:tailEnd len="sm" w="sm" type="none"/>
                    </a:lnR>
                    <a:lnT cap="flat" cmpd="sng" w="9525">
                      <a:solidFill>
                        <a:srgbClr val="DFE1E4"/>
                      </a:solidFill>
                      <a:prstDash val="solid"/>
                      <a:round/>
                      <a:headEnd len="sm" w="sm" type="none"/>
                      <a:tailEnd len="sm" w="sm" type="none"/>
                    </a:lnT>
                    <a:lnB cap="flat" cmpd="sng" w="9525">
                      <a:solidFill>
                        <a:srgbClr val="DFE1E4"/>
                      </a:solidFill>
                      <a:prstDash val="solid"/>
                      <a:round/>
                      <a:headEnd len="sm" w="sm" type="none"/>
                      <a:tailEnd len="sm" w="sm" type="none"/>
                    </a:lnB>
                    <a:solidFill>
                      <a:srgbClr val="FFFFFF"/>
                    </a:solidFill>
                  </a:tcPr>
                </a:tc>
                <a:tc>
                  <a:txBody>
                    <a:bodyPr/>
                    <a:lstStyle/>
                    <a:p>
                      <a:pPr indent="0" lvl="0" marL="55880" marR="0" rtl="0" algn="l">
                        <a:lnSpc>
                          <a:spcPct val="100000"/>
                        </a:lnSpc>
                        <a:spcBef>
                          <a:spcPts val="0"/>
                        </a:spcBef>
                        <a:spcAft>
                          <a:spcPts val="0"/>
                        </a:spcAft>
                        <a:buNone/>
                      </a:pPr>
                      <a:r>
                        <a:rPr lang="en-US" sz="1000" u="none" cap="none" strike="noStrike">
                          <a:latin typeface="Calibri"/>
                          <a:ea typeface="Calibri"/>
                          <a:cs typeface="Calibri"/>
                          <a:sym typeface="Calibri"/>
                        </a:rPr>
                        <a:t>static | relative | absolute | fixed | </a:t>
                      </a:r>
                      <a:r>
                        <a:rPr lang="en-US" sz="1000" u="sng" cap="none" strike="noStrike">
                          <a:solidFill>
                            <a:srgbClr val="0000FF"/>
                          </a:solidFill>
                          <a:latin typeface="Calibri"/>
                          <a:ea typeface="Calibri"/>
                          <a:cs typeface="Calibri"/>
                          <a:sym typeface="Calibri"/>
                          <a:hlinkClick r:id="rId3">
                            <a:extLst>
                              <a:ext uri="{A12FA001-AC4F-418D-AE19-62706E023703}">
                                <ahyp:hlinkClr val="tx"/>
                              </a:ext>
                            </a:extLst>
                          </a:hlinkClick>
                        </a:rPr>
                        <a:t>inherit</a:t>
                      </a:r>
                      <a:endParaRPr sz="1000" u="none" cap="none" strike="noStrike">
                        <a:latin typeface="Calibri"/>
                        <a:ea typeface="Calibri"/>
                        <a:cs typeface="Calibri"/>
                        <a:sym typeface="Calibri"/>
                      </a:endParaRPr>
                    </a:p>
                  </a:txBody>
                  <a:tcPr marT="142250" marB="0" marR="0" marL="0">
                    <a:lnL cap="flat" cmpd="sng" w="9525">
                      <a:solidFill>
                        <a:srgbClr val="DFE1E4"/>
                      </a:solidFill>
                      <a:prstDash val="solid"/>
                      <a:round/>
                      <a:headEnd len="sm" w="sm" type="none"/>
                      <a:tailEnd len="sm" w="sm" type="none"/>
                    </a:lnL>
                    <a:lnR cap="flat" cmpd="sng" w="9525">
                      <a:solidFill>
                        <a:srgbClr val="DFE1E4"/>
                      </a:solidFill>
                      <a:prstDash val="solid"/>
                      <a:round/>
                      <a:headEnd len="sm" w="sm" type="none"/>
                      <a:tailEnd len="sm" w="sm" type="none"/>
                    </a:lnR>
                    <a:lnT cap="flat" cmpd="sng" w="9525">
                      <a:solidFill>
                        <a:srgbClr val="DFE1E4"/>
                      </a:solidFill>
                      <a:prstDash val="solid"/>
                      <a:round/>
                      <a:headEnd len="sm" w="sm" type="none"/>
                      <a:tailEnd len="sm" w="sm" type="none"/>
                    </a:lnT>
                    <a:lnB cap="flat" cmpd="sng" w="9525">
                      <a:solidFill>
                        <a:srgbClr val="DFE1E4"/>
                      </a:solidFill>
                      <a:prstDash val="solid"/>
                      <a:round/>
                      <a:headEnd len="sm" w="sm" type="none"/>
                      <a:tailEnd len="sm" w="sm" type="none"/>
                    </a:lnB>
                    <a:solidFill>
                      <a:srgbClr val="FFFFFF"/>
                    </a:solidFill>
                  </a:tcPr>
                </a:tc>
              </a:tr>
              <a:tr h="198050">
                <a:tc>
                  <a:txBody>
                    <a:bodyPr/>
                    <a:lstStyle/>
                    <a:p>
                      <a:pPr indent="0" lvl="0" marL="55244" marR="0" rtl="0" algn="l">
                        <a:lnSpc>
                          <a:spcPct val="100000"/>
                        </a:lnSpc>
                        <a:spcBef>
                          <a:spcPts val="0"/>
                        </a:spcBef>
                        <a:spcAft>
                          <a:spcPts val="0"/>
                        </a:spcAft>
                        <a:buNone/>
                      </a:pPr>
                      <a:r>
                        <a:rPr lang="en-US" sz="1000" u="none" cap="none" strike="noStrike">
                          <a:latin typeface="Calibri"/>
                          <a:ea typeface="Calibri"/>
                          <a:cs typeface="Calibri"/>
                          <a:sym typeface="Calibri"/>
                        </a:rPr>
                        <a:t>Se aplica a</a:t>
                      </a:r>
                      <a:endParaRPr sz="1000" u="none" cap="none" strike="noStrike">
                        <a:latin typeface="Calibri"/>
                        <a:ea typeface="Calibri"/>
                        <a:cs typeface="Calibri"/>
                        <a:sym typeface="Calibri"/>
                      </a:endParaRPr>
                    </a:p>
                  </a:txBody>
                  <a:tcPr marT="45725" marB="0" marR="0" marL="0">
                    <a:lnL cap="flat" cmpd="sng" w="9525">
                      <a:solidFill>
                        <a:srgbClr val="DFE1E4"/>
                      </a:solidFill>
                      <a:prstDash val="solid"/>
                      <a:round/>
                      <a:headEnd len="sm" w="sm" type="none"/>
                      <a:tailEnd len="sm" w="sm" type="none"/>
                    </a:lnL>
                    <a:lnR cap="flat" cmpd="sng" w="9525">
                      <a:solidFill>
                        <a:srgbClr val="DFE1E4"/>
                      </a:solidFill>
                      <a:prstDash val="solid"/>
                      <a:round/>
                      <a:headEnd len="sm" w="sm" type="none"/>
                      <a:tailEnd len="sm" w="sm" type="none"/>
                    </a:lnR>
                    <a:lnT cap="flat" cmpd="sng" w="9525">
                      <a:solidFill>
                        <a:srgbClr val="DFE1E4"/>
                      </a:solidFill>
                      <a:prstDash val="solid"/>
                      <a:round/>
                      <a:headEnd len="sm" w="sm" type="none"/>
                      <a:tailEnd len="sm" w="sm" type="none"/>
                    </a:lnT>
                    <a:lnB cap="flat" cmpd="sng" w="9525">
                      <a:solidFill>
                        <a:srgbClr val="DFE1E4"/>
                      </a:solidFill>
                      <a:prstDash val="solid"/>
                      <a:round/>
                      <a:headEnd len="sm" w="sm" type="none"/>
                      <a:tailEnd len="sm" w="sm" type="none"/>
                    </a:lnB>
                    <a:solidFill>
                      <a:srgbClr val="F6F8F9"/>
                    </a:solidFill>
                  </a:tcPr>
                </a:tc>
                <a:tc>
                  <a:txBody>
                    <a:bodyPr/>
                    <a:lstStyle/>
                    <a:p>
                      <a:pPr indent="0" lvl="0" marL="55880" marR="0" rtl="0" algn="l">
                        <a:lnSpc>
                          <a:spcPct val="100000"/>
                        </a:lnSpc>
                        <a:spcBef>
                          <a:spcPts val="0"/>
                        </a:spcBef>
                        <a:spcAft>
                          <a:spcPts val="0"/>
                        </a:spcAft>
                        <a:buNone/>
                      </a:pPr>
                      <a:r>
                        <a:rPr lang="en-US" sz="1000" u="none" cap="none" strike="noStrike">
                          <a:latin typeface="Calibri"/>
                          <a:ea typeface="Calibri"/>
                          <a:cs typeface="Calibri"/>
                          <a:sym typeface="Calibri"/>
                        </a:rPr>
                        <a:t>Todos los elementos</a:t>
                      </a:r>
                      <a:endParaRPr sz="1000" u="none" cap="none" strike="noStrike">
                        <a:latin typeface="Calibri"/>
                        <a:ea typeface="Calibri"/>
                        <a:cs typeface="Calibri"/>
                        <a:sym typeface="Calibri"/>
                      </a:endParaRPr>
                    </a:p>
                  </a:txBody>
                  <a:tcPr marT="45725" marB="0" marR="0" marL="0">
                    <a:lnL cap="flat" cmpd="sng" w="9525">
                      <a:solidFill>
                        <a:srgbClr val="DFE1E4"/>
                      </a:solidFill>
                      <a:prstDash val="solid"/>
                      <a:round/>
                      <a:headEnd len="sm" w="sm" type="none"/>
                      <a:tailEnd len="sm" w="sm" type="none"/>
                    </a:lnL>
                    <a:lnR cap="flat" cmpd="sng" w="9525">
                      <a:solidFill>
                        <a:srgbClr val="DFE1E4"/>
                      </a:solidFill>
                      <a:prstDash val="solid"/>
                      <a:round/>
                      <a:headEnd len="sm" w="sm" type="none"/>
                      <a:tailEnd len="sm" w="sm" type="none"/>
                    </a:lnR>
                    <a:lnT cap="flat" cmpd="sng" w="9525">
                      <a:solidFill>
                        <a:srgbClr val="DFE1E4"/>
                      </a:solidFill>
                      <a:prstDash val="solid"/>
                      <a:round/>
                      <a:headEnd len="sm" w="sm" type="none"/>
                      <a:tailEnd len="sm" w="sm" type="none"/>
                    </a:lnT>
                    <a:lnB cap="flat" cmpd="sng" w="9525">
                      <a:solidFill>
                        <a:srgbClr val="DFE1E4"/>
                      </a:solidFill>
                      <a:prstDash val="solid"/>
                      <a:round/>
                      <a:headEnd len="sm" w="sm" type="none"/>
                      <a:tailEnd len="sm" w="sm" type="none"/>
                    </a:lnB>
                    <a:solidFill>
                      <a:srgbClr val="F6F8F9"/>
                    </a:solidFill>
                  </a:tcPr>
                </a:tc>
              </a:tr>
              <a:tr h="198050">
                <a:tc>
                  <a:txBody>
                    <a:bodyPr/>
                    <a:lstStyle/>
                    <a:p>
                      <a:pPr indent="0" lvl="0" marL="55244" marR="0" rtl="0" algn="l">
                        <a:lnSpc>
                          <a:spcPct val="100000"/>
                        </a:lnSpc>
                        <a:spcBef>
                          <a:spcPts val="0"/>
                        </a:spcBef>
                        <a:spcAft>
                          <a:spcPts val="0"/>
                        </a:spcAft>
                        <a:buNone/>
                      </a:pPr>
                      <a:r>
                        <a:rPr lang="en-US" sz="1000" u="none" cap="none" strike="noStrike">
                          <a:latin typeface="Calibri"/>
                          <a:ea typeface="Calibri"/>
                          <a:cs typeface="Calibri"/>
                          <a:sym typeface="Calibri"/>
                        </a:rPr>
                        <a:t>Valor inicial</a:t>
                      </a:r>
                      <a:endParaRPr sz="1000" u="none" cap="none" strike="noStrike">
                        <a:latin typeface="Calibri"/>
                        <a:ea typeface="Calibri"/>
                        <a:cs typeface="Calibri"/>
                        <a:sym typeface="Calibri"/>
                      </a:endParaRPr>
                    </a:p>
                  </a:txBody>
                  <a:tcPr marT="45725" marB="0" marR="0" marL="0">
                    <a:lnL cap="flat" cmpd="sng" w="9525">
                      <a:solidFill>
                        <a:srgbClr val="DFE1E4"/>
                      </a:solidFill>
                      <a:prstDash val="solid"/>
                      <a:round/>
                      <a:headEnd len="sm" w="sm" type="none"/>
                      <a:tailEnd len="sm" w="sm" type="none"/>
                    </a:lnL>
                    <a:lnR cap="flat" cmpd="sng" w="9525">
                      <a:solidFill>
                        <a:srgbClr val="DFE1E4"/>
                      </a:solidFill>
                      <a:prstDash val="solid"/>
                      <a:round/>
                      <a:headEnd len="sm" w="sm" type="none"/>
                      <a:tailEnd len="sm" w="sm" type="none"/>
                    </a:lnR>
                    <a:lnT cap="flat" cmpd="sng" w="9525">
                      <a:solidFill>
                        <a:srgbClr val="DFE1E4"/>
                      </a:solidFill>
                      <a:prstDash val="solid"/>
                      <a:round/>
                      <a:headEnd len="sm" w="sm" type="none"/>
                      <a:tailEnd len="sm" w="sm" type="none"/>
                    </a:lnT>
                    <a:lnB cap="flat" cmpd="sng" w="9525">
                      <a:solidFill>
                        <a:srgbClr val="DFE1E4"/>
                      </a:solidFill>
                      <a:prstDash val="solid"/>
                      <a:round/>
                      <a:headEnd len="sm" w="sm" type="none"/>
                      <a:tailEnd len="sm" w="sm" type="none"/>
                    </a:lnB>
                    <a:solidFill>
                      <a:srgbClr val="FFFFFF"/>
                    </a:solidFill>
                  </a:tcPr>
                </a:tc>
                <a:tc>
                  <a:txBody>
                    <a:bodyPr/>
                    <a:lstStyle/>
                    <a:p>
                      <a:pPr indent="0" lvl="0" marL="55880" marR="0" rtl="0" algn="l">
                        <a:lnSpc>
                          <a:spcPct val="100000"/>
                        </a:lnSpc>
                        <a:spcBef>
                          <a:spcPts val="0"/>
                        </a:spcBef>
                        <a:spcAft>
                          <a:spcPts val="0"/>
                        </a:spcAft>
                        <a:buNone/>
                      </a:pPr>
                      <a:r>
                        <a:rPr lang="en-US" sz="1000" u="none" cap="none" strike="noStrike">
                          <a:latin typeface="Calibri"/>
                          <a:ea typeface="Calibri"/>
                          <a:cs typeface="Calibri"/>
                          <a:sym typeface="Calibri"/>
                        </a:rPr>
                        <a:t>static</a:t>
                      </a:r>
                      <a:endParaRPr sz="1000" u="none" cap="none" strike="noStrike">
                        <a:latin typeface="Calibri"/>
                        <a:ea typeface="Calibri"/>
                        <a:cs typeface="Calibri"/>
                        <a:sym typeface="Calibri"/>
                      </a:endParaRPr>
                    </a:p>
                  </a:txBody>
                  <a:tcPr marT="45725" marB="0" marR="0" marL="0">
                    <a:lnL cap="flat" cmpd="sng" w="9525">
                      <a:solidFill>
                        <a:srgbClr val="DFE1E4"/>
                      </a:solidFill>
                      <a:prstDash val="solid"/>
                      <a:round/>
                      <a:headEnd len="sm" w="sm" type="none"/>
                      <a:tailEnd len="sm" w="sm" type="none"/>
                    </a:lnL>
                    <a:lnR cap="flat" cmpd="sng" w="9525">
                      <a:solidFill>
                        <a:srgbClr val="DFE1E4"/>
                      </a:solidFill>
                      <a:prstDash val="solid"/>
                      <a:round/>
                      <a:headEnd len="sm" w="sm" type="none"/>
                      <a:tailEnd len="sm" w="sm" type="none"/>
                    </a:lnR>
                    <a:lnT cap="flat" cmpd="sng" w="9525">
                      <a:solidFill>
                        <a:srgbClr val="DFE1E4"/>
                      </a:solidFill>
                      <a:prstDash val="solid"/>
                      <a:round/>
                      <a:headEnd len="sm" w="sm" type="none"/>
                      <a:tailEnd len="sm" w="sm" type="none"/>
                    </a:lnT>
                    <a:lnB cap="flat" cmpd="sng" w="9525">
                      <a:solidFill>
                        <a:srgbClr val="DFE1E4"/>
                      </a:solidFill>
                      <a:prstDash val="solid"/>
                      <a:round/>
                      <a:headEnd len="sm" w="sm" type="none"/>
                      <a:tailEnd len="sm" w="sm" type="none"/>
                    </a:lnB>
                    <a:solidFill>
                      <a:srgbClr val="FFFFFF"/>
                    </a:solidFill>
                  </a:tcPr>
                </a:tc>
              </a:tr>
              <a:tr h="492450">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55244" marR="0" rtl="0" algn="l">
                        <a:lnSpc>
                          <a:spcPct val="100000"/>
                        </a:lnSpc>
                        <a:spcBef>
                          <a:spcPts val="0"/>
                        </a:spcBef>
                        <a:spcAft>
                          <a:spcPts val="0"/>
                        </a:spcAft>
                        <a:buNone/>
                      </a:pPr>
                      <a:r>
                        <a:rPr lang="en-US" sz="1000" u="none" cap="none" strike="noStrike">
                          <a:latin typeface="Calibri"/>
                          <a:ea typeface="Calibri"/>
                          <a:cs typeface="Calibri"/>
                          <a:sym typeface="Calibri"/>
                        </a:rPr>
                        <a:t>Descripción</a:t>
                      </a:r>
                      <a:endParaRPr sz="1000" u="none" cap="none" strike="noStrike">
                        <a:latin typeface="Calibri"/>
                        <a:ea typeface="Calibri"/>
                        <a:cs typeface="Calibri"/>
                        <a:sym typeface="Calibri"/>
                      </a:endParaRPr>
                    </a:p>
                  </a:txBody>
                  <a:tcPr marT="93350" marB="0" marR="0" marL="0">
                    <a:lnL cap="flat" cmpd="sng" w="9525">
                      <a:solidFill>
                        <a:srgbClr val="DFE1E4"/>
                      </a:solidFill>
                      <a:prstDash val="solid"/>
                      <a:round/>
                      <a:headEnd len="sm" w="sm" type="none"/>
                      <a:tailEnd len="sm" w="sm" type="none"/>
                    </a:lnL>
                    <a:lnR cap="flat" cmpd="sng" w="9525">
                      <a:solidFill>
                        <a:srgbClr val="DFE1E4"/>
                      </a:solidFill>
                      <a:prstDash val="solid"/>
                      <a:round/>
                      <a:headEnd len="sm" w="sm" type="none"/>
                      <a:tailEnd len="sm" w="sm" type="none"/>
                    </a:lnR>
                    <a:lnT cap="flat" cmpd="sng" w="9525">
                      <a:solidFill>
                        <a:srgbClr val="DFE1E4"/>
                      </a:solidFill>
                      <a:prstDash val="solid"/>
                      <a:round/>
                      <a:headEnd len="sm" w="sm" type="none"/>
                      <a:tailEnd len="sm" w="sm" type="none"/>
                    </a:lnT>
                    <a:lnB cap="flat" cmpd="sng" w="9525">
                      <a:solidFill>
                        <a:srgbClr val="DFE1E4"/>
                      </a:solidFill>
                      <a:prstDash val="solid"/>
                      <a:round/>
                      <a:headEnd len="sm" w="sm" type="none"/>
                      <a:tailEnd len="sm" w="sm" type="none"/>
                    </a:lnB>
                    <a:solidFill>
                      <a:srgbClr val="F6F8F9"/>
                    </a:solidFill>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p>
                      <a:pPr indent="0" lvl="0" marL="55880" marR="427990" rtl="0" algn="l">
                        <a:lnSpc>
                          <a:spcPct val="100000"/>
                        </a:lnSpc>
                        <a:spcBef>
                          <a:spcPts val="0"/>
                        </a:spcBef>
                        <a:spcAft>
                          <a:spcPts val="0"/>
                        </a:spcAft>
                        <a:buNone/>
                      </a:pPr>
                      <a:r>
                        <a:rPr lang="en-US" sz="1000" u="none" cap="none" strike="noStrike">
                          <a:latin typeface="Calibri"/>
                          <a:ea typeface="Calibri"/>
                          <a:cs typeface="Calibri"/>
                          <a:sym typeface="Calibri"/>
                        </a:rPr>
                        <a:t>Selecciona el posicionamiento con el que se mostrará el elemento</a:t>
                      </a:r>
                      <a:endParaRPr sz="1000" u="none" cap="none" strike="noStrike">
                        <a:latin typeface="Calibri"/>
                        <a:ea typeface="Calibri"/>
                        <a:cs typeface="Calibri"/>
                        <a:sym typeface="Calibri"/>
                      </a:endParaRPr>
                    </a:p>
                  </a:txBody>
                  <a:tcPr marT="17150" marB="0" marR="0" marL="0">
                    <a:lnL cap="flat" cmpd="sng" w="9525">
                      <a:solidFill>
                        <a:srgbClr val="DFE1E4"/>
                      </a:solidFill>
                      <a:prstDash val="solid"/>
                      <a:round/>
                      <a:headEnd len="sm" w="sm" type="none"/>
                      <a:tailEnd len="sm" w="sm" type="none"/>
                    </a:lnL>
                    <a:lnR cap="flat" cmpd="sng" w="9525">
                      <a:solidFill>
                        <a:srgbClr val="DFE1E4"/>
                      </a:solidFill>
                      <a:prstDash val="solid"/>
                      <a:round/>
                      <a:headEnd len="sm" w="sm" type="none"/>
                      <a:tailEnd len="sm" w="sm" type="none"/>
                    </a:lnR>
                    <a:lnT cap="flat" cmpd="sng" w="9525">
                      <a:solidFill>
                        <a:srgbClr val="DFE1E4"/>
                      </a:solidFill>
                      <a:prstDash val="solid"/>
                      <a:round/>
                      <a:headEnd len="sm" w="sm" type="none"/>
                      <a:tailEnd len="sm" w="sm" type="none"/>
                    </a:lnT>
                    <a:lnB cap="flat" cmpd="sng" w="9525">
                      <a:solidFill>
                        <a:srgbClr val="DFE1E4"/>
                      </a:solidFill>
                      <a:prstDash val="solid"/>
                      <a:round/>
                      <a:headEnd len="sm" w="sm" type="none"/>
                      <a:tailEnd len="sm" w="sm" type="none"/>
                    </a:lnB>
                    <a:solidFill>
                      <a:srgbClr val="F6F8F9"/>
                    </a:solidFill>
                  </a:tcPr>
                </a:tc>
              </a:tr>
            </a:tbl>
          </a:graphicData>
        </a:graphic>
      </p:graphicFrame>
      <p:sp>
        <p:nvSpPr>
          <p:cNvPr id="211" name="Google Shape;211;p25"/>
          <p:cNvSpPr txBox="1"/>
          <p:nvPr/>
        </p:nvSpPr>
        <p:spPr>
          <a:xfrm>
            <a:off x="688350" y="3321375"/>
            <a:ext cx="8344500" cy="3460800"/>
          </a:xfrm>
          <a:prstGeom prst="rect">
            <a:avLst/>
          </a:prstGeom>
          <a:noFill/>
          <a:ln>
            <a:noFill/>
          </a:ln>
        </p:spPr>
        <p:txBody>
          <a:bodyPr anchorCtr="0" anchor="t" bIns="0" lIns="0" spcFirstLastPara="1" rIns="0" wrap="square" tIns="12050">
            <a:spAutoFit/>
          </a:bodyPr>
          <a:lstStyle/>
          <a:p>
            <a:pPr indent="-101600" lvl="0" marL="228600" marR="433705" rtl="0" algn="l">
              <a:lnSpc>
                <a:spcPct val="100000"/>
              </a:lnSpc>
              <a:spcBef>
                <a:spcPts val="0"/>
              </a:spcBef>
              <a:spcAft>
                <a:spcPts val="0"/>
              </a:spcAft>
              <a:buClr>
                <a:schemeClr val="lt1"/>
              </a:buClr>
              <a:buSzPts val="1600"/>
              <a:buFont typeface="Calibri"/>
              <a:buChar char="•"/>
            </a:pPr>
            <a:r>
              <a:rPr b="1" lang="en-US" sz="1600">
                <a:solidFill>
                  <a:schemeClr val="lt1"/>
                </a:solidFill>
                <a:latin typeface="Calibri"/>
                <a:ea typeface="Calibri"/>
                <a:cs typeface="Calibri"/>
                <a:sym typeface="Calibri"/>
              </a:rPr>
              <a:t> </a:t>
            </a:r>
            <a:r>
              <a:rPr b="1" lang="en-US" sz="1600">
                <a:solidFill>
                  <a:schemeClr val="lt2"/>
                </a:solidFill>
                <a:latin typeface="Calibri"/>
                <a:ea typeface="Calibri"/>
                <a:cs typeface="Calibri"/>
                <a:sym typeface="Calibri"/>
              </a:rPr>
              <a:t>static</a:t>
            </a:r>
            <a:r>
              <a:rPr lang="en-US" sz="1600">
                <a:solidFill>
                  <a:schemeClr val="lt1"/>
                </a:solidFill>
                <a:latin typeface="Calibri"/>
                <a:ea typeface="Calibri"/>
                <a:cs typeface="Calibri"/>
                <a:sym typeface="Calibri"/>
              </a:rPr>
              <a:t>: corresponde al posicionamiento </a:t>
            </a:r>
            <a:r>
              <a:rPr b="1" lang="en-US" sz="1600">
                <a:solidFill>
                  <a:schemeClr val="lt1"/>
                </a:solidFill>
                <a:latin typeface="Calibri"/>
                <a:ea typeface="Calibri"/>
                <a:cs typeface="Calibri"/>
                <a:sym typeface="Calibri"/>
              </a:rPr>
              <a:t>normal o estático</a:t>
            </a:r>
            <a:r>
              <a:rPr lang="en-US" sz="1600">
                <a:solidFill>
                  <a:schemeClr val="lt1"/>
                </a:solidFill>
                <a:latin typeface="Calibri"/>
                <a:ea typeface="Calibri"/>
                <a:cs typeface="Calibri"/>
                <a:sym typeface="Calibri"/>
              </a:rPr>
              <a:t>. Si se utiliza este valor, se </a:t>
            </a:r>
            <a:r>
              <a:rPr b="1" lang="en-US" sz="1600">
                <a:solidFill>
                  <a:schemeClr val="lt1"/>
                </a:solidFill>
                <a:latin typeface="Calibri"/>
                <a:ea typeface="Calibri"/>
                <a:cs typeface="Calibri"/>
                <a:sym typeface="Calibri"/>
              </a:rPr>
              <a:t>ignoran </a:t>
            </a:r>
            <a:r>
              <a:rPr lang="en-US" sz="1600">
                <a:solidFill>
                  <a:schemeClr val="lt1"/>
                </a:solidFill>
                <a:latin typeface="Calibri"/>
                <a:ea typeface="Calibri"/>
                <a:cs typeface="Calibri"/>
                <a:sym typeface="Calibri"/>
              </a:rPr>
              <a:t>los valores de las propiedades top, right, bottom y left que se verán a continuación.</a:t>
            </a:r>
            <a:endParaRPr sz="1600">
              <a:solidFill>
                <a:schemeClr val="lt1"/>
              </a:solidFill>
              <a:latin typeface="Calibri"/>
              <a:ea typeface="Calibri"/>
              <a:cs typeface="Calibri"/>
              <a:sym typeface="Calibri"/>
            </a:endParaRPr>
          </a:p>
          <a:p>
            <a:pPr indent="-101600" lvl="0" marL="228600" marR="175260" rtl="0" algn="l">
              <a:lnSpc>
                <a:spcPct val="100000"/>
              </a:lnSpc>
              <a:spcBef>
                <a:spcPts val="0"/>
              </a:spcBef>
              <a:spcAft>
                <a:spcPts val="0"/>
              </a:spcAft>
              <a:buClr>
                <a:schemeClr val="lt1"/>
              </a:buClr>
              <a:buSzPts val="1600"/>
              <a:buFont typeface="Calibri"/>
              <a:buChar char="•"/>
            </a:pPr>
            <a:r>
              <a:rPr b="1" lang="en-US" sz="1600">
                <a:solidFill>
                  <a:schemeClr val="lt1"/>
                </a:solidFill>
                <a:latin typeface="Calibri"/>
                <a:ea typeface="Calibri"/>
                <a:cs typeface="Calibri"/>
                <a:sym typeface="Calibri"/>
              </a:rPr>
              <a:t> </a:t>
            </a:r>
            <a:r>
              <a:rPr b="1" lang="en-US" sz="1600">
                <a:solidFill>
                  <a:schemeClr val="lt2"/>
                </a:solidFill>
                <a:latin typeface="Calibri"/>
                <a:ea typeface="Calibri"/>
                <a:cs typeface="Calibri"/>
                <a:sym typeface="Calibri"/>
              </a:rPr>
              <a:t>relative</a:t>
            </a:r>
            <a:r>
              <a:rPr lang="en-US" sz="1600">
                <a:solidFill>
                  <a:schemeClr val="lt1"/>
                </a:solidFill>
                <a:latin typeface="Calibri"/>
                <a:ea typeface="Calibri"/>
                <a:cs typeface="Calibri"/>
                <a:sym typeface="Calibri"/>
              </a:rPr>
              <a:t>: corresponde al posicionamiento relativo. El desplazamiento de la caja se </a:t>
            </a:r>
            <a:r>
              <a:rPr b="1" lang="en-US" sz="1600">
                <a:solidFill>
                  <a:schemeClr val="lt1"/>
                </a:solidFill>
                <a:latin typeface="Calibri"/>
                <a:ea typeface="Calibri"/>
                <a:cs typeface="Calibri"/>
                <a:sym typeface="Calibri"/>
              </a:rPr>
              <a:t>controla </a:t>
            </a:r>
            <a:r>
              <a:rPr lang="en-US" sz="1600">
                <a:solidFill>
                  <a:schemeClr val="lt1"/>
                </a:solidFill>
                <a:latin typeface="Calibri"/>
                <a:ea typeface="Calibri"/>
                <a:cs typeface="Calibri"/>
                <a:sym typeface="Calibri"/>
              </a:rPr>
              <a:t>con las propiedades top, right, bottom y left.</a:t>
            </a:r>
            <a:endParaRPr sz="1600">
              <a:solidFill>
                <a:schemeClr val="lt1"/>
              </a:solidFill>
              <a:latin typeface="Calibri"/>
              <a:ea typeface="Calibri"/>
              <a:cs typeface="Calibri"/>
              <a:sym typeface="Calibri"/>
            </a:endParaRPr>
          </a:p>
          <a:p>
            <a:pPr indent="-101600" lvl="0" marL="228600" marR="161290" rtl="0" algn="l">
              <a:lnSpc>
                <a:spcPct val="100000"/>
              </a:lnSpc>
              <a:spcBef>
                <a:spcPts val="5"/>
              </a:spcBef>
              <a:spcAft>
                <a:spcPts val="0"/>
              </a:spcAft>
              <a:buClr>
                <a:schemeClr val="lt1"/>
              </a:buClr>
              <a:buSzPts val="1600"/>
              <a:buFont typeface="Calibri"/>
              <a:buChar char="•"/>
            </a:pPr>
            <a:r>
              <a:rPr b="1" lang="en-US" sz="1600">
                <a:solidFill>
                  <a:schemeClr val="lt1"/>
                </a:solidFill>
                <a:latin typeface="Calibri"/>
                <a:ea typeface="Calibri"/>
                <a:cs typeface="Calibri"/>
                <a:sym typeface="Calibri"/>
              </a:rPr>
              <a:t> </a:t>
            </a:r>
            <a:r>
              <a:rPr b="1" lang="en-US" sz="1600">
                <a:solidFill>
                  <a:schemeClr val="lt2"/>
                </a:solidFill>
                <a:latin typeface="Calibri"/>
                <a:ea typeface="Calibri"/>
                <a:cs typeface="Calibri"/>
                <a:sym typeface="Calibri"/>
              </a:rPr>
              <a:t>absolute</a:t>
            </a:r>
            <a:r>
              <a:rPr lang="en-US" sz="1600">
                <a:solidFill>
                  <a:schemeClr val="lt1"/>
                </a:solidFill>
                <a:latin typeface="Calibri"/>
                <a:ea typeface="Calibri"/>
                <a:cs typeface="Calibri"/>
                <a:sym typeface="Calibri"/>
              </a:rPr>
              <a:t>: corresponde al posicionamiento absoluto. El desplazamiento de la caja también se controla con las propiedades top, right, bottom y left, pero su </a:t>
            </a:r>
            <a:r>
              <a:rPr b="1" lang="en-US" sz="1600">
                <a:solidFill>
                  <a:schemeClr val="lt1"/>
                </a:solidFill>
                <a:latin typeface="Calibri"/>
                <a:ea typeface="Calibri"/>
                <a:cs typeface="Calibri"/>
                <a:sym typeface="Calibri"/>
              </a:rPr>
              <a:t>interpretación </a:t>
            </a:r>
            <a:r>
              <a:rPr lang="en-US" sz="1600">
                <a:solidFill>
                  <a:schemeClr val="lt1"/>
                </a:solidFill>
                <a:latin typeface="Calibri"/>
                <a:ea typeface="Calibri"/>
                <a:cs typeface="Calibri"/>
                <a:sym typeface="Calibri"/>
              </a:rPr>
              <a:t>es mucho más compleja, ya que el </a:t>
            </a:r>
            <a:r>
              <a:rPr b="1" lang="en-US" sz="1600">
                <a:solidFill>
                  <a:schemeClr val="lt1"/>
                </a:solidFill>
                <a:latin typeface="Calibri"/>
                <a:ea typeface="Calibri"/>
                <a:cs typeface="Calibri"/>
                <a:sym typeface="Calibri"/>
              </a:rPr>
              <a:t>origen </a:t>
            </a:r>
            <a:r>
              <a:rPr lang="en-US" sz="1600">
                <a:solidFill>
                  <a:schemeClr val="lt1"/>
                </a:solidFill>
                <a:latin typeface="Calibri"/>
                <a:ea typeface="Calibri"/>
                <a:cs typeface="Calibri"/>
                <a:sym typeface="Calibri"/>
              </a:rPr>
              <a:t>de coordenadas del desplazamiento depende del posicionamiento de su elemento </a:t>
            </a:r>
            <a:r>
              <a:rPr b="1" lang="en-US" sz="1600">
                <a:solidFill>
                  <a:schemeClr val="lt1"/>
                </a:solidFill>
                <a:latin typeface="Calibri"/>
                <a:ea typeface="Calibri"/>
                <a:cs typeface="Calibri"/>
                <a:sym typeface="Calibri"/>
              </a:rPr>
              <a:t>contenedor</a:t>
            </a:r>
            <a:r>
              <a:rPr lang="en-US" sz="1600">
                <a:solidFill>
                  <a:schemeClr val="lt1"/>
                </a:solidFill>
                <a:latin typeface="Calibri"/>
                <a:ea typeface="Calibri"/>
                <a:cs typeface="Calibri"/>
                <a:sym typeface="Calibri"/>
              </a:rPr>
              <a:t>.</a:t>
            </a:r>
            <a:endParaRPr sz="1600">
              <a:solidFill>
                <a:schemeClr val="lt1"/>
              </a:solidFill>
              <a:latin typeface="Calibri"/>
              <a:ea typeface="Calibri"/>
              <a:cs typeface="Calibri"/>
              <a:sym typeface="Calibri"/>
            </a:endParaRPr>
          </a:p>
          <a:p>
            <a:pPr indent="-101600" lvl="0" marL="228600" rtl="0" algn="l">
              <a:lnSpc>
                <a:spcPct val="100000"/>
              </a:lnSpc>
              <a:spcBef>
                <a:spcPts val="0"/>
              </a:spcBef>
              <a:spcAft>
                <a:spcPts val="0"/>
              </a:spcAft>
              <a:buClr>
                <a:schemeClr val="lt1"/>
              </a:buClr>
              <a:buSzPts val="1600"/>
              <a:buFont typeface="Calibri"/>
              <a:buChar char="•"/>
            </a:pPr>
            <a:r>
              <a:rPr b="1" lang="en-US" sz="1600">
                <a:solidFill>
                  <a:schemeClr val="lt1"/>
                </a:solidFill>
                <a:latin typeface="Calibri"/>
                <a:ea typeface="Calibri"/>
                <a:cs typeface="Calibri"/>
                <a:sym typeface="Calibri"/>
              </a:rPr>
              <a:t> </a:t>
            </a:r>
            <a:r>
              <a:rPr b="1" lang="en-US" sz="1600">
                <a:solidFill>
                  <a:schemeClr val="lt2"/>
                </a:solidFill>
                <a:latin typeface="Calibri"/>
                <a:ea typeface="Calibri"/>
                <a:cs typeface="Calibri"/>
                <a:sym typeface="Calibri"/>
              </a:rPr>
              <a:t>fixed</a:t>
            </a:r>
            <a:r>
              <a:rPr lang="en-US" sz="1600">
                <a:solidFill>
                  <a:schemeClr val="lt1"/>
                </a:solidFill>
                <a:latin typeface="Calibri"/>
                <a:ea typeface="Calibri"/>
                <a:cs typeface="Calibri"/>
                <a:sym typeface="Calibri"/>
              </a:rPr>
              <a:t>: corresponde al posicionamiento fijo. El desplazamiento se establece de la misma forma que</a:t>
            </a:r>
            <a:endParaRPr sz="1600">
              <a:solidFill>
                <a:schemeClr val="lt1"/>
              </a:solidFill>
              <a:latin typeface="Calibri"/>
              <a:ea typeface="Calibri"/>
              <a:cs typeface="Calibri"/>
              <a:sym typeface="Calibri"/>
            </a:endParaRPr>
          </a:p>
          <a:p>
            <a:pPr indent="0" lvl="0" marL="228600" rtl="0" algn="l">
              <a:lnSpc>
                <a:spcPct val="100000"/>
              </a:lnSpc>
              <a:spcBef>
                <a:spcPts val="0"/>
              </a:spcBef>
              <a:spcAft>
                <a:spcPts val="0"/>
              </a:spcAft>
              <a:buNone/>
            </a:pPr>
            <a:r>
              <a:rPr lang="en-US" sz="1600">
                <a:solidFill>
                  <a:schemeClr val="lt1"/>
                </a:solidFill>
                <a:latin typeface="Calibri"/>
                <a:ea typeface="Calibri"/>
                <a:cs typeface="Calibri"/>
                <a:sym typeface="Calibri"/>
              </a:rPr>
              <a:t>en el posicionamiento absoluto, pero en este caso el elemento permanece </a:t>
            </a:r>
            <a:r>
              <a:rPr b="1" lang="en-US" sz="1600">
                <a:solidFill>
                  <a:schemeClr val="lt1"/>
                </a:solidFill>
                <a:latin typeface="Calibri"/>
                <a:ea typeface="Calibri"/>
                <a:cs typeface="Calibri"/>
                <a:sym typeface="Calibri"/>
              </a:rPr>
              <a:t>inamovible </a:t>
            </a:r>
            <a:r>
              <a:rPr lang="en-US" sz="1600">
                <a:solidFill>
                  <a:schemeClr val="lt1"/>
                </a:solidFill>
                <a:latin typeface="Calibri"/>
                <a:ea typeface="Calibri"/>
                <a:cs typeface="Calibri"/>
                <a:sym typeface="Calibri"/>
              </a:rPr>
              <a:t>en la pantalla.</a:t>
            </a:r>
            <a:endParaRPr sz="1600">
              <a:solidFill>
                <a:schemeClr val="lt1"/>
              </a:solidFill>
              <a:latin typeface="Calibri"/>
              <a:ea typeface="Calibri"/>
              <a:cs typeface="Calibri"/>
              <a:sym typeface="Calibri"/>
            </a:endParaRPr>
          </a:p>
          <a:p>
            <a:pPr indent="-101600" lvl="0" marL="228600" rtl="0" algn="l">
              <a:spcBef>
                <a:spcPts val="0"/>
              </a:spcBef>
              <a:spcAft>
                <a:spcPts val="0"/>
              </a:spcAft>
              <a:buClr>
                <a:schemeClr val="lt1"/>
              </a:buClr>
              <a:buSzPts val="1600"/>
              <a:buFont typeface="Calibri"/>
              <a:buChar char="•"/>
            </a:pPr>
            <a:r>
              <a:rPr b="1" lang="en-US" sz="1600">
                <a:solidFill>
                  <a:schemeClr val="lt1"/>
                </a:solidFill>
                <a:latin typeface="Calibri"/>
                <a:ea typeface="Calibri"/>
                <a:cs typeface="Calibri"/>
                <a:sym typeface="Calibri"/>
              </a:rPr>
              <a:t> </a:t>
            </a:r>
            <a:r>
              <a:rPr b="1" lang="en-US" sz="1600">
                <a:solidFill>
                  <a:schemeClr val="lt2"/>
                </a:solidFill>
                <a:latin typeface="Calibri"/>
                <a:ea typeface="Calibri"/>
                <a:cs typeface="Calibri"/>
                <a:sym typeface="Calibri"/>
              </a:rPr>
              <a:t>sticky</a:t>
            </a:r>
            <a:r>
              <a:rPr lang="en-US" sz="1600">
                <a:solidFill>
                  <a:schemeClr val="lt1"/>
                </a:solidFill>
                <a:latin typeface="Calibri"/>
                <a:ea typeface="Calibri"/>
                <a:cs typeface="Calibri"/>
                <a:sym typeface="Calibri"/>
              </a:rPr>
              <a:t>: es una mezcla entre relative y fixed. Incluido más reciente. Es el más útil para menús que nos acompañen. Se indica la posición en la que nos va a acompañar el elemento mediante top, left, bottom y right.</a:t>
            </a:r>
            <a:endParaRPr sz="16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6"/>
          <p:cNvSpPr txBox="1"/>
          <p:nvPr>
            <p:ph type="title"/>
          </p:nvPr>
        </p:nvSpPr>
        <p:spPr>
          <a:xfrm>
            <a:off x="1297500" y="525000"/>
            <a:ext cx="7038900" cy="6279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Posicionamiento</a:t>
            </a:r>
            <a:endParaRPr sz="4000"/>
          </a:p>
        </p:txBody>
      </p:sp>
      <p:sp>
        <p:nvSpPr>
          <p:cNvPr id="217" name="Google Shape;217;p26"/>
          <p:cNvSpPr txBox="1"/>
          <p:nvPr>
            <p:ph idx="1" type="body"/>
          </p:nvPr>
        </p:nvSpPr>
        <p:spPr>
          <a:xfrm>
            <a:off x="1633625" y="2090075"/>
            <a:ext cx="6702900" cy="3719700"/>
          </a:xfrm>
          <a:prstGeom prst="rect">
            <a:avLst/>
          </a:prstGeom>
          <a:noFill/>
          <a:ln>
            <a:noFill/>
          </a:ln>
        </p:spPr>
        <p:txBody>
          <a:bodyPr anchorCtr="0" anchor="t" bIns="0" lIns="0" spcFirstLastPara="1" rIns="0" wrap="square" tIns="13325">
            <a:spAutoFit/>
          </a:bodyPr>
          <a:lstStyle/>
          <a:p>
            <a:pPr indent="0" lvl="0" marL="12700" marR="15707" rtl="0" algn="just">
              <a:lnSpc>
                <a:spcPct val="100000"/>
              </a:lnSpc>
              <a:spcBef>
                <a:spcPts val="0"/>
              </a:spcBef>
              <a:spcAft>
                <a:spcPts val="0"/>
              </a:spcAft>
              <a:buNone/>
            </a:pPr>
            <a:r>
              <a:rPr lang="en-US" sz="2200">
                <a:latin typeface="Arial"/>
                <a:ea typeface="Arial"/>
                <a:cs typeface="Arial"/>
                <a:sym typeface="Arial"/>
              </a:rPr>
              <a:t>La propiedad position </a:t>
            </a:r>
            <a:r>
              <a:rPr lang="en-US" sz="2200" u="sng">
                <a:latin typeface="Arial"/>
                <a:ea typeface="Arial"/>
                <a:cs typeface="Arial"/>
                <a:sym typeface="Arial"/>
              </a:rPr>
              <a:t>no</a:t>
            </a:r>
            <a:r>
              <a:rPr lang="en-US" sz="2200">
                <a:latin typeface="Arial"/>
                <a:ea typeface="Arial"/>
                <a:cs typeface="Arial"/>
                <a:sym typeface="Arial"/>
              </a:rPr>
              <a:t> permite controlar el posicionamiento flotante, que se establece con otra propiedad llamada </a:t>
            </a:r>
            <a:r>
              <a:rPr lang="en-US" sz="2200">
                <a:solidFill>
                  <a:schemeClr val="lt2"/>
                </a:solidFill>
                <a:latin typeface="Arial"/>
                <a:ea typeface="Arial"/>
                <a:cs typeface="Arial"/>
                <a:sym typeface="Arial"/>
              </a:rPr>
              <a:t>float </a:t>
            </a:r>
            <a:r>
              <a:rPr lang="en-US" sz="2200">
                <a:latin typeface="Arial"/>
                <a:ea typeface="Arial"/>
                <a:cs typeface="Arial"/>
                <a:sym typeface="Arial"/>
              </a:rPr>
              <a:t>y que se explica más adelante.</a:t>
            </a:r>
            <a:endParaRPr sz="2200">
              <a:latin typeface="Arial"/>
              <a:ea typeface="Arial"/>
              <a:cs typeface="Arial"/>
              <a:sym typeface="Arial"/>
            </a:endParaRPr>
          </a:p>
          <a:p>
            <a:pPr indent="0" lvl="0" marL="12700" marR="360680" rtl="0" algn="just">
              <a:lnSpc>
                <a:spcPct val="100000"/>
              </a:lnSpc>
              <a:spcBef>
                <a:spcPts val="0"/>
              </a:spcBef>
              <a:spcAft>
                <a:spcPts val="0"/>
              </a:spcAft>
              <a:buNone/>
            </a:pPr>
            <a:r>
              <a:t/>
            </a:r>
            <a:endParaRPr sz="2200">
              <a:latin typeface="Arial"/>
              <a:ea typeface="Arial"/>
              <a:cs typeface="Arial"/>
              <a:sym typeface="Arial"/>
            </a:endParaRPr>
          </a:p>
          <a:p>
            <a:pPr indent="0" lvl="0" marL="12700" rtl="0" algn="just">
              <a:lnSpc>
                <a:spcPct val="100000"/>
              </a:lnSpc>
              <a:spcBef>
                <a:spcPts val="95"/>
              </a:spcBef>
              <a:spcAft>
                <a:spcPts val="0"/>
              </a:spcAft>
              <a:buNone/>
            </a:pPr>
            <a:r>
              <a:rPr lang="en-US" sz="2200">
                <a:latin typeface="Arial"/>
                <a:ea typeface="Arial"/>
                <a:cs typeface="Arial"/>
                <a:sym typeface="Arial"/>
              </a:rPr>
              <a:t>Además, la propiedad position sólo indica cómo se posiciona una caja, pero no la desplaza.</a:t>
            </a:r>
            <a:endParaRPr sz="2200">
              <a:latin typeface="Arial"/>
              <a:ea typeface="Arial"/>
              <a:cs typeface="Arial"/>
              <a:sym typeface="Arial"/>
            </a:endParaRPr>
          </a:p>
          <a:p>
            <a:pPr indent="0" lvl="0" marL="12700" rtl="0" algn="just">
              <a:lnSpc>
                <a:spcPct val="100000"/>
              </a:lnSpc>
              <a:spcBef>
                <a:spcPts val="1200"/>
              </a:spcBef>
              <a:spcAft>
                <a:spcPts val="0"/>
              </a:spcAft>
              <a:buNone/>
            </a:pPr>
            <a:r>
              <a:t/>
            </a:r>
            <a:endParaRPr sz="2200">
              <a:latin typeface="Arial"/>
              <a:ea typeface="Arial"/>
              <a:cs typeface="Arial"/>
              <a:sym typeface="Arial"/>
            </a:endParaRPr>
          </a:p>
          <a:p>
            <a:pPr indent="0" lvl="0" marL="12700" rtl="0" algn="just">
              <a:lnSpc>
                <a:spcPct val="100000"/>
              </a:lnSpc>
              <a:spcBef>
                <a:spcPts val="1200"/>
              </a:spcBef>
              <a:spcAft>
                <a:spcPts val="1200"/>
              </a:spcAft>
              <a:buNone/>
            </a:pPr>
            <a:r>
              <a:rPr lang="en-US" sz="2200">
                <a:latin typeface="Arial"/>
                <a:ea typeface="Arial"/>
                <a:cs typeface="Arial"/>
                <a:sym typeface="Arial"/>
              </a:rPr>
              <a:t>Para ello precisamos las antes citadas propiedades top, left, bottom y right.</a:t>
            </a:r>
            <a:endParaRPr sz="22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7"/>
          <p:cNvSpPr txBox="1"/>
          <p:nvPr/>
        </p:nvSpPr>
        <p:spPr>
          <a:xfrm>
            <a:off x="1633626" y="695249"/>
            <a:ext cx="6821700" cy="5433600"/>
          </a:xfrm>
          <a:prstGeom prst="rect">
            <a:avLst/>
          </a:prstGeom>
          <a:noFill/>
          <a:ln>
            <a:noFill/>
          </a:ln>
        </p:spPr>
        <p:txBody>
          <a:bodyPr anchorCtr="0" anchor="t" bIns="0" lIns="0" spcFirstLastPara="1" rIns="0" wrap="square" tIns="12050">
            <a:spAutoFit/>
          </a:bodyPr>
          <a:lstStyle/>
          <a:p>
            <a:pPr indent="-152399" lvl="0" marL="12700" marR="83185" rtl="0" algn="l">
              <a:lnSpc>
                <a:spcPct val="100000"/>
              </a:lnSpc>
              <a:spcBef>
                <a:spcPts val="0"/>
              </a:spcBef>
              <a:spcAft>
                <a:spcPts val="0"/>
              </a:spcAft>
              <a:buClr>
                <a:schemeClr val="lt1"/>
              </a:buClr>
              <a:buSzPts val="2400"/>
              <a:buChar char="▪"/>
            </a:pPr>
            <a:r>
              <a:rPr b="1" lang="en-US" sz="2500">
                <a:solidFill>
                  <a:schemeClr val="lt1"/>
                </a:solidFill>
                <a:latin typeface="Arial"/>
                <a:ea typeface="Arial"/>
                <a:cs typeface="Arial"/>
                <a:sym typeface="Arial"/>
              </a:rPr>
              <a:t>	</a:t>
            </a:r>
            <a:r>
              <a:rPr b="1" lang="en-US" sz="2500">
                <a:solidFill>
                  <a:schemeClr val="lt1"/>
                </a:solidFill>
              </a:rPr>
              <a:t>Posicionamiento normal o estático: se trata del posicionamiento que utilizan los navegadores.</a:t>
            </a:r>
            <a:endParaRPr b="1" sz="2500">
              <a:solidFill>
                <a:schemeClr val="lt1"/>
              </a:solidFill>
            </a:endParaRPr>
          </a:p>
          <a:p>
            <a:pPr indent="0" lvl="0" marL="457200" marR="83185" rtl="0" algn="l">
              <a:lnSpc>
                <a:spcPct val="100000"/>
              </a:lnSpc>
              <a:spcBef>
                <a:spcPts val="0"/>
              </a:spcBef>
              <a:spcAft>
                <a:spcPts val="0"/>
              </a:spcAft>
              <a:buNone/>
            </a:pPr>
            <a:r>
              <a:t/>
            </a:r>
            <a:endParaRPr b="1" sz="2500">
              <a:solidFill>
                <a:schemeClr val="lt1"/>
              </a:solidFill>
            </a:endParaRPr>
          </a:p>
          <a:p>
            <a:pPr indent="-152399" lvl="0" marL="12700" marR="83185" rtl="0" algn="l">
              <a:lnSpc>
                <a:spcPct val="100000"/>
              </a:lnSpc>
              <a:spcBef>
                <a:spcPts val="0"/>
              </a:spcBef>
              <a:spcAft>
                <a:spcPts val="0"/>
              </a:spcAft>
              <a:buClr>
                <a:schemeClr val="lt1"/>
              </a:buClr>
              <a:buSzPts val="2400"/>
              <a:buChar char="▪"/>
            </a:pPr>
            <a:r>
              <a:rPr b="1" lang="en-US" sz="2500">
                <a:solidFill>
                  <a:schemeClr val="lt1"/>
                </a:solidFill>
              </a:rPr>
              <a:t>	Posicionamiento relativo: consiste en posicionar una caja según el posicionamiento normal y después </a:t>
            </a:r>
            <a:r>
              <a:rPr b="1" lang="en-US" sz="2500">
                <a:solidFill>
                  <a:schemeClr val="lt1"/>
                </a:solidFill>
                <a:latin typeface="Arial"/>
                <a:ea typeface="Arial"/>
                <a:cs typeface="Arial"/>
                <a:sym typeface="Arial"/>
              </a:rPr>
              <a:t>desplazarla </a:t>
            </a:r>
            <a:r>
              <a:rPr lang="en-US" sz="2500">
                <a:solidFill>
                  <a:schemeClr val="lt1"/>
                </a:solidFill>
                <a:latin typeface="Arial"/>
                <a:ea typeface="Arial"/>
                <a:cs typeface="Arial"/>
                <a:sym typeface="Arial"/>
              </a:rPr>
              <a:t>respecto de su posición original.</a:t>
            </a:r>
            <a:endParaRPr sz="2500">
              <a:solidFill>
                <a:schemeClr val="lt1"/>
              </a:solidFill>
              <a:latin typeface="Arial"/>
              <a:ea typeface="Arial"/>
              <a:cs typeface="Arial"/>
              <a:sym typeface="Arial"/>
            </a:endParaRPr>
          </a:p>
          <a:p>
            <a:pPr indent="0" lvl="0" marL="0" rtl="0" algn="l">
              <a:lnSpc>
                <a:spcPct val="100000"/>
              </a:lnSpc>
              <a:spcBef>
                <a:spcPts val="265"/>
              </a:spcBef>
              <a:spcAft>
                <a:spcPts val="0"/>
              </a:spcAft>
              <a:buSzPts val="2800"/>
              <a:buFont typeface="Arial"/>
              <a:buNone/>
            </a:pPr>
            <a:r>
              <a:t/>
            </a:r>
            <a:endParaRPr sz="2500">
              <a:solidFill>
                <a:schemeClr val="lt1"/>
              </a:solidFill>
              <a:latin typeface="Arial"/>
              <a:ea typeface="Arial"/>
              <a:cs typeface="Arial"/>
              <a:sym typeface="Arial"/>
            </a:endParaRPr>
          </a:p>
          <a:p>
            <a:pPr indent="-152399" lvl="0" marL="12700" marR="333375" rtl="0" algn="l">
              <a:lnSpc>
                <a:spcPct val="100000"/>
              </a:lnSpc>
              <a:spcBef>
                <a:spcPts val="0"/>
              </a:spcBef>
              <a:spcAft>
                <a:spcPts val="0"/>
              </a:spcAft>
              <a:buClr>
                <a:schemeClr val="lt1"/>
              </a:buClr>
              <a:buSzPts val="2400"/>
              <a:buFont typeface="Arial"/>
              <a:buChar char="▪"/>
            </a:pPr>
            <a:r>
              <a:rPr b="1" lang="en-US" sz="2500">
                <a:solidFill>
                  <a:schemeClr val="lt1"/>
                </a:solidFill>
                <a:latin typeface="Arial"/>
                <a:ea typeface="Arial"/>
                <a:cs typeface="Arial"/>
                <a:sym typeface="Arial"/>
              </a:rPr>
              <a:t>	Posicionamiento absoluto: </a:t>
            </a:r>
            <a:r>
              <a:rPr lang="en-US" sz="2500">
                <a:solidFill>
                  <a:schemeClr val="lt1"/>
                </a:solidFill>
                <a:latin typeface="Arial"/>
                <a:ea typeface="Arial"/>
                <a:cs typeface="Arial"/>
                <a:sym typeface="Arial"/>
              </a:rPr>
              <a:t>la posición de una caja se establece de forma absoluta respecto de su elemento </a:t>
            </a:r>
            <a:r>
              <a:rPr b="1" lang="en-US" sz="2500">
                <a:solidFill>
                  <a:schemeClr val="lt1"/>
                </a:solidFill>
                <a:latin typeface="Arial"/>
                <a:ea typeface="Arial"/>
                <a:cs typeface="Arial"/>
                <a:sym typeface="Arial"/>
              </a:rPr>
              <a:t>contenedor </a:t>
            </a:r>
            <a:r>
              <a:rPr lang="en-US" sz="2500">
                <a:solidFill>
                  <a:schemeClr val="lt1"/>
                </a:solidFill>
                <a:latin typeface="Arial"/>
                <a:ea typeface="Arial"/>
                <a:cs typeface="Arial"/>
                <a:sym typeface="Arial"/>
              </a:rPr>
              <a:t>y el resto de elementos de la página </a:t>
            </a:r>
            <a:r>
              <a:rPr b="1" lang="en-US" sz="2500">
                <a:solidFill>
                  <a:schemeClr val="lt1"/>
                </a:solidFill>
                <a:latin typeface="Arial"/>
                <a:ea typeface="Arial"/>
                <a:cs typeface="Arial"/>
                <a:sym typeface="Arial"/>
              </a:rPr>
              <a:t>ignoran </a:t>
            </a:r>
            <a:r>
              <a:rPr lang="en-US" sz="2500">
                <a:solidFill>
                  <a:schemeClr val="lt1"/>
                </a:solidFill>
                <a:latin typeface="Arial"/>
                <a:ea typeface="Arial"/>
                <a:cs typeface="Arial"/>
                <a:sym typeface="Arial"/>
              </a:rPr>
              <a:t>la nueva posición del elemento.</a:t>
            </a:r>
            <a:endParaRPr sz="2500">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8"/>
          <p:cNvSpPr txBox="1"/>
          <p:nvPr/>
        </p:nvSpPr>
        <p:spPr>
          <a:xfrm>
            <a:off x="1633626" y="695249"/>
            <a:ext cx="6821700" cy="4629900"/>
          </a:xfrm>
          <a:prstGeom prst="rect">
            <a:avLst/>
          </a:prstGeom>
          <a:noFill/>
          <a:ln>
            <a:noFill/>
          </a:ln>
        </p:spPr>
        <p:txBody>
          <a:bodyPr anchorCtr="0" anchor="t" bIns="0" lIns="0" spcFirstLastPara="1" rIns="0" wrap="square" tIns="12050">
            <a:spAutoFit/>
          </a:bodyPr>
          <a:lstStyle/>
          <a:p>
            <a:pPr indent="-127000" lvl="0" marL="12700" marR="83185" rtl="0" algn="just">
              <a:lnSpc>
                <a:spcPct val="100000"/>
              </a:lnSpc>
              <a:spcBef>
                <a:spcPts val="0"/>
              </a:spcBef>
              <a:spcAft>
                <a:spcPts val="0"/>
              </a:spcAft>
              <a:buClr>
                <a:schemeClr val="lt1"/>
              </a:buClr>
              <a:buSzPts val="2000"/>
              <a:buChar char="▪"/>
            </a:pPr>
            <a:r>
              <a:rPr b="1" lang="en-US" sz="2000">
                <a:solidFill>
                  <a:srgbClr val="FF0000"/>
                </a:solidFill>
              </a:rPr>
              <a:t>	</a:t>
            </a:r>
            <a:r>
              <a:rPr b="1" lang="en-US" sz="2000">
                <a:solidFill>
                  <a:schemeClr val="lt1"/>
                </a:solidFill>
              </a:rPr>
              <a:t>Posicionamiento fijo: variante del	posicionamiento absoluto que convierte una caja	en un elemento inamovible, de forma que su	posición en la pantalla siempre es la misma	independientemente del resto de elementos e		independientemente de si el usuario sube o baja la	página en la ventana del navegador.</a:t>
            </a:r>
            <a:endParaRPr b="1" sz="2000">
              <a:solidFill>
                <a:schemeClr val="lt1"/>
              </a:solidFill>
            </a:endParaRPr>
          </a:p>
          <a:p>
            <a:pPr indent="0" lvl="0" marL="457200" marR="83185" rtl="0" algn="just">
              <a:lnSpc>
                <a:spcPct val="100000"/>
              </a:lnSpc>
              <a:spcBef>
                <a:spcPts val="0"/>
              </a:spcBef>
              <a:spcAft>
                <a:spcPts val="0"/>
              </a:spcAft>
              <a:buNone/>
            </a:pPr>
            <a:r>
              <a:t/>
            </a:r>
            <a:endParaRPr b="1" sz="2000">
              <a:solidFill>
                <a:schemeClr val="lt1"/>
              </a:solidFill>
            </a:endParaRPr>
          </a:p>
          <a:p>
            <a:pPr indent="-127000" lvl="0" marL="12700" marR="83185" rtl="0" algn="just">
              <a:lnSpc>
                <a:spcPct val="100000"/>
              </a:lnSpc>
              <a:spcBef>
                <a:spcPts val="0"/>
              </a:spcBef>
              <a:spcAft>
                <a:spcPts val="0"/>
              </a:spcAft>
              <a:buClr>
                <a:schemeClr val="lt1"/>
              </a:buClr>
              <a:buSzPts val="2000"/>
              <a:buChar char="▪"/>
            </a:pPr>
            <a:r>
              <a:rPr b="1" lang="en-US" sz="2000">
                <a:solidFill>
                  <a:schemeClr val="lt1"/>
                </a:solidFill>
              </a:rPr>
              <a:t>	Posicionamiento pegajoso: Se comporta como un elemento posicionado de manera relativa hasta que llega a la posición que se le indica y a partir de ahí se comporta como un elemento con posicionamiento fijo.</a:t>
            </a:r>
            <a:endParaRPr b="1" sz="2000">
              <a:solidFill>
                <a:schemeClr val="lt1"/>
              </a:solidFill>
            </a:endParaRPr>
          </a:p>
          <a:p>
            <a:pPr indent="0" lvl="0" marL="457200" marR="83185" rtl="0" algn="just">
              <a:lnSpc>
                <a:spcPct val="100000"/>
              </a:lnSpc>
              <a:spcBef>
                <a:spcPts val="0"/>
              </a:spcBef>
              <a:spcAft>
                <a:spcPts val="0"/>
              </a:spcAft>
              <a:buNone/>
            </a:pPr>
            <a:r>
              <a:t/>
            </a:r>
            <a:endParaRPr b="1" sz="2000">
              <a:solidFill>
                <a:schemeClr val="lt1"/>
              </a:solidFill>
            </a:endParaRPr>
          </a:p>
          <a:p>
            <a:pPr indent="-127000" lvl="0" marL="12700" marR="83185" rtl="0" algn="just">
              <a:lnSpc>
                <a:spcPct val="100000"/>
              </a:lnSpc>
              <a:spcBef>
                <a:spcPts val="0"/>
              </a:spcBef>
              <a:spcAft>
                <a:spcPts val="0"/>
              </a:spcAft>
              <a:buClr>
                <a:schemeClr val="lt1"/>
              </a:buClr>
              <a:buSzPts val="2000"/>
              <a:buChar char="▪"/>
            </a:pPr>
            <a:r>
              <a:rPr b="1" lang="en-US" sz="2000">
                <a:solidFill>
                  <a:schemeClr val="lt1"/>
                </a:solidFill>
              </a:rPr>
              <a:t>	Posicionamiento flotante: desplaza las cajas todo lo posible hacia la izquierda o hacia la derecha de la línea en la que se encuentran.</a:t>
            </a:r>
            <a:endParaRPr b="1" sz="20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9"/>
          <p:cNvSpPr txBox="1"/>
          <p:nvPr>
            <p:ph type="title"/>
          </p:nvPr>
        </p:nvSpPr>
        <p:spPr>
          <a:xfrm>
            <a:off x="1297500" y="525000"/>
            <a:ext cx="7038900" cy="22293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0" lang="en-US" sz="2400">
                <a:latin typeface="Arial"/>
                <a:ea typeface="Arial"/>
                <a:cs typeface="Arial"/>
                <a:sym typeface="Arial"/>
              </a:rPr>
              <a:t>Normalmente, cuando se posiciona una caja también es necesario desplazarla respecto de su posición original o respecto de otro origen de coordenadas. CSS define cuatro propiedades para controlar el desplazamiento de las cajas posicionadas:</a:t>
            </a:r>
            <a:endParaRPr sz="2400">
              <a:latin typeface="Arial"/>
              <a:ea typeface="Arial"/>
              <a:cs typeface="Arial"/>
              <a:sym typeface="Arial"/>
            </a:endParaRPr>
          </a:p>
        </p:txBody>
      </p:sp>
      <p:sp>
        <p:nvSpPr>
          <p:cNvPr id="233" name="Google Shape;233;p29"/>
          <p:cNvSpPr txBox="1"/>
          <p:nvPr/>
        </p:nvSpPr>
        <p:spPr>
          <a:xfrm>
            <a:off x="1297496" y="2999300"/>
            <a:ext cx="7038900" cy="35037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en-US" sz="2000">
                <a:solidFill>
                  <a:schemeClr val="lt2"/>
                </a:solidFill>
                <a:latin typeface="Arial"/>
                <a:ea typeface="Arial"/>
                <a:cs typeface="Arial"/>
                <a:sym typeface="Arial"/>
              </a:rPr>
              <a:t>Top </a:t>
            </a:r>
            <a:r>
              <a:rPr lang="en-US" sz="2000">
                <a:solidFill>
                  <a:schemeClr val="lt1"/>
                </a:solidFill>
                <a:latin typeface="Arial"/>
                <a:ea typeface="Arial"/>
                <a:cs typeface="Arial"/>
                <a:sym typeface="Arial"/>
              </a:rPr>
              <a:t>Desplazamiento superior</a:t>
            </a:r>
            <a:endParaRPr sz="2000">
              <a:solidFill>
                <a:schemeClr val="lt1"/>
              </a:solidFill>
              <a:latin typeface="Arial"/>
              <a:ea typeface="Arial"/>
              <a:cs typeface="Arial"/>
              <a:sym typeface="Arial"/>
            </a:endParaRPr>
          </a:p>
          <a:p>
            <a:pPr indent="0" lvl="0" marL="0" rtl="0" algn="l">
              <a:lnSpc>
                <a:spcPct val="100000"/>
              </a:lnSpc>
              <a:spcBef>
                <a:spcPts val="160"/>
              </a:spcBef>
              <a:spcAft>
                <a:spcPts val="0"/>
              </a:spcAft>
              <a:buNone/>
            </a:pPr>
            <a:r>
              <a:t/>
            </a:r>
            <a:endParaRPr sz="2000">
              <a:solidFill>
                <a:schemeClr val="lt1"/>
              </a:solidFill>
              <a:latin typeface="Arial"/>
              <a:ea typeface="Arial"/>
              <a:cs typeface="Arial"/>
              <a:sym typeface="Arial"/>
            </a:endParaRPr>
          </a:p>
          <a:p>
            <a:pPr indent="0" lvl="0" marL="12700" rtl="0" algn="l">
              <a:lnSpc>
                <a:spcPct val="100000"/>
              </a:lnSpc>
              <a:spcBef>
                <a:spcPts val="0"/>
              </a:spcBef>
              <a:spcAft>
                <a:spcPts val="0"/>
              </a:spcAft>
              <a:buNone/>
            </a:pPr>
            <a:r>
              <a:rPr b="1" lang="en-US" sz="2000">
                <a:solidFill>
                  <a:schemeClr val="lt2"/>
                </a:solidFill>
              </a:rPr>
              <a:t>Right</a:t>
            </a:r>
            <a:r>
              <a:rPr b="1" lang="en-US" sz="2000">
                <a:solidFill>
                  <a:schemeClr val="lt1"/>
                </a:solidFill>
                <a:latin typeface="Arial"/>
                <a:ea typeface="Arial"/>
                <a:cs typeface="Arial"/>
                <a:sym typeface="Arial"/>
              </a:rPr>
              <a:t> </a:t>
            </a:r>
            <a:r>
              <a:rPr lang="en-US" sz="2000">
                <a:solidFill>
                  <a:schemeClr val="lt1"/>
                </a:solidFill>
                <a:latin typeface="Arial"/>
                <a:ea typeface="Arial"/>
                <a:cs typeface="Arial"/>
                <a:sym typeface="Arial"/>
              </a:rPr>
              <a:t>Desplazamiento lateral derecho</a:t>
            </a:r>
            <a:endParaRPr sz="2000">
              <a:solidFill>
                <a:schemeClr val="lt1"/>
              </a:solidFill>
              <a:latin typeface="Arial"/>
              <a:ea typeface="Arial"/>
              <a:cs typeface="Arial"/>
              <a:sym typeface="Arial"/>
            </a:endParaRPr>
          </a:p>
          <a:p>
            <a:pPr indent="0" lvl="0" marL="0" rtl="0" algn="l">
              <a:lnSpc>
                <a:spcPct val="100000"/>
              </a:lnSpc>
              <a:spcBef>
                <a:spcPts val="160"/>
              </a:spcBef>
              <a:spcAft>
                <a:spcPts val="0"/>
              </a:spcAft>
              <a:buNone/>
            </a:pPr>
            <a:r>
              <a:t/>
            </a:r>
            <a:endParaRPr sz="2000">
              <a:solidFill>
                <a:schemeClr val="lt1"/>
              </a:solidFill>
              <a:latin typeface="Arial"/>
              <a:ea typeface="Arial"/>
              <a:cs typeface="Arial"/>
              <a:sym typeface="Arial"/>
            </a:endParaRPr>
          </a:p>
          <a:p>
            <a:pPr indent="0" lvl="0" marL="12700" rtl="0" algn="l">
              <a:lnSpc>
                <a:spcPct val="100000"/>
              </a:lnSpc>
              <a:spcBef>
                <a:spcPts val="0"/>
              </a:spcBef>
              <a:spcAft>
                <a:spcPts val="0"/>
              </a:spcAft>
              <a:buNone/>
            </a:pPr>
            <a:r>
              <a:rPr b="1" lang="en-US" sz="2000">
                <a:solidFill>
                  <a:schemeClr val="lt2"/>
                </a:solidFill>
              </a:rPr>
              <a:t>Bottom</a:t>
            </a:r>
            <a:r>
              <a:rPr b="1" lang="en-US" sz="2000">
                <a:solidFill>
                  <a:schemeClr val="lt1"/>
                </a:solidFill>
                <a:latin typeface="Arial"/>
                <a:ea typeface="Arial"/>
                <a:cs typeface="Arial"/>
                <a:sym typeface="Arial"/>
              </a:rPr>
              <a:t> </a:t>
            </a:r>
            <a:r>
              <a:rPr lang="en-US" sz="2000">
                <a:solidFill>
                  <a:schemeClr val="lt1"/>
                </a:solidFill>
                <a:latin typeface="Arial"/>
                <a:ea typeface="Arial"/>
                <a:cs typeface="Arial"/>
                <a:sym typeface="Arial"/>
              </a:rPr>
              <a:t>Desplazamiento inferior</a:t>
            </a:r>
            <a:endParaRPr sz="2000">
              <a:solidFill>
                <a:schemeClr val="lt1"/>
              </a:solidFill>
              <a:latin typeface="Arial"/>
              <a:ea typeface="Arial"/>
              <a:cs typeface="Arial"/>
              <a:sym typeface="Arial"/>
            </a:endParaRPr>
          </a:p>
          <a:p>
            <a:pPr indent="0" lvl="0" marL="0" rtl="0" algn="l">
              <a:lnSpc>
                <a:spcPct val="100000"/>
              </a:lnSpc>
              <a:spcBef>
                <a:spcPts val="165"/>
              </a:spcBef>
              <a:spcAft>
                <a:spcPts val="0"/>
              </a:spcAft>
              <a:buNone/>
            </a:pPr>
            <a:r>
              <a:t/>
            </a:r>
            <a:endParaRPr sz="2000">
              <a:solidFill>
                <a:schemeClr val="lt1"/>
              </a:solidFill>
              <a:latin typeface="Arial"/>
              <a:ea typeface="Arial"/>
              <a:cs typeface="Arial"/>
              <a:sym typeface="Arial"/>
            </a:endParaRPr>
          </a:p>
          <a:p>
            <a:pPr indent="0" lvl="0" marL="12700" rtl="0" algn="l">
              <a:lnSpc>
                <a:spcPct val="100000"/>
              </a:lnSpc>
              <a:spcBef>
                <a:spcPts val="0"/>
              </a:spcBef>
              <a:spcAft>
                <a:spcPts val="0"/>
              </a:spcAft>
              <a:buNone/>
            </a:pPr>
            <a:r>
              <a:rPr b="1" lang="en-US" sz="2000">
                <a:solidFill>
                  <a:schemeClr val="lt2"/>
                </a:solidFill>
              </a:rPr>
              <a:t>Left</a:t>
            </a:r>
            <a:r>
              <a:rPr b="1" lang="en-US" sz="2000">
                <a:solidFill>
                  <a:schemeClr val="lt1"/>
                </a:solidFill>
                <a:latin typeface="Arial"/>
                <a:ea typeface="Arial"/>
                <a:cs typeface="Arial"/>
                <a:sym typeface="Arial"/>
              </a:rPr>
              <a:t> </a:t>
            </a:r>
            <a:r>
              <a:rPr lang="en-US" sz="2000">
                <a:solidFill>
                  <a:schemeClr val="lt1"/>
                </a:solidFill>
                <a:latin typeface="Arial"/>
                <a:ea typeface="Arial"/>
                <a:cs typeface="Arial"/>
                <a:sym typeface="Arial"/>
              </a:rPr>
              <a:t>Desplazamiento lateral izquierdo</a:t>
            </a:r>
            <a:endParaRPr sz="2000">
              <a:solidFill>
                <a:schemeClr val="lt1"/>
              </a:solidFill>
              <a:latin typeface="Arial"/>
              <a:ea typeface="Arial"/>
              <a:cs typeface="Arial"/>
              <a:sym typeface="Arial"/>
            </a:endParaRPr>
          </a:p>
          <a:p>
            <a:pPr indent="0" lvl="0" marL="0" rtl="0" algn="l">
              <a:lnSpc>
                <a:spcPct val="100000"/>
              </a:lnSpc>
              <a:spcBef>
                <a:spcPts val="160"/>
              </a:spcBef>
              <a:spcAft>
                <a:spcPts val="0"/>
              </a:spcAft>
              <a:buNone/>
            </a:pPr>
            <a:r>
              <a:t/>
            </a:r>
            <a:endParaRPr sz="2000">
              <a:solidFill>
                <a:schemeClr val="lt1"/>
              </a:solidFill>
              <a:latin typeface="Arial"/>
              <a:ea typeface="Arial"/>
              <a:cs typeface="Arial"/>
              <a:sym typeface="Arial"/>
            </a:endParaRPr>
          </a:p>
          <a:p>
            <a:pPr indent="0" lvl="0" marL="12700" rtl="0" algn="l">
              <a:lnSpc>
                <a:spcPct val="100000"/>
              </a:lnSpc>
              <a:spcBef>
                <a:spcPts val="0"/>
              </a:spcBef>
              <a:spcAft>
                <a:spcPts val="0"/>
              </a:spcAft>
              <a:buNone/>
            </a:pPr>
            <a:r>
              <a:rPr b="1" lang="en-US" sz="2000">
                <a:solidFill>
                  <a:schemeClr val="lt1"/>
                </a:solidFill>
                <a:latin typeface="Arial"/>
                <a:ea typeface="Arial"/>
                <a:cs typeface="Arial"/>
                <a:sym typeface="Arial"/>
              </a:rPr>
              <a:t>Se aplica a	</a:t>
            </a:r>
            <a:r>
              <a:rPr lang="en-US" sz="2000">
                <a:solidFill>
                  <a:schemeClr val="lt1"/>
                </a:solidFill>
                <a:latin typeface="Arial"/>
                <a:ea typeface="Arial"/>
                <a:cs typeface="Arial"/>
                <a:sym typeface="Arial"/>
              </a:rPr>
              <a:t>Todos los elementos posicionados</a:t>
            </a:r>
            <a:endParaRPr sz="2000">
              <a:solidFill>
                <a:schemeClr val="lt1"/>
              </a:solidFill>
              <a:latin typeface="Arial"/>
              <a:ea typeface="Arial"/>
              <a:cs typeface="Arial"/>
              <a:sym typeface="Arial"/>
            </a:endParaRPr>
          </a:p>
          <a:p>
            <a:pPr indent="0" lvl="0" marL="0" rtl="0" algn="l">
              <a:lnSpc>
                <a:spcPct val="100000"/>
              </a:lnSpc>
              <a:spcBef>
                <a:spcPts val="160"/>
              </a:spcBef>
              <a:spcAft>
                <a:spcPts val="0"/>
              </a:spcAft>
              <a:buNone/>
            </a:pPr>
            <a:r>
              <a:t/>
            </a:r>
            <a:endParaRPr sz="2000">
              <a:solidFill>
                <a:schemeClr val="lt1"/>
              </a:solidFill>
              <a:latin typeface="Arial"/>
              <a:ea typeface="Arial"/>
              <a:cs typeface="Arial"/>
              <a:sym typeface="Arial"/>
            </a:endParaRPr>
          </a:p>
          <a:p>
            <a:pPr indent="0" lvl="0" marL="12700" rtl="0" algn="l">
              <a:lnSpc>
                <a:spcPct val="100000"/>
              </a:lnSpc>
              <a:spcBef>
                <a:spcPts val="5"/>
              </a:spcBef>
              <a:spcAft>
                <a:spcPts val="0"/>
              </a:spcAft>
              <a:buNone/>
            </a:pPr>
            <a:r>
              <a:rPr b="1" lang="en-US" sz="2000">
                <a:solidFill>
                  <a:schemeClr val="lt1"/>
                </a:solidFill>
                <a:latin typeface="Arial"/>
                <a:ea typeface="Arial"/>
                <a:cs typeface="Arial"/>
                <a:sym typeface="Arial"/>
              </a:rPr>
              <a:t>Valor inicial	</a:t>
            </a:r>
            <a:r>
              <a:rPr lang="en-US" sz="2000">
                <a:solidFill>
                  <a:schemeClr val="lt1"/>
                </a:solidFill>
                <a:latin typeface="Arial"/>
                <a:ea typeface="Arial"/>
                <a:cs typeface="Arial"/>
                <a:sym typeface="Arial"/>
              </a:rPr>
              <a:t>auto</a:t>
            </a:r>
            <a:endParaRPr sz="2000">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0"/>
          <p:cNvSpPr txBox="1"/>
          <p:nvPr>
            <p:ph type="title"/>
          </p:nvPr>
        </p:nvSpPr>
        <p:spPr>
          <a:xfrm>
            <a:off x="1297500" y="525000"/>
            <a:ext cx="7038900" cy="6279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Posicionamiento normal</a:t>
            </a:r>
            <a:endParaRPr sz="4000"/>
          </a:p>
        </p:txBody>
      </p:sp>
      <p:sp>
        <p:nvSpPr>
          <p:cNvPr id="239" name="Google Shape;239;p30"/>
          <p:cNvSpPr txBox="1"/>
          <p:nvPr/>
        </p:nvSpPr>
        <p:spPr>
          <a:xfrm>
            <a:off x="765875" y="1740600"/>
            <a:ext cx="7946700" cy="4292700"/>
          </a:xfrm>
          <a:prstGeom prst="rect">
            <a:avLst/>
          </a:prstGeom>
          <a:noFill/>
          <a:ln>
            <a:noFill/>
          </a:ln>
        </p:spPr>
        <p:txBody>
          <a:bodyPr anchorCtr="0" anchor="t" bIns="0" lIns="0" spcFirstLastPara="1" rIns="0" wrap="square" tIns="12700">
            <a:spAutoFit/>
          </a:bodyPr>
          <a:lstStyle/>
          <a:p>
            <a:pPr indent="-146050" lvl="0" marL="12700" marR="13335" rtl="0" algn="just">
              <a:lnSpc>
                <a:spcPct val="100000"/>
              </a:lnSpc>
              <a:spcBef>
                <a:spcPts val="0"/>
              </a:spcBef>
              <a:spcAft>
                <a:spcPts val="0"/>
              </a:spcAft>
              <a:buClr>
                <a:schemeClr val="lt1"/>
              </a:buClr>
              <a:buSzPts val="2300"/>
              <a:buFont typeface="Noto Sans Symbols"/>
              <a:buChar char="●"/>
            </a:pPr>
            <a:r>
              <a:rPr lang="en-US" sz="2300">
                <a:solidFill>
                  <a:schemeClr val="lt1"/>
                </a:solidFill>
                <a:latin typeface="Arial"/>
                <a:ea typeface="Arial"/>
                <a:cs typeface="Arial"/>
                <a:sym typeface="Arial"/>
              </a:rPr>
              <a:t>	El	posicionamiento	normal	 o</a:t>
            </a:r>
            <a:r>
              <a:rPr lang="en-US" sz="2300">
                <a:solidFill>
                  <a:schemeClr val="lt1"/>
                </a:solidFill>
              </a:rPr>
              <a:t> </a:t>
            </a:r>
            <a:r>
              <a:rPr lang="en-US" sz="2300">
                <a:solidFill>
                  <a:schemeClr val="lt1"/>
                </a:solidFill>
                <a:latin typeface="Arial"/>
                <a:ea typeface="Arial"/>
                <a:cs typeface="Arial"/>
                <a:sym typeface="Arial"/>
              </a:rPr>
              <a:t>estático	es	el</a:t>
            </a:r>
            <a:r>
              <a:rPr lang="en-US" sz="2300">
                <a:solidFill>
                  <a:schemeClr val="lt1"/>
                </a:solidFill>
              </a:rPr>
              <a:t> </a:t>
            </a:r>
            <a:r>
              <a:rPr lang="en-US" sz="2300">
                <a:solidFill>
                  <a:schemeClr val="lt1"/>
                </a:solidFill>
                <a:latin typeface="Arial"/>
                <a:ea typeface="Arial"/>
                <a:cs typeface="Arial"/>
                <a:sym typeface="Arial"/>
              </a:rPr>
              <a:t>modelo</a:t>
            </a:r>
            <a:r>
              <a:rPr lang="en-US" sz="2300">
                <a:solidFill>
                  <a:schemeClr val="lt1"/>
                </a:solidFill>
              </a:rPr>
              <a:t> </a:t>
            </a:r>
            <a:r>
              <a:rPr lang="en-US" sz="2300">
                <a:solidFill>
                  <a:schemeClr val="lt1"/>
                </a:solidFill>
                <a:latin typeface="Arial"/>
                <a:ea typeface="Arial"/>
                <a:cs typeface="Arial"/>
                <a:sym typeface="Arial"/>
              </a:rPr>
              <a:t>que utilizan</a:t>
            </a:r>
            <a:r>
              <a:rPr lang="en-US" sz="2300">
                <a:solidFill>
                  <a:schemeClr val="lt1"/>
                </a:solidFill>
              </a:rPr>
              <a:t> </a:t>
            </a:r>
            <a:r>
              <a:rPr lang="en-US" sz="2300">
                <a:solidFill>
                  <a:schemeClr val="lt1"/>
                </a:solidFill>
                <a:latin typeface="Arial"/>
                <a:ea typeface="Arial"/>
                <a:cs typeface="Arial"/>
                <a:sym typeface="Arial"/>
              </a:rPr>
              <a:t>por</a:t>
            </a:r>
            <a:r>
              <a:rPr lang="en-US" sz="2300">
                <a:solidFill>
                  <a:schemeClr val="lt1"/>
                </a:solidFill>
              </a:rPr>
              <a:t> </a:t>
            </a:r>
            <a:r>
              <a:rPr lang="en-US" sz="2300">
                <a:solidFill>
                  <a:schemeClr val="lt1"/>
                </a:solidFill>
                <a:latin typeface="Arial"/>
                <a:ea typeface="Arial"/>
                <a:cs typeface="Arial"/>
                <a:sym typeface="Arial"/>
              </a:rPr>
              <a:t>defecto</a:t>
            </a:r>
            <a:r>
              <a:rPr lang="en-US" sz="2300">
                <a:solidFill>
                  <a:schemeClr val="lt1"/>
                </a:solidFill>
              </a:rPr>
              <a:t> </a:t>
            </a:r>
            <a:r>
              <a:rPr lang="en-US" sz="2300">
                <a:solidFill>
                  <a:schemeClr val="lt1"/>
                </a:solidFill>
                <a:latin typeface="Arial"/>
                <a:ea typeface="Arial"/>
                <a:cs typeface="Arial"/>
                <a:sym typeface="Arial"/>
              </a:rPr>
              <a:t>los</a:t>
            </a:r>
            <a:r>
              <a:rPr lang="en-US" sz="2300">
                <a:solidFill>
                  <a:schemeClr val="lt1"/>
                </a:solidFill>
              </a:rPr>
              <a:t> </a:t>
            </a:r>
            <a:r>
              <a:rPr lang="en-US" sz="2300">
                <a:solidFill>
                  <a:schemeClr val="lt1"/>
                </a:solidFill>
                <a:latin typeface="Arial"/>
                <a:ea typeface="Arial"/>
                <a:cs typeface="Arial"/>
                <a:sym typeface="Arial"/>
              </a:rPr>
              <a:t>navegadores</a:t>
            </a:r>
            <a:r>
              <a:rPr lang="en-US" sz="2300">
                <a:solidFill>
                  <a:schemeClr val="lt1"/>
                </a:solidFill>
              </a:rPr>
              <a:t> </a:t>
            </a:r>
            <a:r>
              <a:rPr lang="en-US" sz="2300">
                <a:solidFill>
                  <a:schemeClr val="lt1"/>
                </a:solidFill>
                <a:latin typeface="Arial"/>
                <a:ea typeface="Arial"/>
                <a:cs typeface="Arial"/>
                <a:sym typeface="Arial"/>
              </a:rPr>
              <a:t>para</a:t>
            </a:r>
            <a:r>
              <a:rPr lang="en-US" sz="2300">
                <a:solidFill>
                  <a:schemeClr val="lt1"/>
                </a:solidFill>
              </a:rPr>
              <a:t> </a:t>
            </a:r>
            <a:r>
              <a:rPr lang="en-US" sz="2300">
                <a:solidFill>
                  <a:schemeClr val="lt1"/>
                </a:solidFill>
                <a:latin typeface="Arial"/>
                <a:ea typeface="Arial"/>
                <a:cs typeface="Arial"/>
                <a:sym typeface="Arial"/>
              </a:rPr>
              <a:t>mostrar</a:t>
            </a:r>
            <a:r>
              <a:rPr lang="en-US" sz="2300">
                <a:solidFill>
                  <a:schemeClr val="lt1"/>
                </a:solidFill>
              </a:rPr>
              <a:t> </a:t>
            </a:r>
            <a:r>
              <a:rPr lang="en-US" sz="2300">
                <a:solidFill>
                  <a:schemeClr val="lt1"/>
                </a:solidFill>
                <a:latin typeface="Arial"/>
                <a:ea typeface="Arial"/>
                <a:cs typeface="Arial"/>
                <a:sym typeface="Arial"/>
              </a:rPr>
              <a:t>los elementos de las páginas.	En este modelo,</a:t>
            </a:r>
            <a:r>
              <a:rPr lang="en-US" sz="2300">
                <a:solidFill>
                  <a:schemeClr val="lt1"/>
                </a:solidFill>
              </a:rPr>
              <a:t> </a:t>
            </a:r>
            <a:r>
              <a:rPr lang="en-US" sz="2300">
                <a:solidFill>
                  <a:schemeClr val="lt1"/>
                </a:solidFill>
                <a:latin typeface="Arial"/>
                <a:ea typeface="Arial"/>
                <a:cs typeface="Arial"/>
                <a:sym typeface="Arial"/>
              </a:rPr>
              <a:t>ninguna caja se desplaza respecto de su posición original,</a:t>
            </a:r>
            <a:r>
              <a:rPr lang="en-US" sz="2300">
                <a:solidFill>
                  <a:schemeClr val="lt1"/>
                </a:solidFill>
              </a:rPr>
              <a:t> </a:t>
            </a:r>
            <a:r>
              <a:rPr lang="en-US" sz="2300">
                <a:solidFill>
                  <a:schemeClr val="lt1"/>
                </a:solidFill>
                <a:latin typeface="Arial"/>
                <a:ea typeface="Arial"/>
                <a:cs typeface="Arial"/>
                <a:sym typeface="Arial"/>
              </a:rPr>
              <a:t>por lo que </a:t>
            </a:r>
            <a:r>
              <a:rPr lang="en-US" sz="2300">
                <a:solidFill>
                  <a:schemeClr val="lt2"/>
                </a:solidFill>
                <a:latin typeface="Arial"/>
                <a:ea typeface="Arial"/>
                <a:cs typeface="Arial"/>
                <a:sym typeface="Arial"/>
              </a:rPr>
              <a:t>sólo se tiene en cuenta si el elemento es de</a:t>
            </a:r>
            <a:r>
              <a:rPr lang="en-US" sz="2300">
                <a:solidFill>
                  <a:schemeClr val="lt2"/>
                </a:solidFill>
              </a:rPr>
              <a:t> </a:t>
            </a:r>
            <a:r>
              <a:rPr lang="en-US" sz="2300">
                <a:solidFill>
                  <a:schemeClr val="lt2"/>
                </a:solidFill>
                <a:latin typeface="Arial"/>
                <a:ea typeface="Arial"/>
                <a:cs typeface="Arial"/>
                <a:sym typeface="Arial"/>
              </a:rPr>
              <a:t>bloque o en línea</a:t>
            </a:r>
            <a:r>
              <a:rPr lang="en-US" sz="2300">
                <a:solidFill>
                  <a:schemeClr val="lt1"/>
                </a:solidFill>
                <a:latin typeface="Arial"/>
                <a:ea typeface="Arial"/>
                <a:cs typeface="Arial"/>
                <a:sym typeface="Arial"/>
              </a:rPr>
              <a:t>.</a:t>
            </a:r>
            <a:endParaRPr sz="2300">
              <a:solidFill>
                <a:schemeClr val="lt1"/>
              </a:solidFill>
              <a:latin typeface="Arial"/>
              <a:ea typeface="Arial"/>
              <a:cs typeface="Arial"/>
              <a:sym typeface="Arial"/>
            </a:endParaRPr>
          </a:p>
          <a:p>
            <a:pPr indent="0" lvl="0" marL="12700" rtl="0" algn="just">
              <a:lnSpc>
                <a:spcPct val="100000"/>
              </a:lnSpc>
              <a:spcBef>
                <a:spcPts val="5"/>
              </a:spcBef>
              <a:spcAft>
                <a:spcPts val="0"/>
              </a:spcAft>
              <a:buNone/>
            </a:pPr>
            <a:r>
              <a:rPr lang="en-US" sz="2300">
                <a:solidFill>
                  <a:schemeClr val="lt1"/>
                </a:solidFill>
                <a:latin typeface="Arial"/>
                <a:ea typeface="Arial"/>
                <a:cs typeface="Arial"/>
                <a:sym typeface="Arial"/>
              </a:rPr>
              <a:t>Los</a:t>
            </a:r>
            <a:r>
              <a:rPr lang="en-US" sz="2300">
                <a:solidFill>
                  <a:schemeClr val="lt1"/>
                </a:solidFill>
              </a:rPr>
              <a:t> </a:t>
            </a:r>
            <a:r>
              <a:rPr lang="en-US" sz="2300">
                <a:solidFill>
                  <a:schemeClr val="lt1"/>
                </a:solidFill>
                <a:latin typeface="Arial"/>
                <a:ea typeface="Arial"/>
                <a:cs typeface="Arial"/>
                <a:sym typeface="Arial"/>
              </a:rPr>
              <a:t>elementos</a:t>
            </a:r>
            <a:r>
              <a:rPr lang="en-US" sz="2300">
                <a:solidFill>
                  <a:schemeClr val="lt1"/>
                </a:solidFill>
              </a:rPr>
              <a:t> </a:t>
            </a:r>
            <a:r>
              <a:rPr lang="en-US" sz="2300">
                <a:solidFill>
                  <a:schemeClr val="lt1"/>
                </a:solidFill>
                <a:latin typeface="Arial"/>
                <a:ea typeface="Arial"/>
                <a:cs typeface="Arial"/>
                <a:sym typeface="Arial"/>
              </a:rPr>
              <a:t>de</a:t>
            </a:r>
            <a:r>
              <a:rPr lang="en-US" sz="2300">
                <a:solidFill>
                  <a:schemeClr val="lt1"/>
                </a:solidFill>
              </a:rPr>
              <a:t> </a:t>
            </a:r>
            <a:r>
              <a:rPr lang="en-US" sz="2300">
                <a:solidFill>
                  <a:schemeClr val="lt1"/>
                </a:solidFill>
                <a:latin typeface="Arial"/>
                <a:ea typeface="Arial"/>
                <a:cs typeface="Arial"/>
                <a:sym typeface="Arial"/>
              </a:rPr>
              <a:t>bloque</a:t>
            </a:r>
            <a:r>
              <a:rPr lang="en-US" sz="2300">
                <a:solidFill>
                  <a:schemeClr val="lt1"/>
                </a:solidFill>
              </a:rPr>
              <a:t> </a:t>
            </a:r>
            <a:r>
              <a:rPr lang="en-US" sz="2300">
                <a:solidFill>
                  <a:schemeClr val="lt1"/>
                </a:solidFill>
                <a:latin typeface="Arial"/>
                <a:ea typeface="Arial"/>
                <a:cs typeface="Arial"/>
                <a:sym typeface="Arial"/>
              </a:rPr>
              <a:t>forman lo</a:t>
            </a:r>
            <a:r>
              <a:rPr lang="en-US" sz="2300">
                <a:solidFill>
                  <a:schemeClr val="lt1"/>
                </a:solidFill>
              </a:rPr>
              <a:t> </a:t>
            </a:r>
            <a:r>
              <a:rPr lang="en-US" sz="2300">
                <a:solidFill>
                  <a:schemeClr val="lt1"/>
                </a:solidFill>
                <a:latin typeface="Arial"/>
                <a:ea typeface="Arial"/>
                <a:cs typeface="Arial"/>
                <a:sym typeface="Arial"/>
              </a:rPr>
              <a:t>que</a:t>
            </a:r>
            <a:r>
              <a:rPr lang="en-US" sz="2300">
                <a:solidFill>
                  <a:schemeClr val="lt1"/>
                </a:solidFill>
              </a:rPr>
              <a:t> </a:t>
            </a:r>
            <a:r>
              <a:rPr lang="en-US" sz="2300">
                <a:solidFill>
                  <a:schemeClr val="lt1"/>
                </a:solidFill>
                <a:latin typeface="Arial"/>
                <a:ea typeface="Arial"/>
                <a:cs typeface="Arial"/>
                <a:sym typeface="Arial"/>
              </a:rPr>
              <a:t>CSS</a:t>
            </a:r>
            <a:r>
              <a:rPr lang="en-US" sz="2300">
                <a:solidFill>
                  <a:schemeClr val="lt1"/>
                </a:solidFill>
              </a:rPr>
              <a:t> </a:t>
            </a:r>
            <a:r>
              <a:rPr lang="en-US" sz="2300">
                <a:solidFill>
                  <a:schemeClr val="lt1"/>
                </a:solidFill>
                <a:latin typeface="Arial"/>
                <a:ea typeface="Arial"/>
                <a:cs typeface="Arial"/>
                <a:sym typeface="Arial"/>
              </a:rPr>
              <a:t>denomina</a:t>
            </a:r>
            <a:r>
              <a:rPr lang="en-US" sz="2300">
                <a:solidFill>
                  <a:schemeClr val="lt1"/>
                </a:solidFill>
              </a:rPr>
              <a:t> </a:t>
            </a:r>
            <a:r>
              <a:rPr i="1" lang="en-US" sz="2300">
                <a:solidFill>
                  <a:schemeClr val="lt1"/>
                </a:solidFill>
                <a:latin typeface="Arial"/>
                <a:ea typeface="Arial"/>
                <a:cs typeface="Arial"/>
                <a:sym typeface="Arial"/>
              </a:rPr>
              <a:t>"contextos de formato de bloque".</a:t>
            </a:r>
            <a:endParaRPr sz="2300">
              <a:solidFill>
                <a:schemeClr val="lt1"/>
              </a:solidFill>
              <a:latin typeface="Arial"/>
              <a:ea typeface="Arial"/>
              <a:cs typeface="Arial"/>
              <a:sym typeface="Arial"/>
            </a:endParaRPr>
          </a:p>
          <a:p>
            <a:pPr indent="0" lvl="0" marL="0" rtl="0" algn="just">
              <a:lnSpc>
                <a:spcPct val="100000"/>
              </a:lnSpc>
              <a:spcBef>
                <a:spcPts val="240"/>
              </a:spcBef>
              <a:spcAft>
                <a:spcPts val="0"/>
              </a:spcAft>
              <a:buNone/>
            </a:pPr>
            <a:r>
              <a:t/>
            </a:r>
            <a:endParaRPr sz="2300">
              <a:solidFill>
                <a:schemeClr val="lt1"/>
              </a:solidFill>
              <a:latin typeface="Arial"/>
              <a:ea typeface="Arial"/>
              <a:cs typeface="Arial"/>
              <a:sym typeface="Arial"/>
            </a:endParaRPr>
          </a:p>
          <a:p>
            <a:pPr indent="-146050" lvl="0" marL="12700" marR="5080" rtl="0" algn="just">
              <a:lnSpc>
                <a:spcPct val="100000"/>
              </a:lnSpc>
              <a:spcBef>
                <a:spcPts val="0"/>
              </a:spcBef>
              <a:spcAft>
                <a:spcPts val="0"/>
              </a:spcAft>
              <a:buClr>
                <a:schemeClr val="lt1"/>
              </a:buClr>
              <a:buSzPts val="2300"/>
              <a:buFont typeface="Noto Sans Symbols"/>
              <a:buChar char="●"/>
            </a:pPr>
            <a:r>
              <a:rPr lang="en-US" sz="2300">
                <a:solidFill>
                  <a:schemeClr val="lt1"/>
                </a:solidFill>
                <a:latin typeface="Arial"/>
                <a:ea typeface="Arial"/>
                <a:cs typeface="Arial"/>
                <a:sym typeface="Arial"/>
              </a:rPr>
              <a:t>	En  este  tipo  de  contextos,  las  cajas  se  muestran  una </a:t>
            </a:r>
            <a:r>
              <a:rPr b="1" lang="en-US" sz="2300">
                <a:solidFill>
                  <a:schemeClr val="lt1"/>
                </a:solidFill>
                <a:latin typeface="Arial"/>
                <a:ea typeface="Arial"/>
                <a:cs typeface="Arial"/>
                <a:sym typeface="Arial"/>
              </a:rPr>
              <a:t>debajo</a:t>
            </a:r>
            <a:r>
              <a:rPr b="1" lang="en-US" sz="2300">
                <a:solidFill>
                  <a:schemeClr val="lt1"/>
                </a:solidFill>
              </a:rPr>
              <a:t> </a:t>
            </a:r>
            <a:r>
              <a:rPr b="1" lang="en-US" sz="2300">
                <a:solidFill>
                  <a:schemeClr val="lt1"/>
                </a:solidFill>
                <a:latin typeface="Arial"/>
                <a:ea typeface="Arial"/>
                <a:cs typeface="Arial"/>
                <a:sym typeface="Arial"/>
              </a:rPr>
              <a:t>de otra </a:t>
            </a:r>
            <a:r>
              <a:rPr lang="en-US" sz="2300">
                <a:solidFill>
                  <a:schemeClr val="lt1"/>
                </a:solidFill>
                <a:latin typeface="Arial"/>
                <a:ea typeface="Arial"/>
                <a:cs typeface="Arial"/>
                <a:sym typeface="Arial"/>
              </a:rPr>
              <a:t>comenzando desde el principio del elemento </a:t>
            </a:r>
            <a:r>
              <a:rPr b="1" lang="en-US" sz="2300">
                <a:solidFill>
                  <a:schemeClr val="lt1"/>
                </a:solidFill>
                <a:latin typeface="Arial"/>
                <a:ea typeface="Arial"/>
                <a:cs typeface="Arial"/>
                <a:sym typeface="Arial"/>
              </a:rPr>
              <a:t>contenedor</a:t>
            </a:r>
            <a:r>
              <a:rPr lang="en-US" sz="2300">
                <a:solidFill>
                  <a:schemeClr val="lt1"/>
                </a:solidFill>
                <a:latin typeface="Arial"/>
                <a:ea typeface="Arial"/>
                <a:cs typeface="Arial"/>
                <a:sym typeface="Arial"/>
              </a:rPr>
              <a:t>. La distancia entre las cajas se controla mediante los </a:t>
            </a:r>
            <a:r>
              <a:rPr b="1" lang="en-US" sz="2300">
                <a:solidFill>
                  <a:schemeClr val="lt1"/>
                </a:solidFill>
                <a:latin typeface="Arial"/>
                <a:ea typeface="Arial"/>
                <a:cs typeface="Arial"/>
                <a:sym typeface="Arial"/>
              </a:rPr>
              <a:t>márgenes </a:t>
            </a:r>
            <a:r>
              <a:rPr lang="en-US" sz="2300">
                <a:solidFill>
                  <a:schemeClr val="lt1"/>
                </a:solidFill>
                <a:latin typeface="Arial"/>
                <a:ea typeface="Arial"/>
                <a:cs typeface="Arial"/>
                <a:sym typeface="Arial"/>
              </a:rPr>
              <a:t>verticales.</a:t>
            </a:r>
            <a:endParaRPr sz="2300">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31"/>
          <p:cNvPicPr preferRelativeResize="0"/>
          <p:nvPr/>
        </p:nvPicPr>
        <p:blipFill rotWithShape="1">
          <a:blip r:embed="rId3">
            <a:alphaModFix/>
          </a:blip>
          <a:srcRect b="0" l="0" r="0" t="0"/>
          <a:stretch/>
        </p:blipFill>
        <p:spPr>
          <a:xfrm>
            <a:off x="1464567" y="580888"/>
            <a:ext cx="6214872" cy="3523487"/>
          </a:xfrm>
          <a:prstGeom prst="rect">
            <a:avLst/>
          </a:prstGeom>
          <a:noFill/>
          <a:ln>
            <a:noFill/>
          </a:ln>
        </p:spPr>
      </p:pic>
      <p:sp>
        <p:nvSpPr>
          <p:cNvPr id="245" name="Google Shape;245;p31"/>
          <p:cNvSpPr txBox="1"/>
          <p:nvPr/>
        </p:nvSpPr>
        <p:spPr>
          <a:xfrm>
            <a:off x="1026951" y="4588500"/>
            <a:ext cx="7232400" cy="1551300"/>
          </a:xfrm>
          <a:prstGeom prst="rect">
            <a:avLst/>
          </a:prstGeom>
          <a:noFill/>
          <a:ln>
            <a:noFill/>
          </a:ln>
        </p:spPr>
        <p:txBody>
          <a:bodyPr anchorCtr="0" anchor="t" bIns="0" lIns="0" spcFirstLastPara="1" rIns="0" wrap="square" tIns="12050">
            <a:spAutoFit/>
          </a:bodyPr>
          <a:lstStyle/>
          <a:p>
            <a:pPr indent="0" lvl="0" marL="12700" marR="5080" rtl="0" algn="just">
              <a:lnSpc>
                <a:spcPct val="100000"/>
              </a:lnSpc>
              <a:spcBef>
                <a:spcPts val="0"/>
              </a:spcBef>
              <a:spcAft>
                <a:spcPts val="0"/>
              </a:spcAft>
              <a:buNone/>
            </a:pPr>
            <a:r>
              <a:rPr lang="en-US" sz="2500">
                <a:solidFill>
                  <a:schemeClr val="lt1"/>
                </a:solidFill>
                <a:latin typeface="Arial"/>
                <a:ea typeface="Arial"/>
                <a:cs typeface="Arial"/>
                <a:sym typeface="Arial"/>
              </a:rPr>
              <a:t>Si un elemento se encuentra dentro de otro, el elemento padre se llama </a:t>
            </a:r>
            <a:r>
              <a:rPr i="1" lang="en-US" sz="2500">
                <a:solidFill>
                  <a:schemeClr val="lt1"/>
                </a:solidFill>
                <a:latin typeface="Arial"/>
                <a:ea typeface="Arial"/>
                <a:cs typeface="Arial"/>
                <a:sym typeface="Arial"/>
              </a:rPr>
              <a:t>"</a:t>
            </a:r>
            <a:r>
              <a:rPr b="1" i="1" lang="en-US" sz="2500">
                <a:solidFill>
                  <a:schemeClr val="lt1"/>
                </a:solidFill>
                <a:latin typeface="Arial"/>
                <a:ea typeface="Arial"/>
                <a:cs typeface="Arial"/>
                <a:sym typeface="Arial"/>
              </a:rPr>
              <a:t>elemento contenedor</a:t>
            </a:r>
            <a:r>
              <a:rPr i="1" lang="en-US" sz="2500">
                <a:solidFill>
                  <a:schemeClr val="lt1"/>
                </a:solidFill>
                <a:latin typeface="Arial"/>
                <a:ea typeface="Arial"/>
                <a:cs typeface="Arial"/>
                <a:sym typeface="Arial"/>
              </a:rPr>
              <a:t>" y	</a:t>
            </a:r>
            <a:r>
              <a:rPr b="1" i="1" lang="en-US" sz="2500">
                <a:solidFill>
                  <a:schemeClr val="lt1"/>
                </a:solidFill>
                <a:latin typeface="Arial"/>
                <a:ea typeface="Arial"/>
                <a:cs typeface="Arial"/>
                <a:sym typeface="Arial"/>
              </a:rPr>
              <a:t>determina </a:t>
            </a:r>
            <a:r>
              <a:rPr i="1" lang="en-US" sz="2500">
                <a:solidFill>
                  <a:schemeClr val="lt1"/>
                </a:solidFill>
                <a:latin typeface="Arial"/>
                <a:ea typeface="Arial"/>
                <a:cs typeface="Arial"/>
                <a:sym typeface="Arial"/>
              </a:rPr>
              <a:t>tanto la posición como el tamaño de todas sus cajas </a:t>
            </a:r>
            <a:r>
              <a:rPr b="1" i="1" lang="en-US" sz="2500">
                <a:solidFill>
                  <a:schemeClr val="lt1"/>
                </a:solidFill>
                <a:latin typeface="Arial"/>
                <a:ea typeface="Arial"/>
                <a:cs typeface="Arial"/>
                <a:sym typeface="Arial"/>
              </a:rPr>
              <a:t>interiores</a:t>
            </a:r>
            <a:r>
              <a:rPr i="1" lang="en-US" sz="2500">
                <a:solidFill>
                  <a:schemeClr val="lt1"/>
                </a:solidFill>
                <a:latin typeface="Arial"/>
                <a:ea typeface="Arial"/>
                <a:cs typeface="Arial"/>
                <a:sym typeface="Arial"/>
              </a:rPr>
              <a:t>.</a:t>
            </a:r>
            <a:endParaRPr sz="2500">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2"/>
          <p:cNvSpPr txBox="1"/>
          <p:nvPr/>
        </p:nvSpPr>
        <p:spPr>
          <a:xfrm>
            <a:off x="512134" y="3378264"/>
            <a:ext cx="8119800" cy="2321700"/>
          </a:xfrm>
          <a:prstGeom prst="rect">
            <a:avLst/>
          </a:prstGeom>
          <a:noFill/>
          <a:ln>
            <a:noFill/>
          </a:ln>
        </p:spPr>
        <p:txBody>
          <a:bodyPr anchorCtr="0" anchor="t" bIns="0" lIns="0" spcFirstLastPara="1" rIns="0" wrap="square" tIns="12700">
            <a:spAutoFit/>
          </a:bodyPr>
          <a:lstStyle/>
          <a:p>
            <a:pPr indent="0" lvl="0" marL="12700" marR="5080" rtl="0" algn="just">
              <a:lnSpc>
                <a:spcPct val="100000"/>
              </a:lnSpc>
              <a:spcBef>
                <a:spcPts val="0"/>
              </a:spcBef>
              <a:spcAft>
                <a:spcPts val="0"/>
              </a:spcAft>
              <a:buNone/>
            </a:pPr>
            <a:r>
              <a:rPr lang="en-US" sz="2500">
                <a:solidFill>
                  <a:schemeClr val="lt1"/>
                </a:solidFill>
                <a:latin typeface="Arial"/>
                <a:ea typeface="Arial"/>
                <a:cs typeface="Arial"/>
                <a:sym typeface="Arial"/>
              </a:rPr>
              <a:t>Los elementos en línea forman los </a:t>
            </a:r>
            <a:r>
              <a:rPr i="1" lang="en-US" sz="2500">
                <a:solidFill>
                  <a:schemeClr val="lt1"/>
                </a:solidFill>
                <a:latin typeface="Arial"/>
                <a:ea typeface="Arial"/>
                <a:cs typeface="Arial"/>
                <a:sym typeface="Arial"/>
              </a:rPr>
              <a:t>"contextos de formato en línea". En este tipo de </a:t>
            </a:r>
            <a:r>
              <a:rPr lang="en-US" sz="2500">
                <a:solidFill>
                  <a:schemeClr val="lt1"/>
                </a:solidFill>
                <a:latin typeface="Arial"/>
                <a:ea typeface="Arial"/>
                <a:cs typeface="Arial"/>
                <a:sym typeface="Arial"/>
              </a:rPr>
              <a:t>contextos, las </a:t>
            </a:r>
            <a:r>
              <a:rPr b="1" lang="en-US" sz="2500">
                <a:solidFill>
                  <a:schemeClr val="lt1"/>
                </a:solidFill>
                <a:latin typeface="Arial"/>
                <a:ea typeface="Arial"/>
                <a:cs typeface="Arial"/>
                <a:sym typeface="Arial"/>
              </a:rPr>
              <a:t>cajas </a:t>
            </a:r>
            <a:r>
              <a:rPr lang="en-US" sz="2500">
                <a:solidFill>
                  <a:schemeClr val="lt1"/>
                </a:solidFill>
                <a:latin typeface="Arial"/>
                <a:ea typeface="Arial"/>
                <a:cs typeface="Arial"/>
                <a:sym typeface="Arial"/>
              </a:rPr>
              <a:t>se muestran una </a:t>
            </a:r>
            <a:r>
              <a:rPr b="1" lang="en-US" sz="2500">
                <a:solidFill>
                  <a:schemeClr val="lt1"/>
                </a:solidFill>
                <a:latin typeface="Arial"/>
                <a:ea typeface="Arial"/>
                <a:cs typeface="Arial"/>
                <a:sym typeface="Arial"/>
              </a:rPr>
              <a:t>detrás </a:t>
            </a:r>
            <a:r>
              <a:rPr lang="en-US" sz="2500">
                <a:solidFill>
                  <a:schemeClr val="lt1"/>
                </a:solidFill>
                <a:latin typeface="Arial"/>
                <a:ea typeface="Arial"/>
                <a:cs typeface="Arial"/>
                <a:sym typeface="Arial"/>
              </a:rPr>
              <a:t>de otra de forma </a:t>
            </a:r>
            <a:r>
              <a:rPr b="1" lang="en-US" sz="2500">
                <a:solidFill>
                  <a:schemeClr val="lt1"/>
                </a:solidFill>
                <a:latin typeface="Arial"/>
                <a:ea typeface="Arial"/>
                <a:cs typeface="Arial"/>
                <a:sym typeface="Arial"/>
              </a:rPr>
              <a:t>horizontal </a:t>
            </a:r>
            <a:r>
              <a:rPr lang="en-US" sz="2500">
                <a:solidFill>
                  <a:schemeClr val="lt1"/>
                </a:solidFill>
                <a:latin typeface="Arial"/>
                <a:ea typeface="Arial"/>
                <a:cs typeface="Arial"/>
                <a:sym typeface="Arial"/>
              </a:rPr>
              <a:t>comenzando desde la posición más a la </a:t>
            </a:r>
            <a:r>
              <a:rPr b="1" lang="en-US" sz="2500">
                <a:solidFill>
                  <a:schemeClr val="lt1"/>
                </a:solidFill>
                <a:latin typeface="Arial"/>
                <a:ea typeface="Arial"/>
                <a:cs typeface="Arial"/>
                <a:sym typeface="Arial"/>
              </a:rPr>
              <a:t>izquierda </a:t>
            </a:r>
            <a:r>
              <a:rPr lang="en-US" sz="2500">
                <a:solidFill>
                  <a:schemeClr val="lt1"/>
                </a:solidFill>
                <a:latin typeface="Arial"/>
                <a:ea typeface="Arial"/>
                <a:cs typeface="Arial"/>
                <a:sym typeface="Arial"/>
              </a:rPr>
              <a:t>de su elemento contenedor. La distancia entre las cajas se controla </a:t>
            </a:r>
            <a:r>
              <a:rPr b="1" lang="en-US" sz="2500">
                <a:solidFill>
                  <a:schemeClr val="lt1"/>
                </a:solidFill>
                <a:latin typeface="Arial"/>
                <a:ea typeface="Arial"/>
                <a:cs typeface="Arial"/>
                <a:sym typeface="Arial"/>
              </a:rPr>
              <a:t>mediante los márgenes</a:t>
            </a:r>
            <a:r>
              <a:rPr b="1" lang="en-US" sz="2500">
                <a:solidFill>
                  <a:schemeClr val="lt1"/>
                </a:solidFill>
              </a:rPr>
              <a:t> </a:t>
            </a:r>
            <a:r>
              <a:rPr b="1" lang="en-US" sz="2500">
                <a:solidFill>
                  <a:schemeClr val="lt1"/>
                </a:solidFill>
                <a:latin typeface="Arial"/>
                <a:ea typeface="Arial"/>
                <a:cs typeface="Arial"/>
                <a:sym typeface="Arial"/>
              </a:rPr>
              <a:t>aterales.</a:t>
            </a:r>
            <a:endParaRPr sz="2500">
              <a:solidFill>
                <a:schemeClr val="lt1"/>
              </a:solidFill>
              <a:latin typeface="Arial"/>
              <a:ea typeface="Arial"/>
              <a:cs typeface="Arial"/>
              <a:sym typeface="Arial"/>
            </a:endParaRPr>
          </a:p>
        </p:txBody>
      </p:sp>
      <p:pic>
        <p:nvPicPr>
          <p:cNvPr id="251" name="Google Shape;251;p32"/>
          <p:cNvPicPr preferRelativeResize="0"/>
          <p:nvPr/>
        </p:nvPicPr>
        <p:blipFill rotWithShape="1">
          <a:blip r:embed="rId3">
            <a:alphaModFix/>
          </a:blip>
          <a:srcRect b="0" l="0" r="0" t="0"/>
          <a:stretch/>
        </p:blipFill>
        <p:spPr>
          <a:xfrm>
            <a:off x="1708402" y="303350"/>
            <a:ext cx="5727192" cy="278587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3"/>
          <p:cNvSpPr txBox="1"/>
          <p:nvPr>
            <p:ph type="title"/>
          </p:nvPr>
        </p:nvSpPr>
        <p:spPr>
          <a:xfrm>
            <a:off x="1297500" y="525000"/>
            <a:ext cx="7038900" cy="6279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Posicionamiento relativo</a:t>
            </a:r>
            <a:endParaRPr sz="4000"/>
          </a:p>
        </p:txBody>
      </p:sp>
      <p:sp>
        <p:nvSpPr>
          <p:cNvPr id="257" name="Google Shape;257;p33"/>
          <p:cNvSpPr txBox="1"/>
          <p:nvPr/>
        </p:nvSpPr>
        <p:spPr>
          <a:xfrm>
            <a:off x="403237" y="2481644"/>
            <a:ext cx="8337600" cy="2844900"/>
          </a:xfrm>
          <a:prstGeom prst="rect">
            <a:avLst/>
          </a:prstGeom>
          <a:noFill/>
          <a:ln>
            <a:noFill/>
          </a:ln>
        </p:spPr>
        <p:txBody>
          <a:bodyPr anchorCtr="0" anchor="t" bIns="0" lIns="0" spcFirstLastPara="1" rIns="0" wrap="square" tIns="12700">
            <a:spAutoFit/>
          </a:bodyPr>
          <a:lstStyle/>
          <a:p>
            <a:pPr indent="-374650" lvl="0" marL="457200" marR="0" rtl="0" algn="just">
              <a:lnSpc>
                <a:spcPct val="100000"/>
              </a:lnSpc>
              <a:spcBef>
                <a:spcPts val="0"/>
              </a:spcBef>
              <a:spcAft>
                <a:spcPts val="0"/>
              </a:spcAft>
              <a:buClr>
                <a:schemeClr val="lt1"/>
              </a:buClr>
              <a:buSzPts val="2300"/>
              <a:buFont typeface="Arial"/>
              <a:buChar char="●"/>
            </a:pPr>
            <a:r>
              <a:rPr lang="en-US" sz="2300">
                <a:solidFill>
                  <a:schemeClr val="lt1"/>
                </a:solidFill>
                <a:latin typeface="Arial"/>
                <a:ea typeface="Arial"/>
                <a:cs typeface="Arial"/>
                <a:sym typeface="Arial"/>
              </a:rPr>
              <a:t>El estándar CSS considera que el posicionamiento relativo es un caso particular del posicionamiento normal, aunque en realidad presenta muchas diferencias.</a:t>
            </a:r>
            <a:endParaRPr sz="2300">
              <a:solidFill>
                <a:schemeClr val="lt1"/>
              </a:solidFill>
              <a:latin typeface="Arial"/>
              <a:ea typeface="Arial"/>
              <a:cs typeface="Arial"/>
              <a:sym typeface="Arial"/>
            </a:endParaRPr>
          </a:p>
          <a:p>
            <a:pPr indent="0" lvl="0" marL="457200" marR="0" rtl="0" algn="just">
              <a:lnSpc>
                <a:spcPct val="100000"/>
              </a:lnSpc>
              <a:spcBef>
                <a:spcPts val="0"/>
              </a:spcBef>
              <a:spcAft>
                <a:spcPts val="0"/>
              </a:spcAft>
              <a:buNone/>
            </a:pPr>
            <a:r>
              <a:t/>
            </a:r>
            <a:endParaRPr sz="2300">
              <a:solidFill>
                <a:schemeClr val="lt1"/>
              </a:solidFill>
            </a:endParaRPr>
          </a:p>
          <a:p>
            <a:pPr indent="-374650" lvl="0" marL="457200" marR="0" rtl="0" algn="just">
              <a:lnSpc>
                <a:spcPct val="100000"/>
              </a:lnSpc>
              <a:spcBef>
                <a:spcPts val="0"/>
              </a:spcBef>
              <a:spcAft>
                <a:spcPts val="0"/>
              </a:spcAft>
              <a:buClr>
                <a:schemeClr val="lt1"/>
              </a:buClr>
              <a:buSzPts val="2300"/>
              <a:buChar char="●"/>
            </a:pPr>
            <a:r>
              <a:rPr lang="en-US" sz="2300">
                <a:solidFill>
                  <a:schemeClr val="lt1"/>
                </a:solidFill>
                <a:latin typeface="Arial"/>
                <a:ea typeface="Arial"/>
                <a:cs typeface="Arial"/>
                <a:sym typeface="Arial"/>
              </a:rPr>
              <a:t>El posicionamiento relativo permite desplazar</a:t>
            </a:r>
            <a:r>
              <a:rPr lang="en-US" sz="2300">
                <a:solidFill>
                  <a:schemeClr val="lt1"/>
                </a:solidFill>
              </a:rPr>
              <a:t> </a:t>
            </a:r>
            <a:r>
              <a:rPr lang="en-US" sz="2300">
                <a:solidFill>
                  <a:schemeClr val="lt1"/>
                </a:solidFill>
                <a:latin typeface="Arial"/>
                <a:ea typeface="Arial"/>
                <a:cs typeface="Arial"/>
                <a:sym typeface="Arial"/>
              </a:rPr>
              <a:t>u</a:t>
            </a:r>
            <a:r>
              <a:rPr lang="en-US" sz="2300">
                <a:solidFill>
                  <a:schemeClr val="lt1"/>
                </a:solidFill>
              </a:rPr>
              <a:t>n</a:t>
            </a:r>
            <a:r>
              <a:rPr lang="en-US" sz="2300">
                <a:solidFill>
                  <a:schemeClr val="lt1"/>
                </a:solidFill>
                <a:latin typeface="Arial"/>
                <a:ea typeface="Arial"/>
                <a:cs typeface="Arial"/>
                <a:sym typeface="Arial"/>
              </a:rPr>
              <a:t>a</a:t>
            </a:r>
            <a:r>
              <a:rPr lang="en-US" sz="2300">
                <a:solidFill>
                  <a:schemeClr val="lt1"/>
                </a:solidFill>
              </a:rPr>
              <a:t> </a:t>
            </a:r>
            <a:r>
              <a:rPr lang="en-US" sz="2300">
                <a:solidFill>
                  <a:schemeClr val="lt1"/>
                </a:solidFill>
                <a:latin typeface="Arial"/>
                <a:ea typeface="Arial"/>
                <a:cs typeface="Arial"/>
                <a:sym typeface="Arial"/>
              </a:rPr>
              <a:t>caja respecto de su posición original</a:t>
            </a:r>
            <a:r>
              <a:rPr lang="en-US" sz="2300">
                <a:solidFill>
                  <a:schemeClr val="lt1"/>
                </a:solidFill>
              </a:rPr>
              <a:t> </a:t>
            </a:r>
            <a:r>
              <a:rPr lang="en-US" sz="2300">
                <a:solidFill>
                  <a:schemeClr val="lt1"/>
                </a:solidFill>
                <a:latin typeface="Arial"/>
                <a:ea typeface="Arial"/>
                <a:cs typeface="Arial"/>
                <a:sym typeface="Arial"/>
              </a:rPr>
              <a:t>establecida</a:t>
            </a:r>
            <a:r>
              <a:rPr lang="en-US" sz="2300">
                <a:solidFill>
                  <a:schemeClr val="lt1"/>
                </a:solidFill>
              </a:rPr>
              <a:t> </a:t>
            </a:r>
            <a:r>
              <a:rPr lang="en-US" sz="2300">
                <a:solidFill>
                  <a:schemeClr val="lt1"/>
                </a:solidFill>
                <a:latin typeface="Arial"/>
                <a:ea typeface="Arial"/>
                <a:cs typeface="Arial"/>
                <a:sym typeface="Arial"/>
              </a:rPr>
              <a:t>mediante el posicionamiento normal. El desplazamiento de la caja se </a:t>
            </a:r>
            <a:r>
              <a:rPr b="1" lang="en-US" sz="2300">
                <a:solidFill>
                  <a:schemeClr val="lt1"/>
                </a:solidFill>
                <a:latin typeface="Arial"/>
                <a:ea typeface="Arial"/>
                <a:cs typeface="Arial"/>
                <a:sym typeface="Arial"/>
              </a:rPr>
              <a:t>controla </a:t>
            </a:r>
            <a:r>
              <a:rPr lang="en-US" sz="2300">
                <a:solidFill>
                  <a:schemeClr val="lt1"/>
                </a:solidFill>
                <a:latin typeface="Arial"/>
                <a:ea typeface="Arial"/>
                <a:cs typeface="Arial"/>
                <a:sym typeface="Arial"/>
              </a:rPr>
              <a:t>con las propiedades </a:t>
            </a:r>
            <a:r>
              <a:rPr lang="en-US" sz="2300">
                <a:solidFill>
                  <a:schemeClr val="lt2"/>
                </a:solidFill>
                <a:latin typeface="Arial"/>
                <a:ea typeface="Arial"/>
                <a:cs typeface="Arial"/>
                <a:sym typeface="Arial"/>
              </a:rPr>
              <a:t>top, right, bottom y left</a:t>
            </a:r>
            <a:r>
              <a:rPr lang="en-US" sz="2300">
                <a:solidFill>
                  <a:schemeClr val="lt1"/>
                </a:solidFill>
                <a:latin typeface="Arial"/>
                <a:ea typeface="Arial"/>
                <a:cs typeface="Arial"/>
                <a:sym typeface="Arial"/>
              </a:rPr>
              <a:t>.</a:t>
            </a:r>
            <a:endParaRPr sz="2300">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4"/>
          <p:cNvSpPr txBox="1"/>
          <p:nvPr>
            <p:ph type="title"/>
          </p:nvPr>
        </p:nvSpPr>
        <p:spPr>
          <a:xfrm>
            <a:off x="1297500" y="525000"/>
            <a:ext cx="7038900" cy="627900"/>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0"/>
              </a:spcBef>
              <a:spcAft>
                <a:spcPts val="0"/>
              </a:spcAft>
              <a:buNone/>
            </a:pPr>
            <a:r>
              <a:rPr lang="en-US" sz="4000"/>
              <a:t>Posicionamiento relativo</a:t>
            </a:r>
            <a:endParaRPr sz="4000"/>
          </a:p>
        </p:txBody>
      </p:sp>
      <p:sp>
        <p:nvSpPr>
          <p:cNvPr id="263" name="Google Shape;263;p34"/>
          <p:cNvSpPr txBox="1"/>
          <p:nvPr/>
        </p:nvSpPr>
        <p:spPr>
          <a:xfrm>
            <a:off x="1009550" y="2140950"/>
            <a:ext cx="7653000" cy="3579300"/>
          </a:xfrm>
          <a:prstGeom prst="rect">
            <a:avLst/>
          </a:prstGeom>
          <a:noFill/>
          <a:ln>
            <a:noFill/>
          </a:ln>
        </p:spPr>
        <p:txBody>
          <a:bodyPr anchorCtr="0" anchor="t" bIns="0" lIns="0" spcFirstLastPara="1" rIns="0" wrap="square" tIns="12700">
            <a:spAutoFit/>
          </a:bodyPr>
          <a:lstStyle/>
          <a:p>
            <a:pPr indent="0" lvl="0" marL="12700" marR="5080" rtl="0" algn="just">
              <a:lnSpc>
                <a:spcPct val="100000"/>
              </a:lnSpc>
              <a:spcBef>
                <a:spcPts val="0"/>
              </a:spcBef>
              <a:spcAft>
                <a:spcPts val="0"/>
              </a:spcAft>
              <a:buNone/>
            </a:pPr>
            <a:r>
              <a:rPr lang="en-US" sz="2300">
                <a:solidFill>
                  <a:schemeClr val="lt1"/>
                </a:solidFill>
                <a:latin typeface="Arial"/>
                <a:ea typeface="Arial"/>
                <a:cs typeface="Arial"/>
                <a:sym typeface="Arial"/>
              </a:rPr>
              <a:t>La propiedad </a:t>
            </a:r>
            <a:r>
              <a:rPr b="1" lang="en-US" sz="2300">
                <a:solidFill>
                  <a:schemeClr val="lt1"/>
                </a:solidFill>
                <a:latin typeface="Arial"/>
                <a:ea typeface="Arial"/>
                <a:cs typeface="Arial"/>
                <a:sym typeface="Arial"/>
              </a:rPr>
              <a:t>top </a:t>
            </a:r>
            <a:r>
              <a:rPr lang="en-US" sz="2300">
                <a:solidFill>
                  <a:schemeClr val="lt1"/>
                </a:solidFill>
                <a:latin typeface="Arial"/>
                <a:ea typeface="Arial"/>
                <a:cs typeface="Arial"/>
                <a:sym typeface="Arial"/>
              </a:rPr>
              <a:t>se emplea para mover las cajas de forma </a:t>
            </a:r>
            <a:r>
              <a:rPr b="1" lang="en-US" sz="2300">
                <a:solidFill>
                  <a:schemeClr val="lt1"/>
                </a:solidFill>
                <a:latin typeface="Arial"/>
                <a:ea typeface="Arial"/>
                <a:cs typeface="Arial"/>
                <a:sym typeface="Arial"/>
              </a:rPr>
              <a:t>descendente</a:t>
            </a:r>
            <a:r>
              <a:rPr lang="en-US" sz="2300">
                <a:solidFill>
                  <a:schemeClr val="lt1"/>
                </a:solidFill>
                <a:latin typeface="Arial"/>
                <a:ea typeface="Arial"/>
                <a:cs typeface="Arial"/>
                <a:sym typeface="Arial"/>
              </a:rPr>
              <a:t>, la propiedad bottom mueve las cajas de forma ascendente, la propiedad left se utiliza para desplazar las cajas hacia la derecha y la propiedad right mueve las cajas hacia la izquierda.</a:t>
            </a:r>
            <a:endParaRPr sz="2300">
              <a:solidFill>
                <a:schemeClr val="lt1"/>
              </a:solidFill>
              <a:latin typeface="Arial"/>
              <a:ea typeface="Arial"/>
              <a:cs typeface="Arial"/>
              <a:sym typeface="Arial"/>
            </a:endParaRPr>
          </a:p>
          <a:p>
            <a:pPr indent="0" lvl="0" marL="12700" marR="5080" rtl="0" algn="just">
              <a:lnSpc>
                <a:spcPct val="100000"/>
              </a:lnSpc>
              <a:spcBef>
                <a:spcPts val="0"/>
              </a:spcBef>
              <a:spcAft>
                <a:spcPts val="0"/>
              </a:spcAft>
              <a:buNone/>
            </a:pPr>
            <a:r>
              <a:t/>
            </a:r>
            <a:endParaRPr sz="2300">
              <a:solidFill>
                <a:schemeClr val="lt1"/>
              </a:solidFill>
            </a:endParaRPr>
          </a:p>
          <a:p>
            <a:pPr indent="0" lvl="0" marL="12700" rtl="0" algn="just">
              <a:lnSpc>
                <a:spcPct val="100000"/>
              </a:lnSpc>
              <a:spcBef>
                <a:spcPts val="110"/>
              </a:spcBef>
              <a:spcAft>
                <a:spcPts val="0"/>
              </a:spcAft>
              <a:buNone/>
            </a:pPr>
            <a:r>
              <a:rPr lang="en-US" sz="2300">
                <a:solidFill>
                  <a:schemeClr val="lt1"/>
                </a:solidFill>
                <a:latin typeface="Arial"/>
                <a:ea typeface="Arial"/>
                <a:cs typeface="Arial"/>
                <a:sym typeface="Arial"/>
              </a:rPr>
              <a:t>Este comportamiento parece poco intuitivo y es causa de</a:t>
            </a:r>
            <a:r>
              <a:rPr lang="en-US" sz="2300">
                <a:solidFill>
                  <a:schemeClr val="lt1"/>
                </a:solidFill>
              </a:rPr>
              <a:t> </a:t>
            </a:r>
            <a:r>
              <a:rPr b="1" lang="en-US" sz="2300">
                <a:solidFill>
                  <a:schemeClr val="lt1"/>
                </a:solidFill>
                <a:latin typeface="Arial"/>
                <a:ea typeface="Arial"/>
                <a:cs typeface="Arial"/>
                <a:sym typeface="Arial"/>
              </a:rPr>
              <a:t>errores </a:t>
            </a:r>
            <a:r>
              <a:rPr lang="en-US" sz="2300">
                <a:solidFill>
                  <a:schemeClr val="lt1"/>
                </a:solidFill>
                <a:latin typeface="Arial"/>
                <a:ea typeface="Arial"/>
                <a:cs typeface="Arial"/>
                <a:sym typeface="Arial"/>
              </a:rPr>
              <a:t>cuando se empiezan a diseñar páginas con CSS.</a:t>
            </a:r>
            <a:endParaRPr sz="2300">
              <a:solidFill>
                <a:schemeClr val="lt1"/>
              </a:solidFill>
              <a:latin typeface="Arial"/>
              <a:ea typeface="Arial"/>
              <a:cs typeface="Arial"/>
              <a:sym typeface="Arial"/>
            </a:endParaRPr>
          </a:p>
          <a:p>
            <a:pPr indent="0" lvl="0" marL="12700" rtl="0" algn="just">
              <a:lnSpc>
                <a:spcPct val="100000"/>
              </a:lnSpc>
              <a:spcBef>
                <a:spcPts val="95"/>
              </a:spcBef>
              <a:spcAft>
                <a:spcPts val="0"/>
              </a:spcAft>
              <a:buNone/>
            </a:pPr>
            <a:r>
              <a:rPr lang="en-US" sz="2300">
                <a:solidFill>
                  <a:schemeClr val="lt1"/>
                </a:solidFill>
                <a:latin typeface="Arial"/>
                <a:ea typeface="Arial"/>
                <a:cs typeface="Arial"/>
                <a:sym typeface="Arial"/>
              </a:rPr>
              <a:t>Si se utilizan valores </a:t>
            </a:r>
            <a:r>
              <a:rPr b="1" lang="en-US" sz="2300">
                <a:solidFill>
                  <a:schemeClr val="lt1"/>
                </a:solidFill>
                <a:latin typeface="Arial"/>
                <a:ea typeface="Arial"/>
                <a:cs typeface="Arial"/>
                <a:sym typeface="Arial"/>
              </a:rPr>
              <a:t>negativos </a:t>
            </a:r>
            <a:r>
              <a:rPr lang="en-US" sz="2300">
                <a:solidFill>
                  <a:schemeClr val="lt1"/>
                </a:solidFill>
                <a:latin typeface="Arial"/>
                <a:ea typeface="Arial"/>
                <a:cs typeface="Arial"/>
                <a:sym typeface="Arial"/>
              </a:rPr>
              <a:t>en las</a:t>
            </a:r>
            <a:r>
              <a:rPr lang="en-US" sz="2300">
                <a:solidFill>
                  <a:schemeClr val="lt1"/>
                </a:solidFill>
              </a:rPr>
              <a:t> </a:t>
            </a:r>
            <a:r>
              <a:rPr lang="en-US" sz="2300">
                <a:solidFill>
                  <a:schemeClr val="lt1"/>
                </a:solidFill>
                <a:latin typeface="Arial"/>
                <a:ea typeface="Arial"/>
                <a:cs typeface="Arial"/>
                <a:sym typeface="Arial"/>
              </a:rPr>
              <a:t>propiedades top, right, bottom y left, su efecto es justamente el </a:t>
            </a:r>
            <a:r>
              <a:rPr b="1" lang="en-US" sz="2300">
                <a:solidFill>
                  <a:schemeClr val="lt1"/>
                </a:solidFill>
                <a:latin typeface="Arial"/>
                <a:ea typeface="Arial"/>
                <a:cs typeface="Arial"/>
                <a:sym typeface="Arial"/>
              </a:rPr>
              <a:t>inverso</a:t>
            </a:r>
            <a:r>
              <a:rPr lang="en-US" sz="2300">
                <a:solidFill>
                  <a:schemeClr val="lt1"/>
                </a:solidFill>
                <a:latin typeface="Arial"/>
                <a:ea typeface="Arial"/>
                <a:cs typeface="Arial"/>
                <a:sym typeface="Arial"/>
              </a:rPr>
              <a:t>.</a:t>
            </a:r>
            <a:endParaRPr sz="2300">
              <a:solidFill>
                <a:schemeClr val="lt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p35"/>
          <p:cNvPicPr preferRelativeResize="0"/>
          <p:nvPr/>
        </p:nvPicPr>
        <p:blipFill rotWithShape="1">
          <a:blip r:embed="rId3">
            <a:alphaModFix/>
          </a:blip>
          <a:srcRect b="0" l="0" r="0" t="0"/>
          <a:stretch/>
        </p:blipFill>
        <p:spPr>
          <a:xfrm>
            <a:off x="1252325" y="1295400"/>
            <a:ext cx="7320175" cy="2623675"/>
          </a:xfrm>
          <a:prstGeom prst="rect">
            <a:avLst/>
          </a:prstGeom>
          <a:noFill/>
          <a:ln>
            <a:noFill/>
          </a:ln>
        </p:spPr>
      </p:pic>
      <p:sp>
        <p:nvSpPr>
          <p:cNvPr id="269" name="Google Shape;269;p35"/>
          <p:cNvSpPr txBox="1"/>
          <p:nvPr/>
        </p:nvSpPr>
        <p:spPr>
          <a:xfrm>
            <a:off x="840750" y="4160048"/>
            <a:ext cx="7712700" cy="2287200"/>
          </a:xfrm>
          <a:prstGeom prst="rect">
            <a:avLst/>
          </a:prstGeom>
          <a:noFill/>
          <a:ln>
            <a:noFill/>
          </a:ln>
        </p:spPr>
        <p:txBody>
          <a:bodyPr anchorCtr="0" anchor="t" bIns="0" lIns="0" spcFirstLastPara="1" rIns="0" wrap="square" tIns="12700">
            <a:spAutoFit/>
          </a:bodyPr>
          <a:lstStyle/>
          <a:p>
            <a:pPr indent="0" lvl="0" marL="177165" marR="184785" rtl="0" algn="just">
              <a:lnSpc>
                <a:spcPct val="100000"/>
              </a:lnSpc>
              <a:spcBef>
                <a:spcPts val="0"/>
              </a:spcBef>
              <a:spcAft>
                <a:spcPts val="0"/>
              </a:spcAft>
              <a:buNone/>
            </a:pPr>
            <a:r>
              <a:rPr lang="en-US" sz="1800">
                <a:solidFill>
                  <a:schemeClr val="lt1"/>
                </a:solidFill>
                <a:latin typeface="Arial"/>
                <a:ea typeface="Arial"/>
                <a:cs typeface="Arial"/>
                <a:sym typeface="Arial"/>
              </a:rPr>
              <a:t>El desplazamiento de una caja </a:t>
            </a:r>
            <a:r>
              <a:rPr b="1" lang="en-US" sz="1800">
                <a:solidFill>
                  <a:schemeClr val="lt1"/>
                </a:solidFill>
                <a:latin typeface="Arial"/>
                <a:ea typeface="Arial"/>
                <a:cs typeface="Arial"/>
                <a:sym typeface="Arial"/>
              </a:rPr>
              <a:t>no afecta al resto de cajas </a:t>
            </a:r>
            <a:r>
              <a:rPr lang="en-US" sz="1800">
                <a:solidFill>
                  <a:schemeClr val="lt1"/>
                </a:solidFill>
                <a:latin typeface="Arial"/>
                <a:ea typeface="Arial"/>
                <a:cs typeface="Arial"/>
                <a:sym typeface="Arial"/>
              </a:rPr>
              <a:t>adyacentes. Se mostrarán en la misma posición que si la caja desplazada </a:t>
            </a:r>
            <a:r>
              <a:rPr b="1" lang="en-US" sz="1800">
                <a:solidFill>
                  <a:schemeClr val="lt1"/>
                </a:solidFill>
                <a:latin typeface="Arial"/>
                <a:ea typeface="Arial"/>
                <a:cs typeface="Arial"/>
                <a:sym typeface="Arial"/>
              </a:rPr>
              <a:t>no se hubiera movido </a:t>
            </a:r>
            <a:r>
              <a:rPr lang="en-US" sz="1800">
                <a:solidFill>
                  <a:schemeClr val="lt1"/>
                </a:solidFill>
                <a:latin typeface="Arial"/>
                <a:ea typeface="Arial"/>
                <a:cs typeface="Arial"/>
                <a:sym typeface="Arial"/>
              </a:rPr>
              <a:t>de su posición original.</a:t>
            </a:r>
            <a:endParaRPr sz="1800">
              <a:solidFill>
                <a:schemeClr val="lt1"/>
              </a:solidFill>
              <a:latin typeface="Arial"/>
              <a:ea typeface="Arial"/>
              <a:cs typeface="Arial"/>
              <a:sym typeface="Arial"/>
            </a:endParaRPr>
          </a:p>
          <a:p>
            <a:pPr indent="0" lvl="0" marL="0" rtl="0" algn="just">
              <a:lnSpc>
                <a:spcPct val="100000"/>
              </a:lnSpc>
              <a:spcBef>
                <a:spcPts val="450"/>
              </a:spcBef>
              <a:spcAft>
                <a:spcPts val="0"/>
              </a:spcAft>
              <a:buNone/>
            </a:pPr>
            <a:r>
              <a:t/>
            </a:r>
            <a:endParaRPr sz="1800">
              <a:solidFill>
                <a:schemeClr val="lt1"/>
              </a:solidFill>
              <a:latin typeface="Arial"/>
              <a:ea typeface="Arial"/>
              <a:cs typeface="Arial"/>
              <a:sym typeface="Arial"/>
            </a:endParaRPr>
          </a:p>
          <a:p>
            <a:pPr indent="0" lvl="0" marL="12700" rtl="0" algn="just">
              <a:lnSpc>
                <a:spcPct val="100000"/>
              </a:lnSpc>
              <a:spcBef>
                <a:spcPts val="0"/>
              </a:spcBef>
              <a:spcAft>
                <a:spcPts val="0"/>
              </a:spcAft>
              <a:buNone/>
            </a:pPr>
            <a:r>
              <a:rPr lang="en-US" sz="1800">
                <a:solidFill>
                  <a:schemeClr val="lt1"/>
                </a:solidFill>
                <a:latin typeface="Arial"/>
                <a:ea typeface="Arial"/>
                <a:cs typeface="Arial"/>
                <a:sym typeface="Arial"/>
              </a:rPr>
              <a:t>En la imagen anterior, la </a:t>
            </a:r>
            <a:r>
              <a:rPr b="1" lang="en-US" sz="1800">
                <a:solidFill>
                  <a:schemeClr val="lt1"/>
                </a:solidFill>
                <a:latin typeface="Arial"/>
                <a:ea typeface="Arial"/>
                <a:cs typeface="Arial"/>
                <a:sym typeface="Arial"/>
              </a:rPr>
              <a:t>caja 2 </a:t>
            </a:r>
            <a:r>
              <a:rPr lang="en-US" sz="1800">
                <a:solidFill>
                  <a:schemeClr val="lt1"/>
                </a:solidFill>
                <a:latin typeface="Arial"/>
                <a:ea typeface="Arial"/>
                <a:cs typeface="Arial"/>
                <a:sym typeface="Arial"/>
              </a:rPr>
              <a:t>se ha desplazado lateralmente hacia la</a:t>
            </a:r>
            <a:endParaRPr sz="1800">
              <a:solidFill>
                <a:schemeClr val="lt1"/>
              </a:solidFill>
              <a:latin typeface="Arial"/>
              <a:ea typeface="Arial"/>
              <a:cs typeface="Arial"/>
              <a:sym typeface="Arial"/>
            </a:endParaRPr>
          </a:p>
          <a:p>
            <a:pPr indent="0" lvl="0" marL="12700" rtl="0" algn="just">
              <a:lnSpc>
                <a:spcPct val="100000"/>
              </a:lnSpc>
              <a:spcBef>
                <a:spcPts val="0"/>
              </a:spcBef>
              <a:spcAft>
                <a:spcPts val="0"/>
              </a:spcAft>
              <a:buNone/>
            </a:pPr>
            <a:r>
              <a:rPr b="1" lang="en-US" sz="1800">
                <a:solidFill>
                  <a:schemeClr val="lt1"/>
                </a:solidFill>
                <a:latin typeface="Arial"/>
                <a:ea typeface="Arial"/>
                <a:cs typeface="Arial"/>
                <a:sym typeface="Arial"/>
              </a:rPr>
              <a:t>derecha </a:t>
            </a:r>
            <a:r>
              <a:rPr lang="en-US" sz="1800">
                <a:solidFill>
                  <a:schemeClr val="lt1"/>
                </a:solidFill>
                <a:latin typeface="Arial"/>
                <a:ea typeface="Arial"/>
                <a:cs typeface="Arial"/>
                <a:sym typeface="Arial"/>
              </a:rPr>
              <a:t>y verticalmente de forma </a:t>
            </a:r>
            <a:r>
              <a:rPr b="1" lang="en-US" sz="1800">
                <a:solidFill>
                  <a:schemeClr val="lt1"/>
                </a:solidFill>
                <a:latin typeface="Arial"/>
                <a:ea typeface="Arial"/>
                <a:cs typeface="Arial"/>
                <a:sym typeface="Arial"/>
              </a:rPr>
              <a:t>descendente</a:t>
            </a:r>
            <a:r>
              <a:rPr lang="en-US" sz="1800">
                <a:solidFill>
                  <a:schemeClr val="lt1"/>
                </a:solidFill>
                <a:latin typeface="Arial"/>
                <a:ea typeface="Arial"/>
                <a:cs typeface="Arial"/>
                <a:sym typeface="Arial"/>
              </a:rPr>
              <a:t>. Como el resto de cajas</a:t>
            </a:r>
            <a:endParaRPr sz="1800">
              <a:solidFill>
                <a:schemeClr val="lt1"/>
              </a:solidFill>
              <a:latin typeface="Arial"/>
              <a:ea typeface="Arial"/>
              <a:cs typeface="Arial"/>
              <a:sym typeface="Arial"/>
            </a:endParaRPr>
          </a:p>
          <a:p>
            <a:pPr indent="0" lvl="0" marL="12700" rtl="0" algn="just">
              <a:lnSpc>
                <a:spcPct val="100000"/>
              </a:lnSpc>
              <a:spcBef>
                <a:spcPts val="0"/>
              </a:spcBef>
              <a:spcAft>
                <a:spcPts val="0"/>
              </a:spcAft>
              <a:buNone/>
            </a:pPr>
            <a:r>
              <a:rPr lang="en-US" sz="1800">
                <a:solidFill>
                  <a:schemeClr val="lt1"/>
                </a:solidFill>
                <a:latin typeface="Arial"/>
                <a:ea typeface="Arial"/>
                <a:cs typeface="Arial"/>
                <a:sym typeface="Arial"/>
              </a:rPr>
              <a:t>de la página no modifican su posición, se producen solapamientos entre los</a:t>
            </a:r>
            <a:endParaRPr sz="1800">
              <a:solidFill>
                <a:schemeClr val="lt1"/>
              </a:solidFill>
              <a:latin typeface="Arial"/>
              <a:ea typeface="Arial"/>
              <a:cs typeface="Arial"/>
              <a:sym typeface="Arial"/>
            </a:endParaRPr>
          </a:p>
          <a:p>
            <a:pPr indent="0" lvl="0" marL="12700" rtl="0" algn="just">
              <a:lnSpc>
                <a:spcPct val="100000"/>
              </a:lnSpc>
              <a:spcBef>
                <a:spcPts val="0"/>
              </a:spcBef>
              <a:spcAft>
                <a:spcPts val="0"/>
              </a:spcAft>
              <a:buNone/>
            </a:pPr>
            <a:r>
              <a:rPr lang="en-US" sz="1800">
                <a:solidFill>
                  <a:schemeClr val="lt1"/>
                </a:solidFill>
                <a:latin typeface="Arial"/>
                <a:ea typeface="Arial"/>
                <a:cs typeface="Arial"/>
                <a:sym typeface="Arial"/>
              </a:rPr>
              <a:t>contenidos de las cajas.</a:t>
            </a:r>
            <a:endParaRPr sz="1800">
              <a:solidFill>
                <a:schemeClr val="lt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6"/>
          <p:cNvSpPr txBox="1"/>
          <p:nvPr>
            <p:ph type="title"/>
          </p:nvPr>
        </p:nvSpPr>
        <p:spPr>
          <a:xfrm>
            <a:off x="1297500" y="525000"/>
            <a:ext cx="7038900" cy="13737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Ejemplo </a:t>
            </a:r>
            <a:endParaRPr sz="4000"/>
          </a:p>
          <a:p>
            <a:pPr indent="0" lvl="0" marL="12700" rtl="0" algn="l">
              <a:lnSpc>
                <a:spcPct val="100000"/>
              </a:lnSpc>
              <a:spcBef>
                <a:spcPts val="0"/>
              </a:spcBef>
              <a:spcAft>
                <a:spcPts val="0"/>
              </a:spcAft>
              <a:buNone/>
            </a:pPr>
            <a:r>
              <a:rPr b="0" lang="en-US" sz="2400">
                <a:latin typeface="Arial"/>
                <a:ea typeface="Arial"/>
                <a:cs typeface="Arial"/>
                <a:sym typeface="Arial"/>
              </a:rPr>
              <a:t>muestra tres imágenes posicionadas de forma</a:t>
            </a:r>
            <a:endParaRPr sz="2400">
              <a:latin typeface="Arial"/>
              <a:ea typeface="Arial"/>
              <a:cs typeface="Arial"/>
              <a:sym typeface="Arial"/>
            </a:endParaRPr>
          </a:p>
          <a:p>
            <a:pPr indent="0" lvl="0" marL="12700" rtl="0" algn="l">
              <a:lnSpc>
                <a:spcPct val="100000"/>
              </a:lnSpc>
              <a:spcBef>
                <a:spcPts val="55"/>
              </a:spcBef>
              <a:spcAft>
                <a:spcPts val="0"/>
              </a:spcAft>
              <a:buNone/>
            </a:pPr>
            <a:r>
              <a:rPr b="0" lang="en-US" sz="2400">
                <a:latin typeface="Arial"/>
                <a:ea typeface="Arial"/>
                <a:cs typeface="Arial"/>
                <a:sym typeface="Arial"/>
              </a:rPr>
              <a:t>normal:</a:t>
            </a:r>
            <a:endParaRPr sz="2400">
              <a:latin typeface="Arial"/>
              <a:ea typeface="Arial"/>
              <a:cs typeface="Arial"/>
              <a:sym typeface="Arial"/>
            </a:endParaRPr>
          </a:p>
        </p:txBody>
      </p:sp>
      <p:pic>
        <p:nvPicPr>
          <p:cNvPr id="275" name="Google Shape;275;p36"/>
          <p:cNvPicPr preferRelativeResize="0"/>
          <p:nvPr/>
        </p:nvPicPr>
        <p:blipFill rotWithShape="1">
          <a:blip r:embed="rId3">
            <a:alphaModFix/>
          </a:blip>
          <a:srcRect b="0" l="0" r="0" t="0"/>
          <a:stretch/>
        </p:blipFill>
        <p:spPr>
          <a:xfrm>
            <a:off x="858011" y="2286000"/>
            <a:ext cx="6858000" cy="300075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7"/>
          <p:cNvSpPr txBox="1"/>
          <p:nvPr>
            <p:ph type="title"/>
          </p:nvPr>
        </p:nvSpPr>
        <p:spPr>
          <a:xfrm>
            <a:off x="1297500" y="525000"/>
            <a:ext cx="7038900" cy="1121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2400">
                <a:latin typeface="Arial"/>
                <a:ea typeface="Arial"/>
                <a:cs typeface="Arial"/>
                <a:sym typeface="Arial"/>
              </a:rPr>
              <a:t>Aplicando el posicionamiento relativo, se desplaza la primera</a:t>
            </a:r>
            <a:r>
              <a:rPr lang="en-US">
                <a:latin typeface="Arial"/>
                <a:ea typeface="Arial"/>
                <a:cs typeface="Arial"/>
                <a:sym typeface="Arial"/>
              </a:rPr>
              <a:t> </a:t>
            </a:r>
            <a:r>
              <a:rPr b="0" lang="en-US" sz="2400">
                <a:latin typeface="Arial"/>
                <a:ea typeface="Arial"/>
                <a:cs typeface="Arial"/>
                <a:sym typeface="Arial"/>
              </a:rPr>
              <a:t>imagen de </a:t>
            </a:r>
            <a:r>
              <a:rPr lang="en-US" sz="2400"/>
              <a:t>forma descendente</a:t>
            </a:r>
            <a:r>
              <a:rPr b="0" lang="en-US" sz="2400">
                <a:latin typeface="Arial"/>
                <a:ea typeface="Arial"/>
                <a:cs typeface="Arial"/>
                <a:sym typeface="Arial"/>
              </a:rPr>
              <a:t>: (desde top hacia abajo)</a:t>
            </a:r>
            <a:endParaRPr sz="2400">
              <a:latin typeface="Arial"/>
              <a:ea typeface="Arial"/>
              <a:cs typeface="Arial"/>
              <a:sym typeface="Arial"/>
            </a:endParaRPr>
          </a:p>
        </p:txBody>
      </p:sp>
      <p:sp>
        <p:nvSpPr>
          <p:cNvPr id="281" name="Google Shape;281;p37"/>
          <p:cNvSpPr txBox="1"/>
          <p:nvPr/>
        </p:nvSpPr>
        <p:spPr>
          <a:xfrm>
            <a:off x="2727004" y="4304150"/>
            <a:ext cx="3690000" cy="1430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300">
                <a:solidFill>
                  <a:srgbClr val="62A25C"/>
                </a:solidFill>
                <a:latin typeface="Calibri"/>
                <a:ea typeface="Calibri"/>
                <a:cs typeface="Calibri"/>
                <a:sym typeface="Calibri"/>
              </a:rPr>
              <a:t>img</a:t>
            </a:r>
            <a:r>
              <a:rPr lang="en-US" sz="2300">
                <a:solidFill>
                  <a:srgbClr val="795DA2"/>
                </a:solidFill>
                <a:latin typeface="Calibri"/>
                <a:ea typeface="Calibri"/>
                <a:cs typeface="Calibri"/>
                <a:sym typeface="Calibri"/>
              </a:rPr>
              <a:t>.desplazada </a:t>
            </a:r>
            <a:r>
              <a:rPr lang="en-US" sz="2300">
                <a:solidFill>
                  <a:schemeClr val="lt1"/>
                </a:solidFill>
                <a:latin typeface="Calibri"/>
                <a:ea typeface="Calibri"/>
                <a:cs typeface="Calibri"/>
                <a:sym typeface="Calibri"/>
              </a:rPr>
              <a:t>{</a:t>
            </a:r>
            <a:endParaRPr sz="2300">
              <a:solidFill>
                <a:schemeClr val="lt1"/>
              </a:solidFill>
              <a:latin typeface="Calibri"/>
              <a:ea typeface="Calibri"/>
              <a:cs typeface="Calibri"/>
              <a:sym typeface="Calibri"/>
            </a:endParaRPr>
          </a:p>
          <a:p>
            <a:pPr indent="0" lvl="0" marL="927100" marR="5080" rtl="0" algn="l">
              <a:lnSpc>
                <a:spcPct val="100000"/>
              </a:lnSpc>
              <a:spcBef>
                <a:spcPts val="5"/>
              </a:spcBef>
              <a:spcAft>
                <a:spcPts val="0"/>
              </a:spcAft>
              <a:buNone/>
            </a:pPr>
            <a:r>
              <a:rPr lang="en-US" sz="2300">
                <a:solidFill>
                  <a:schemeClr val="lt1"/>
                </a:solidFill>
                <a:latin typeface="Calibri"/>
                <a:ea typeface="Calibri"/>
                <a:cs typeface="Calibri"/>
                <a:sym typeface="Calibri"/>
              </a:rPr>
              <a:t>position: relative; </a:t>
            </a:r>
            <a:endParaRPr sz="2300">
              <a:solidFill>
                <a:schemeClr val="lt1"/>
              </a:solidFill>
              <a:latin typeface="Calibri"/>
              <a:ea typeface="Calibri"/>
              <a:cs typeface="Calibri"/>
              <a:sym typeface="Calibri"/>
            </a:endParaRPr>
          </a:p>
          <a:p>
            <a:pPr indent="0" lvl="0" marL="927100" marR="5080" rtl="0" algn="l">
              <a:lnSpc>
                <a:spcPct val="100000"/>
              </a:lnSpc>
              <a:spcBef>
                <a:spcPts val="5"/>
              </a:spcBef>
              <a:spcAft>
                <a:spcPts val="0"/>
              </a:spcAft>
              <a:buNone/>
            </a:pPr>
            <a:r>
              <a:rPr lang="en-US" sz="2300">
                <a:solidFill>
                  <a:schemeClr val="lt1"/>
                </a:solidFill>
                <a:latin typeface="Calibri"/>
                <a:ea typeface="Calibri"/>
                <a:cs typeface="Calibri"/>
                <a:sym typeface="Calibri"/>
              </a:rPr>
              <a:t>top:</a:t>
            </a:r>
            <a:r>
              <a:rPr lang="en-US" sz="2300">
                <a:solidFill>
                  <a:srgbClr val="23292D"/>
                </a:solidFill>
                <a:latin typeface="Calibri"/>
                <a:ea typeface="Calibri"/>
                <a:cs typeface="Calibri"/>
                <a:sym typeface="Calibri"/>
              </a:rPr>
              <a:t> </a:t>
            </a:r>
            <a:r>
              <a:rPr lang="en-US" sz="2300">
                <a:solidFill>
                  <a:srgbClr val="009999"/>
                </a:solidFill>
                <a:latin typeface="Calibri"/>
                <a:ea typeface="Calibri"/>
                <a:cs typeface="Calibri"/>
                <a:sym typeface="Calibri"/>
              </a:rPr>
              <a:t>8em</a:t>
            </a:r>
            <a:r>
              <a:rPr lang="en-US" sz="2300">
                <a:solidFill>
                  <a:srgbClr val="23292D"/>
                </a:solidFill>
                <a:latin typeface="Calibri"/>
                <a:ea typeface="Calibri"/>
                <a:cs typeface="Calibri"/>
                <a:sym typeface="Calibri"/>
              </a:rPr>
              <a:t>;</a:t>
            </a:r>
            <a:endParaRPr sz="2300">
              <a:latin typeface="Calibri"/>
              <a:ea typeface="Calibri"/>
              <a:cs typeface="Calibri"/>
              <a:sym typeface="Calibri"/>
            </a:endParaRPr>
          </a:p>
          <a:p>
            <a:pPr indent="0" lvl="0" marL="0" rtl="0" algn="l">
              <a:lnSpc>
                <a:spcPct val="100000"/>
              </a:lnSpc>
              <a:spcBef>
                <a:spcPts val="0"/>
              </a:spcBef>
              <a:spcAft>
                <a:spcPts val="0"/>
              </a:spcAft>
              <a:buNone/>
            </a:pPr>
            <a:r>
              <a:rPr lang="en-US" sz="2300">
                <a:solidFill>
                  <a:schemeClr val="lt1"/>
                </a:solidFill>
                <a:latin typeface="Calibri"/>
                <a:ea typeface="Calibri"/>
                <a:cs typeface="Calibri"/>
                <a:sym typeface="Calibri"/>
              </a:rPr>
              <a:t>}</a:t>
            </a:r>
            <a:endParaRPr sz="2300">
              <a:solidFill>
                <a:schemeClr val="lt1"/>
              </a:solidFill>
              <a:latin typeface="Calibri"/>
              <a:ea typeface="Calibri"/>
              <a:cs typeface="Calibri"/>
              <a:sym typeface="Calibri"/>
            </a:endParaRPr>
          </a:p>
        </p:txBody>
      </p:sp>
      <p:sp>
        <p:nvSpPr>
          <p:cNvPr id="282" name="Google Shape;282;p37"/>
          <p:cNvSpPr txBox="1"/>
          <p:nvPr/>
        </p:nvSpPr>
        <p:spPr>
          <a:xfrm>
            <a:off x="1064003" y="2657607"/>
            <a:ext cx="7364100" cy="843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chemeClr val="lt1"/>
                </a:solidFill>
                <a:latin typeface="Calibri"/>
                <a:ea typeface="Calibri"/>
                <a:cs typeface="Calibri"/>
                <a:sym typeface="Calibri"/>
              </a:rPr>
              <a:t>&lt;img class="desplazada" src="imagenes/imagen.png" alt="Imagen genérica" /&gt;</a:t>
            </a:r>
            <a:endParaRPr sz="1800">
              <a:solidFill>
                <a:schemeClr val="lt1"/>
              </a:solidFill>
              <a:latin typeface="Calibri"/>
              <a:ea typeface="Calibri"/>
              <a:cs typeface="Calibri"/>
              <a:sym typeface="Calibri"/>
            </a:endParaRPr>
          </a:p>
          <a:p>
            <a:pPr indent="0" lvl="0" marL="12700" rtl="0" algn="l">
              <a:lnSpc>
                <a:spcPct val="100000"/>
              </a:lnSpc>
              <a:spcBef>
                <a:spcPts val="0"/>
              </a:spcBef>
              <a:spcAft>
                <a:spcPts val="0"/>
              </a:spcAft>
              <a:buNone/>
            </a:pPr>
            <a:r>
              <a:rPr lang="en-US" sz="1800">
                <a:solidFill>
                  <a:schemeClr val="lt1"/>
                </a:solidFill>
                <a:latin typeface="Calibri"/>
                <a:ea typeface="Calibri"/>
                <a:cs typeface="Calibri"/>
                <a:sym typeface="Calibri"/>
              </a:rPr>
              <a:t>&lt;img src="imagenes/imagen.png" alt="Imagen genérica" /&gt;</a:t>
            </a:r>
            <a:endParaRPr sz="1800">
              <a:solidFill>
                <a:schemeClr val="lt1"/>
              </a:solidFill>
              <a:latin typeface="Calibri"/>
              <a:ea typeface="Calibri"/>
              <a:cs typeface="Calibri"/>
              <a:sym typeface="Calibri"/>
            </a:endParaRPr>
          </a:p>
          <a:p>
            <a:pPr indent="0" lvl="0" marL="12700" rtl="0" algn="l">
              <a:lnSpc>
                <a:spcPct val="100000"/>
              </a:lnSpc>
              <a:spcBef>
                <a:spcPts val="0"/>
              </a:spcBef>
              <a:spcAft>
                <a:spcPts val="0"/>
              </a:spcAft>
              <a:buNone/>
            </a:pPr>
            <a:r>
              <a:rPr lang="en-US" sz="1800">
                <a:solidFill>
                  <a:schemeClr val="lt1"/>
                </a:solidFill>
                <a:latin typeface="Calibri"/>
                <a:ea typeface="Calibri"/>
                <a:cs typeface="Calibri"/>
                <a:sym typeface="Calibri"/>
              </a:rPr>
              <a:t>&lt;img src="imagenes/imagen.png" alt="Imagen genérica" /&gt;</a:t>
            </a:r>
            <a:endParaRPr sz="1800">
              <a:solidFill>
                <a:schemeClr val="lt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8"/>
          <p:cNvSpPr txBox="1"/>
          <p:nvPr>
            <p:ph type="title"/>
          </p:nvPr>
        </p:nvSpPr>
        <p:spPr>
          <a:xfrm>
            <a:off x="1297500" y="525000"/>
            <a:ext cx="7475100" cy="320700"/>
          </a:xfrm>
          <a:prstGeom prst="rect">
            <a:avLst/>
          </a:prstGeom>
          <a:noFill/>
          <a:ln>
            <a:noFill/>
          </a:ln>
        </p:spPr>
        <p:txBody>
          <a:bodyPr anchorCtr="0" anchor="t" bIns="0" lIns="0" spcFirstLastPara="1" rIns="0" wrap="square" tIns="12700">
            <a:spAutoFit/>
          </a:bodyPr>
          <a:lstStyle/>
          <a:p>
            <a:pPr indent="0" lvl="0" marL="342265" marR="5080" rtl="0" algn="l">
              <a:lnSpc>
                <a:spcPct val="100000"/>
              </a:lnSpc>
              <a:spcBef>
                <a:spcPts val="0"/>
              </a:spcBef>
              <a:spcAft>
                <a:spcPts val="0"/>
              </a:spcAft>
              <a:buNone/>
            </a:pPr>
            <a:r>
              <a:rPr b="0" lang="en-US" sz="2000">
                <a:latin typeface="Arial"/>
                <a:ea typeface="Arial"/>
                <a:cs typeface="Arial"/>
                <a:sym typeface="Arial"/>
              </a:rPr>
              <a:t>El aspecto que muestran ahora las imágenes es el</a:t>
            </a:r>
            <a:r>
              <a:rPr lang="en-US" sz="2000">
                <a:latin typeface="Arial"/>
                <a:ea typeface="Arial"/>
                <a:cs typeface="Arial"/>
                <a:sym typeface="Arial"/>
              </a:rPr>
              <a:t> </a:t>
            </a:r>
            <a:r>
              <a:rPr b="0" lang="en-US" sz="2000">
                <a:latin typeface="Arial"/>
                <a:ea typeface="Arial"/>
                <a:cs typeface="Arial"/>
                <a:sym typeface="Arial"/>
              </a:rPr>
              <a:t>siguiente:</a:t>
            </a:r>
            <a:endParaRPr sz="2000">
              <a:latin typeface="Arial"/>
              <a:ea typeface="Arial"/>
              <a:cs typeface="Arial"/>
              <a:sym typeface="Arial"/>
            </a:endParaRPr>
          </a:p>
        </p:txBody>
      </p:sp>
      <p:pic>
        <p:nvPicPr>
          <p:cNvPr id="288" name="Google Shape;288;p38"/>
          <p:cNvPicPr preferRelativeResize="0"/>
          <p:nvPr/>
        </p:nvPicPr>
        <p:blipFill rotWithShape="1">
          <a:blip r:embed="rId3">
            <a:alphaModFix/>
          </a:blip>
          <a:srcRect b="0" l="0" r="0" t="0"/>
          <a:stretch/>
        </p:blipFill>
        <p:spPr>
          <a:xfrm>
            <a:off x="2382011" y="1013459"/>
            <a:ext cx="4856988" cy="3253740"/>
          </a:xfrm>
          <a:prstGeom prst="rect">
            <a:avLst/>
          </a:prstGeom>
          <a:noFill/>
          <a:ln>
            <a:noFill/>
          </a:ln>
        </p:spPr>
      </p:pic>
      <p:sp>
        <p:nvSpPr>
          <p:cNvPr id="289" name="Google Shape;289;p38"/>
          <p:cNvSpPr txBox="1"/>
          <p:nvPr/>
        </p:nvSpPr>
        <p:spPr>
          <a:xfrm>
            <a:off x="887700" y="4647425"/>
            <a:ext cx="7962300" cy="1860600"/>
          </a:xfrm>
          <a:prstGeom prst="rect">
            <a:avLst/>
          </a:prstGeom>
          <a:noFill/>
          <a:ln>
            <a:noFill/>
          </a:ln>
        </p:spPr>
        <p:txBody>
          <a:bodyPr anchorCtr="0" anchor="t" bIns="0" lIns="0" spcFirstLastPara="1" rIns="0" wrap="square" tIns="12700">
            <a:spAutoFit/>
          </a:bodyPr>
          <a:lstStyle/>
          <a:p>
            <a:pPr indent="0" lvl="0" marL="12700" marR="15955" rtl="0" algn="just">
              <a:lnSpc>
                <a:spcPct val="100000"/>
              </a:lnSpc>
              <a:spcBef>
                <a:spcPts val="0"/>
              </a:spcBef>
              <a:spcAft>
                <a:spcPts val="0"/>
              </a:spcAft>
              <a:buNone/>
            </a:pPr>
            <a:r>
              <a:rPr lang="en-US" sz="2000">
                <a:solidFill>
                  <a:schemeClr val="lt1"/>
                </a:solidFill>
                <a:latin typeface="Arial"/>
                <a:ea typeface="Arial"/>
                <a:cs typeface="Arial"/>
                <a:sym typeface="Arial"/>
              </a:rPr>
              <a:t>El </a:t>
            </a:r>
            <a:r>
              <a:rPr b="1" lang="en-US" sz="2000">
                <a:solidFill>
                  <a:schemeClr val="lt1"/>
                </a:solidFill>
                <a:latin typeface="Arial"/>
                <a:ea typeface="Arial"/>
                <a:cs typeface="Arial"/>
                <a:sym typeface="Arial"/>
              </a:rPr>
              <a:t>resto </a:t>
            </a:r>
            <a:r>
              <a:rPr lang="en-US" sz="2000">
                <a:solidFill>
                  <a:schemeClr val="lt1"/>
                </a:solidFill>
                <a:latin typeface="Arial"/>
                <a:ea typeface="Arial"/>
                <a:cs typeface="Arial"/>
                <a:sym typeface="Arial"/>
              </a:rPr>
              <a:t>de imágenes </a:t>
            </a:r>
            <a:r>
              <a:rPr b="1" lang="en-US" sz="2000">
                <a:solidFill>
                  <a:schemeClr val="lt1"/>
                </a:solidFill>
                <a:latin typeface="Arial"/>
                <a:ea typeface="Arial"/>
                <a:cs typeface="Arial"/>
                <a:sym typeface="Arial"/>
              </a:rPr>
              <a:t>no varían su posición </a:t>
            </a:r>
            <a:r>
              <a:rPr lang="en-US" sz="2000">
                <a:solidFill>
                  <a:schemeClr val="lt1"/>
                </a:solidFill>
                <a:latin typeface="Arial"/>
                <a:ea typeface="Arial"/>
                <a:cs typeface="Arial"/>
                <a:sym typeface="Arial"/>
              </a:rPr>
              <a:t>y por tanto </a:t>
            </a:r>
            <a:r>
              <a:rPr b="1" lang="en-US" sz="2000">
                <a:solidFill>
                  <a:schemeClr val="lt1"/>
                </a:solidFill>
                <a:latin typeface="Arial"/>
                <a:ea typeface="Arial"/>
                <a:cs typeface="Arial"/>
                <a:sym typeface="Arial"/>
              </a:rPr>
              <a:t>no ocupan</a:t>
            </a:r>
            <a:r>
              <a:rPr b="1" lang="en-US" sz="2000">
                <a:solidFill>
                  <a:schemeClr val="lt1"/>
                </a:solidFill>
              </a:rPr>
              <a:t> </a:t>
            </a:r>
            <a:r>
              <a:rPr b="1" lang="en-US" sz="2000">
                <a:solidFill>
                  <a:schemeClr val="lt1"/>
                </a:solidFill>
                <a:latin typeface="Arial"/>
                <a:ea typeface="Arial"/>
                <a:cs typeface="Arial"/>
                <a:sym typeface="Arial"/>
              </a:rPr>
              <a:t>el hueco </a:t>
            </a:r>
            <a:r>
              <a:rPr lang="en-US" sz="2000">
                <a:solidFill>
                  <a:schemeClr val="lt1"/>
                </a:solidFill>
                <a:latin typeface="Arial"/>
                <a:ea typeface="Arial"/>
                <a:cs typeface="Arial"/>
                <a:sym typeface="Arial"/>
              </a:rPr>
              <a:t>dejado por la primera imagen, ya que el posicionamiento</a:t>
            </a:r>
            <a:r>
              <a:rPr lang="en-US" sz="2000">
                <a:solidFill>
                  <a:schemeClr val="lt1"/>
                </a:solidFill>
              </a:rPr>
              <a:t> </a:t>
            </a:r>
            <a:r>
              <a:rPr b="1" lang="en-US" sz="2000">
                <a:solidFill>
                  <a:schemeClr val="lt1"/>
                </a:solidFill>
                <a:latin typeface="Arial"/>
                <a:ea typeface="Arial"/>
                <a:cs typeface="Arial"/>
                <a:sym typeface="Arial"/>
              </a:rPr>
              <a:t>relativo no influye en el resto </a:t>
            </a:r>
            <a:r>
              <a:rPr lang="en-US" sz="2000">
                <a:solidFill>
                  <a:schemeClr val="lt1"/>
                </a:solidFill>
                <a:latin typeface="Arial"/>
                <a:ea typeface="Arial"/>
                <a:cs typeface="Arial"/>
                <a:sym typeface="Arial"/>
              </a:rPr>
              <a:t>de elementos de la página.</a:t>
            </a:r>
            <a:endParaRPr sz="2000">
              <a:solidFill>
                <a:schemeClr val="lt1"/>
              </a:solidFill>
              <a:latin typeface="Arial"/>
              <a:ea typeface="Arial"/>
              <a:cs typeface="Arial"/>
              <a:sym typeface="Arial"/>
            </a:endParaRPr>
          </a:p>
          <a:p>
            <a:pPr indent="0" lvl="0" marL="12700" marR="15955" rtl="0" algn="just">
              <a:lnSpc>
                <a:spcPct val="100000"/>
              </a:lnSpc>
              <a:spcBef>
                <a:spcPts val="5"/>
              </a:spcBef>
              <a:spcAft>
                <a:spcPts val="0"/>
              </a:spcAft>
              <a:buNone/>
            </a:pPr>
            <a:r>
              <a:rPr lang="en-US" sz="2000">
                <a:solidFill>
                  <a:schemeClr val="lt1"/>
                </a:solidFill>
                <a:latin typeface="Arial"/>
                <a:ea typeface="Arial"/>
                <a:cs typeface="Arial"/>
                <a:sym typeface="Arial"/>
              </a:rPr>
              <a:t>El único problema de posicionar elementos de forma relativa es  que</a:t>
            </a:r>
            <a:r>
              <a:rPr lang="en-US" sz="2000">
                <a:solidFill>
                  <a:schemeClr val="lt1"/>
                </a:solidFill>
              </a:rPr>
              <a:t> </a:t>
            </a:r>
            <a:r>
              <a:rPr lang="en-US" sz="2000">
                <a:solidFill>
                  <a:schemeClr val="lt1"/>
                </a:solidFill>
                <a:latin typeface="Arial"/>
                <a:ea typeface="Arial"/>
                <a:cs typeface="Arial"/>
                <a:sym typeface="Arial"/>
              </a:rPr>
              <a:t>se pueden producir </a:t>
            </a:r>
            <a:r>
              <a:rPr b="1" lang="en-US" sz="2000">
                <a:solidFill>
                  <a:schemeClr val="lt1"/>
                </a:solidFill>
                <a:latin typeface="Arial"/>
                <a:ea typeface="Arial"/>
                <a:cs typeface="Arial"/>
                <a:sym typeface="Arial"/>
              </a:rPr>
              <a:t>solapamientos </a:t>
            </a:r>
            <a:r>
              <a:rPr lang="en-US" sz="2000">
                <a:solidFill>
                  <a:schemeClr val="lt1"/>
                </a:solidFill>
                <a:latin typeface="Arial"/>
                <a:ea typeface="Arial"/>
                <a:cs typeface="Arial"/>
                <a:sym typeface="Arial"/>
              </a:rPr>
              <a:t>con otros elementos de la  página.</a:t>
            </a:r>
            <a:endParaRPr sz="2000">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9"/>
          <p:cNvSpPr txBox="1"/>
          <p:nvPr>
            <p:ph type="title"/>
          </p:nvPr>
        </p:nvSpPr>
        <p:spPr>
          <a:xfrm>
            <a:off x="452550" y="525000"/>
            <a:ext cx="8424600" cy="769200"/>
          </a:xfrm>
          <a:prstGeom prst="rect">
            <a:avLst/>
          </a:prstGeom>
          <a:noFill/>
          <a:ln>
            <a:noFill/>
          </a:ln>
        </p:spPr>
        <p:txBody>
          <a:bodyPr anchorCtr="0" anchor="t" bIns="0" lIns="0" spcFirstLastPara="1" rIns="0" wrap="square" tIns="151925">
            <a:spAutoFit/>
          </a:bodyPr>
          <a:lstStyle/>
          <a:p>
            <a:pPr indent="0" lvl="0" marL="857250" rtl="0" algn="l">
              <a:lnSpc>
                <a:spcPct val="100000"/>
              </a:lnSpc>
              <a:spcBef>
                <a:spcPts val="0"/>
              </a:spcBef>
              <a:spcAft>
                <a:spcPts val="0"/>
              </a:spcAft>
              <a:buNone/>
            </a:pPr>
            <a:r>
              <a:rPr lang="en-US" sz="4000"/>
              <a:t>Posicionamiento absoluto</a:t>
            </a:r>
            <a:endParaRPr sz="4000"/>
          </a:p>
        </p:txBody>
      </p:sp>
      <p:sp>
        <p:nvSpPr>
          <p:cNvPr id="295" name="Google Shape;295;p39"/>
          <p:cNvSpPr txBox="1"/>
          <p:nvPr/>
        </p:nvSpPr>
        <p:spPr>
          <a:xfrm>
            <a:off x="840750" y="2158353"/>
            <a:ext cx="7684200" cy="3199200"/>
          </a:xfrm>
          <a:prstGeom prst="rect">
            <a:avLst/>
          </a:prstGeom>
          <a:noFill/>
          <a:ln>
            <a:noFill/>
          </a:ln>
        </p:spPr>
        <p:txBody>
          <a:bodyPr anchorCtr="0" anchor="t" bIns="0" lIns="0" spcFirstLastPara="1" rIns="0" wrap="square" tIns="12700">
            <a:spAutoFit/>
          </a:bodyPr>
          <a:lstStyle/>
          <a:p>
            <a:pPr indent="-374650" lvl="0" marL="457200" rtl="0" algn="just">
              <a:lnSpc>
                <a:spcPct val="100000"/>
              </a:lnSpc>
              <a:spcBef>
                <a:spcPts val="0"/>
              </a:spcBef>
              <a:spcAft>
                <a:spcPts val="0"/>
              </a:spcAft>
              <a:buClr>
                <a:schemeClr val="lt1"/>
              </a:buClr>
              <a:buSzPts val="2300"/>
              <a:buFont typeface="Calibri"/>
              <a:buChar char="●"/>
            </a:pPr>
            <a:r>
              <a:rPr lang="en-US" sz="2300">
                <a:solidFill>
                  <a:schemeClr val="lt1"/>
                </a:solidFill>
                <a:latin typeface="Calibri"/>
                <a:ea typeface="Calibri"/>
                <a:cs typeface="Calibri"/>
                <a:sym typeface="Calibri"/>
              </a:rPr>
              <a:t>El posicionamiento absoluto se emplea para </a:t>
            </a:r>
            <a:r>
              <a:rPr b="1" lang="en-US" sz="2300">
                <a:solidFill>
                  <a:schemeClr val="lt1"/>
                </a:solidFill>
                <a:latin typeface="Calibri"/>
                <a:ea typeface="Calibri"/>
                <a:cs typeface="Calibri"/>
                <a:sym typeface="Calibri"/>
              </a:rPr>
              <a:t>establecer </a:t>
            </a:r>
            <a:r>
              <a:rPr lang="en-US" sz="2300">
                <a:solidFill>
                  <a:schemeClr val="lt1"/>
                </a:solidFill>
                <a:latin typeface="Calibri"/>
                <a:ea typeface="Calibri"/>
                <a:cs typeface="Calibri"/>
                <a:sym typeface="Calibri"/>
              </a:rPr>
              <a:t>de forma </a:t>
            </a:r>
            <a:r>
              <a:rPr b="1" lang="en-US" sz="2300">
                <a:solidFill>
                  <a:schemeClr val="lt1"/>
                </a:solidFill>
                <a:latin typeface="Calibri"/>
                <a:ea typeface="Calibri"/>
                <a:cs typeface="Calibri"/>
                <a:sym typeface="Calibri"/>
              </a:rPr>
              <a:t>exacta </a:t>
            </a:r>
            <a:r>
              <a:rPr lang="en-US" sz="2300">
                <a:solidFill>
                  <a:schemeClr val="lt1"/>
                </a:solidFill>
                <a:latin typeface="Calibri"/>
                <a:ea typeface="Calibri"/>
                <a:cs typeface="Calibri"/>
                <a:sym typeface="Calibri"/>
              </a:rPr>
              <a:t>la posición en la que se muestra la caja de un elemento.</a:t>
            </a:r>
            <a:endParaRPr sz="2300">
              <a:solidFill>
                <a:schemeClr val="lt1"/>
              </a:solidFill>
              <a:latin typeface="Calibri"/>
              <a:ea typeface="Calibri"/>
              <a:cs typeface="Calibri"/>
              <a:sym typeface="Calibri"/>
            </a:endParaRPr>
          </a:p>
          <a:p>
            <a:pPr indent="0" lvl="0" marL="457200" rtl="0" algn="just">
              <a:lnSpc>
                <a:spcPct val="100000"/>
              </a:lnSpc>
              <a:spcBef>
                <a:spcPts val="0"/>
              </a:spcBef>
              <a:spcAft>
                <a:spcPts val="0"/>
              </a:spcAft>
              <a:buNone/>
            </a:pPr>
            <a:r>
              <a:t/>
            </a:r>
            <a:endParaRPr sz="2300">
              <a:solidFill>
                <a:schemeClr val="lt1"/>
              </a:solidFill>
              <a:latin typeface="Calibri"/>
              <a:ea typeface="Calibri"/>
              <a:cs typeface="Calibri"/>
              <a:sym typeface="Calibri"/>
            </a:endParaRPr>
          </a:p>
          <a:p>
            <a:pPr indent="-374650" lvl="0" marL="457200" marR="5080" rtl="0" algn="just">
              <a:lnSpc>
                <a:spcPct val="100000"/>
              </a:lnSpc>
              <a:spcBef>
                <a:spcPts val="0"/>
              </a:spcBef>
              <a:spcAft>
                <a:spcPts val="0"/>
              </a:spcAft>
              <a:buClr>
                <a:schemeClr val="lt1"/>
              </a:buClr>
              <a:buSzPts val="2300"/>
              <a:buFont typeface="Calibri"/>
              <a:buChar char="●"/>
            </a:pPr>
            <a:r>
              <a:rPr lang="en-US" sz="2300">
                <a:solidFill>
                  <a:schemeClr val="lt1"/>
                </a:solidFill>
                <a:latin typeface="Calibri"/>
                <a:ea typeface="Calibri"/>
                <a:cs typeface="Calibri"/>
                <a:sym typeface="Calibri"/>
              </a:rPr>
              <a:t>La nueva posición de la caja se indica mediante las </a:t>
            </a:r>
            <a:r>
              <a:rPr b="1" lang="en-US" sz="2300">
                <a:solidFill>
                  <a:schemeClr val="lt1"/>
                </a:solidFill>
                <a:latin typeface="Calibri"/>
                <a:ea typeface="Calibri"/>
                <a:cs typeface="Calibri"/>
                <a:sym typeface="Calibri"/>
              </a:rPr>
              <a:t>propiedades </a:t>
            </a:r>
            <a:r>
              <a:rPr lang="en-US" sz="2300">
                <a:solidFill>
                  <a:schemeClr val="lt1"/>
                </a:solidFill>
                <a:latin typeface="Calibri"/>
                <a:ea typeface="Calibri"/>
                <a:cs typeface="Calibri"/>
                <a:sym typeface="Calibri"/>
              </a:rPr>
              <a:t>top, right, bottom y left. La interpretación de los valores de estas propiedades es mucho más </a:t>
            </a:r>
            <a:r>
              <a:rPr b="1" lang="en-US" sz="2300">
                <a:solidFill>
                  <a:schemeClr val="lt1"/>
                </a:solidFill>
                <a:latin typeface="Calibri"/>
                <a:ea typeface="Calibri"/>
                <a:cs typeface="Calibri"/>
                <a:sym typeface="Calibri"/>
              </a:rPr>
              <a:t>compleja </a:t>
            </a:r>
            <a:r>
              <a:rPr lang="en-US" sz="2300">
                <a:solidFill>
                  <a:schemeClr val="lt1"/>
                </a:solidFill>
                <a:latin typeface="Calibri"/>
                <a:ea typeface="Calibri"/>
                <a:cs typeface="Calibri"/>
                <a:sym typeface="Calibri"/>
              </a:rPr>
              <a:t>que en el posicionamiento relativo, ya que en este caso </a:t>
            </a:r>
            <a:r>
              <a:rPr b="1" lang="en-US" sz="2300">
                <a:solidFill>
                  <a:schemeClr val="lt1"/>
                </a:solidFill>
                <a:latin typeface="Calibri"/>
                <a:ea typeface="Calibri"/>
                <a:cs typeface="Calibri"/>
                <a:sym typeface="Calibri"/>
              </a:rPr>
              <a:t>dependen </a:t>
            </a:r>
            <a:r>
              <a:rPr lang="en-US" sz="2300">
                <a:solidFill>
                  <a:schemeClr val="lt1"/>
                </a:solidFill>
                <a:latin typeface="Calibri"/>
                <a:ea typeface="Calibri"/>
                <a:cs typeface="Calibri"/>
                <a:sym typeface="Calibri"/>
              </a:rPr>
              <a:t>del posicionamiento del elemento </a:t>
            </a:r>
            <a:r>
              <a:rPr b="1" lang="en-US" sz="2300">
                <a:solidFill>
                  <a:schemeClr val="lt1"/>
                </a:solidFill>
                <a:latin typeface="Calibri"/>
                <a:ea typeface="Calibri"/>
                <a:cs typeface="Calibri"/>
                <a:sym typeface="Calibri"/>
              </a:rPr>
              <a:t>contenedor.</a:t>
            </a:r>
            <a:endParaRPr sz="2300">
              <a:solidFill>
                <a:schemeClr val="lt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0"/>
          <p:cNvSpPr txBox="1"/>
          <p:nvPr>
            <p:ph type="title"/>
          </p:nvPr>
        </p:nvSpPr>
        <p:spPr>
          <a:xfrm>
            <a:off x="1297500" y="525000"/>
            <a:ext cx="7038900" cy="769200"/>
          </a:xfrm>
          <a:prstGeom prst="rect">
            <a:avLst/>
          </a:prstGeom>
          <a:noFill/>
          <a:ln>
            <a:noFill/>
          </a:ln>
        </p:spPr>
        <p:txBody>
          <a:bodyPr anchorCtr="0" anchor="t" bIns="0" lIns="0" spcFirstLastPara="1" rIns="0" wrap="square" tIns="151925">
            <a:spAutoFit/>
          </a:bodyPr>
          <a:lstStyle/>
          <a:p>
            <a:pPr indent="0" lvl="0" marL="57150" rtl="0" algn="l">
              <a:lnSpc>
                <a:spcPct val="100000"/>
              </a:lnSpc>
              <a:spcBef>
                <a:spcPts val="0"/>
              </a:spcBef>
              <a:spcAft>
                <a:spcPts val="0"/>
              </a:spcAft>
              <a:buNone/>
            </a:pPr>
            <a:r>
              <a:rPr lang="en-US" sz="4000"/>
              <a:t>Posicionamiento absoluto</a:t>
            </a:r>
            <a:endParaRPr sz="4000"/>
          </a:p>
        </p:txBody>
      </p:sp>
      <p:sp>
        <p:nvSpPr>
          <p:cNvPr id="301" name="Google Shape;301;p40"/>
          <p:cNvSpPr txBox="1"/>
          <p:nvPr/>
        </p:nvSpPr>
        <p:spPr>
          <a:xfrm>
            <a:off x="1218424" y="1329550"/>
            <a:ext cx="7635000" cy="1860600"/>
          </a:xfrm>
          <a:prstGeom prst="rect">
            <a:avLst/>
          </a:prstGeom>
          <a:noFill/>
          <a:ln>
            <a:noFill/>
          </a:ln>
        </p:spPr>
        <p:txBody>
          <a:bodyPr anchorCtr="0" anchor="t" bIns="0" lIns="0" spcFirstLastPara="1" rIns="0" wrap="square" tIns="13325">
            <a:spAutoFit/>
          </a:bodyPr>
          <a:lstStyle/>
          <a:p>
            <a:pPr indent="0" lvl="0" marL="12700" marR="5080" rtl="0" algn="just">
              <a:lnSpc>
                <a:spcPct val="100000"/>
              </a:lnSpc>
              <a:spcBef>
                <a:spcPts val="0"/>
              </a:spcBef>
              <a:spcAft>
                <a:spcPts val="0"/>
              </a:spcAft>
              <a:buNone/>
            </a:pPr>
            <a:r>
              <a:rPr lang="en-US" sz="2000">
                <a:solidFill>
                  <a:schemeClr val="lt1"/>
                </a:solidFill>
                <a:latin typeface="Arial"/>
                <a:ea typeface="Arial"/>
                <a:cs typeface="Arial"/>
                <a:sym typeface="Arial"/>
              </a:rPr>
              <a:t>Cuando una caja se posiciona de forma absoluta, el resto de elementos de la página la ignoran y </a:t>
            </a:r>
            <a:r>
              <a:rPr b="1" lang="en-US" sz="2000">
                <a:solidFill>
                  <a:schemeClr val="lt2"/>
                </a:solidFill>
                <a:latin typeface="Arial"/>
                <a:ea typeface="Arial"/>
                <a:cs typeface="Arial"/>
                <a:sym typeface="Arial"/>
              </a:rPr>
              <a:t>ocupan </a:t>
            </a:r>
            <a:r>
              <a:rPr lang="en-US" sz="2000">
                <a:solidFill>
                  <a:schemeClr val="lt2"/>
                </a:solidFill>
                <a:latin typeface="Arial"/>
                <a:ea typeface="Arial"/>
                <a:cs typeface="Arial"/>
                <a:sym typeface="Arial"/>
              </a:rPr>
              <a:t>el lugar original ocupado por la caja posicionada</a:t>
            </a:r>
            <a:r>
              <a:rPr lang="en-US" sz="2000">
                <a:solidFill>
                  <a:schemeClr val="lt1"/>
                </a:solidFill>
                <a:latin typeface="Arial"/>
                <a:ea typeface="Arial"/>
                <a:cs typeface="Arial"/>
                <a:sym typeface="Arial"/>
              </a:rPr>
              <a:t>. Al igual que en el</a:t>
            </a:r>
            <a:r>
              <a:rPr lang="en-US" sz="2000">
                <a:solidFill>
                  <a:schemeClr val="lt1"/>
                </a:solidFill>
              </a:rPr>
              <a:t> </a:t>
            </a:r>
            <a:r>
              <a:rPr lang="en-US" sz="2000">
                <a:solidFill>
                  <a:schemeClr val="lt1"/>
                </a:solidFill>
                <a:latin typeface="Arial"/>
                <a:ea typeface="Arial"/>
                <a:cs typeface="Arial"/>
                <a:sym typeface="Arial"/>
              </a:rPr>
              <a:t>posicionamiento relativo, cuando se posiciona de forma absoluta una caja es probable que se produzcan </a:t>
            </a:r>
            <a:r>
              <a:rPr b="1" lang="en-US" sz="2000">
                <a:solidFill>
                  <a:schemeClr val="lt1"/>
                </a:solidFill>
                <a:latin typeface="Arial"/>
                <a:ea typeface="Arial"/>
                <a:cs typeface="Arial"/>
                <a:sym typeface="Arial"/>
              </a:rPr>
              <a:t>solapamientos </a:t>
            </a:r>
            <a:r>
              <a:rPr lang="en-US" sz="2000">
                <a:solidFill>
                  <a:schemeClr val="lt1"/>
                </a:solidFill>
                <a:latin typeface="Arial"/>
                <a:ea typeface="Arial"/>
                <a:cs typeface="Arial"/>
                <a:sym typeface="Arial"/>
              </a:rPr>
              <a:t>con otras cajas.</a:t>
            </a:r>
            <a:endParaRPr sz="2000">
              <a:solidFill>
                <a:schemeClr val="lt1"/>
              </a:solidFill>
              <a:latin typeface="Arial"/>
              <a:ea typeface="Arial"/>
              <a:cs typeface="Arial"/>
              <a:sym typeface="Arial"/>
            </a:endParaRPr>
          </a:p>
        </p:txBody>
      </p:sp>
      <p:grpSp>
        <p:nvGrpSpPr>
          <p:cNvPr id="302" name="Google Shape;302;p40"/>
          <p:cNvGrpSpPr/>
          <p:nvPr/>
        </p:nvGrpSpPr>
        <p:grpSpPr>
          <a:xfrm>
            <a:off x="1057766" y="2788519"/>
            <a:ext cx="7299958" cy="3076956"/>
            <a:chOff x="928116" y="2409444"/>
            <a:chExt cx="7299958" cy="3076956"/>
          </a:xfrm>
        </p:grpSpPr>
        <p:pic>
          <p:nvPicPr>
            <p:cNvPr id="303" name="Google Shape;303;p40"/>
            <p:cNvPicPr preferRelativeResize="0"/>
            <p:nvPr/>
          </p:nvPicPr>
          <p:blipFill rotWithShape="1">
            <a:blip r:embed="rId3">
              <a:alphaModFix/>
            </a:blip>
            <a:srcRect b="0" l="0" r="0" t="0"/>
            <a:stretch/>
          </p:blipFill>
          <p:spPr>
            <a:xfrm>
              <a:off x="928116" y="2933700"/>
              <a:ext cx="7299958" cy="2552700"/>
            </a:xfrm>
            <a:prstGeom prst="rect">
              <a:avLst/>
            </a:prstGeom>
            <a:noFill/>
            <a:ln>
              <a:noFill/>
            </a:ln>
          </p:spPr>
        </p:pic>
        <p:sp>
          <p:nvSpPr>
            <p:cNvPr id="304" name="Google Shape;304;p40"/>
            <p:cNvSpPr/>
            <p:nvPr/>
          </p:nvSpPr>
          <p:spPr>
            <a:xfrm>
              <a:off x="6643116" y="3175508"/>
              <a:ext cx="213995" cy="410209"/>
            </a:xfrm>
            <a:custGeom>
              <a:rect b="b" l="l" r="r" t="t"/>
              <a:pathLst>
                <a:path extrusionOk="0" h="410210" w="213995">
                  <a:moveTo>
                    <a:pt x="163829" y="0"/>
                  </a:moveTo>
                  <a:lnTo>
                    <a:pt x="146811" y="4825"/>
                  </a:lnTo>
                  <a:lnTo>
                    <a:pt x="132968" y="15620"/>
                  </a:lnTo>
                  <a:lnTo>
                    <a:pt x="123951" y="31622"/>
                  </a:lnTo>
                  <a:lnTo>
                    <a:pt x="0" y="410082"/>
                  </a:lnTo>
                  <a:lnTo>
                    <a:pt x="130428" y="383793"/>
                  </a:lnTo>
                  <a:lnTo>
                    <a:pt x="98932" y="383793"/>
                  </a:lnTo>
                  <a:lnTo>
                    <a:pt x="37718" y="315087"/>
                  </a:lnTo>
                  <a:lnTo>
                    <a:pt x="164845" y="202183"/>
                  </a:lnTo>
                  <a:lnTo>
                    <a:pt x="211454" y="60070"/>
                  </a:lnTo>
                  <a:lnTo>
                    <a:pt x="213486" y="42037"/>
                  </a:lnTo>
                  <a:lnTo>
                    <a:pt x="208787" y="25018"/>
                  </a:lnTo>
                  <a:lnTo>
                    <a:pt x="197865" y="11175"/>
                  </a:lnTo>
                  <a:lnTo>
                    <a:pt x="181990" y="2158"/>
                  </a:lnTo>
                  <a:lnTo>
                    <a:pt x="163829" y="0"/>
                  </a:lnTo>
                  <a:close/>
                </a:path>
              </a:pathLst>
            </a:custGeom>
            <a:solidFill>
              <a:srgbClr val="FF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05" name="Google Shape;305;p40"/>
            <p:cNvPicPr preferRelativeResize="0"/>
            <p:nvPr/>
          </p:nvPicPr>
          <p:blipFill rotWithShape="1">
            <a:blip r:embed="rId4">
              <a:alphaModFix/>
            </a:blip>
            <a:srcRect b="0" l="0" r="0" t="0"/>
            <a:stretch/>
          </p:blipFill>
          <p:spPr>
            <a:xfrm>
              <a:off x="6680835" y="3377691"/>
              <a:ext cx="127126" cy="181610"/>
            </a:xfrm>
            <a:prstGeom prst="rect">
              <a:avLst/>
            </a:prstGeom>
            <a:noFill/>
            <a:ln>
              <a:noFill/>
            </a:ln>
          </p:spPr>
        </p:pic>
        <p:sp>
          <p:nvSpPr>
            <p:cNvPr id="306" name="Google Shape;306;p40"/>
            <p:cNvSpPr/>
            <p:nvPr/>
          </p:nvSpPr>
          <p:spPr>
            <a:xfrm>
              <a:off x="6742049" y="3416808"/>
              <a:ext cx="328295" cy="142875"/>
            </a:xfrm>
            <a:custGeom>
              <a:rect b="b" l="l" r="r" t="t"/>
              <a:pathLst>
                <a:path extrusionOk="0" h="142875" w="328295">
                  <a:moveTo>
                    <a:pt x="291973" y="0"/>
                  </a:moveTo>
                  <a:lnTo>
                    <a:pt x="273684" y="126"/>
                  </a:lnTo>
                  <a:lnTo>
                    <a:pt x="127253" y="29463"/>
                  </a:lnTo>
                  <a:lnTo>
                    <a:pt x="0" y="142493"/>
                  </a:lnTo>
                  <a:lnTo>
                    <a:pt x="31496" y="142493"/>
                  </a:lnTo>
                  <a:lnTo>
                    <a:pt x="291846" y="90169"/>
                  </a:lnTo>
                  <a:lnTo>
                    <a:pt x="327914" y="54228"/>
                  </a:lnTo>
                  <a:lnTo>
                    <a:pt x="327914" y="35940"/>
                  </a:lnTo>
                  <a:lnTo>
                    <a:pt x="320801" y="19176"/>
                  </a:lnTo>
                  <a:lnTo>
                    <a:pt x="308228" y="6857"/>
                  </a:lnTo>
                  <a:lnTo>
                    <a:pt x="291973" y="0"/>
                  </a:lnTo>
                  <a:close/>
                </a:path>
              </a:pathLst>
            </a:custGeom>
            <a:solidFill>
              <a:srgbClr val="FF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07" name="Google Shape;307;p40"/>
            <p:cNvPicPr preferRelativeResize="0"/>
            <p:nvPr/>
          </p:nvPicPr>
          <p:blipFill rotWithShape="1">
            <a:blip r:embed="rId5">
              <a:alphaModFix/>
            </a:blip>
            <a:srcRect b="0" l="0" r="0" t="0"/>
            <a:stretch/>
          </p:blipFill>
          <p:spPr>
            <a:xfrm>
              <a:off x="6702298" y="3446272"/>
              <a:ext cx="167004" cy="92837"/>
            </a:xfrm>
            <a:prstGeom prst="rect">
              <a:avLst/>
            </a:prstGeom>
            <a:noFill/>
            <a:ln>
              <a:noFill/>
            </a:ln>
          </p:spPr>
        </p:pic>
        <p:sp>
          <p:nvSpPr>
            <p:cNvPr id="308" name="Google Shape;308;p40"/>
            <p:cNvSpPr/>
            <p:nvPr/>
          </p:nvSpPr>
          <p:spPr>
            <a:xfrm>
              <a:off x="6779641" y="2409444"/>
              <a:ext cx="1179829" cy="1055370"/>
            </a:xfrm>
            <a:custGeom>
              <a:rect b="b" l="l" r="r" t="t"/>
              <a:pathLst>
                <a:path extrusionOk="0" h="1055370" w="1179829">
                  <a:moveTo>
                    <a:pt x="1118742" y="0"/>
                  </a:moveTo>
                  <a:lnTo>
                    <a:pt x="28320" y="968247"/>
                  </a:lnTo>
                  <a:lnTo>
                    <a:pt x="0" y="1054861"/>
                  </a:lnTo>
                  <a:lnTo>
                    <a:pt x="89661" y="1036827"/>
                  </a:lnTo>
                  <a:lnTo>
                    <a:pt x="1179829" y="68579"/>
                  </a:lnTo>
                  <a:lnTo>
                    <a:pt x="1118742" y="0"/>
                  </a:lnTo>
                  <a:close/>
                </a:path>
              </a:pathLst>
            </a:custGeom>
            <a:solidFill>
              <a:srgbClr val="FF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09" name="Google Shape;309;p40"/>
          <p:cNvSpPr txBox="1"/>
          <p:nvPr/>
        </p:nvSpPr>
        <p:spPr>
          <a:xfrm>
            <a:off x="835500" y="6022350"/>
            <a:ext cx="77445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solidFill>
                  <a:schemeClr val="lt1"/>
                </a:solidFill>
                <a:latin typeface="Arial"/>
                <a:ea typeface="Arial"/>
                <a:cs typeface="Arial"/>
                <a:sym typeface="Arial"/>
              </a:rPr>
              <a:t>La caja 2 está posicionada de forma </a:t>
            </a:r>
            <a:r>
              <a:rPr b="1" lang="en-US" sz="1400">
                <a:solidFill>
                  <a:schemeClr val="lt1"/>
                </a:solidFill>
                <a:latin typeface="Arial"/>
                <a:ea typeface="Arial"/>
                <a:cs typeface="Arial"/>
                <a:sym typeface="Arial"/>
              </a:rPr>
              <a:t>absoluta: </a:t>
            </a:r>
            <a:r>
              <a:rPr lang="en-US" sz="1400">
                <a:solidFill>
                  <a:schemeClr val="lt1"/>
                </a:solidFill>
                <a:latin typeface="Arial"/>
                <a:ea typeface="Arial"/>
                <a:cs typeface="Arial"/>
                <a:sym typeface="Arial"/>
              </a:rPr>
              <a:t>el resto de elementos de la página modifiquen su</a:t>
            </a:r>
            <a:r>
              <a:rPr lang="en-US">
                <a:solidFill>
                  <a:schemeClr val="lt1"/>
                </a:solidFill>
              </a:rPr>
              <a:t> </a:t>
            </a:r>
            <a:r>
              <a:rPr lang="en-US" sz="1400">
                <a:solidFill>
                  <a:schemeClr val="lt1"/>
                </a:solidFill>
                <a:latin typeface="Arial"/>
                <a:ea typeface="Arial"/>
                <a:cs typeface="Arial"/>
                <a:sym typeface="Arial"/>
              </a:rPr>
              <a:t>posición. La caja 3 </a:t>
            </a:r>
            <a:r>
              <a:rPr b="1" lang="en-US" sz="1400">
                <a:solidFill>
                  <a:schemeClr val="lt1"/>
                </a:solidFill>
                <a:latin typeface="Arial"/>
                <a:ea typeface="Arial"/>
                <a:cs typeface="Arial"/>
                <a:sym typeface="Arial"/>
              </a:rPr>
              <a:t>deja </a:t>
            </a:r>
            <a:r>
              <a:rPr lang="en-US" sz="1400">
                <a:solidFill>
                  <a:schemeClr val="lt1"/>
                </a:solidFill>
                <a:latin typeface="Arial"/>
                <a:ea typeface="Arial"/>
                <a:cs typeface="Arial"/>
                <a:sym typeface="Arial"/>
              </a:rPr>
              <a:t>su lugar original y pasa a ocupar el </a:t>
            </a:r>
            <a:r>
              <a:rPr b="1" lang="en-US" sz="1400">
                <a:solidFill>
                  <a:schemeClr val="lt1"/>
                </a:solidFill>
                <a:latin typeface="Arial"/>
                <a:ea typeface="Arial"/>
                <a:cs typeface="Arial"/>
                <a:sym typeface="Arial"/>
              </a:rPr>
              <a:t>hueco </a:t>
            </a:r>
            <a:r>
              <a:rPr lang="en-US" sz="1400">
                <a:solidFill>
                  <a:schemeClr val="lt1"/>
                </a:solidFill>
                <a:latin typeface="Arial"/>
                <a:ea typeface="Arial"/>
                <a:cs typeface="Arial"/>
                <a:sym typeface="Arial"/>
              </a:rPr>
              <a:t>dejado por la caja 2.</a:t>
            </a:r>
            <a:endParaRPr sz="1400">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1"/>
          <p:cNvSpPr txBox="1"/>
          <p:nvPr/>
        </p:nvSpPr>
        <p:spPr>
          <a:xfrm>
            <a:off x="1342600" y="818075"/>
            <a:ext cx="7391400" cy="5638200"/>
          </a:xfrm>
          <a:prstGeom prst="rect">
            <a:avLst/>
          </a:prstGeom>
          <a:noFill/>
          <a:ln>
            <a:noFill/>
          </a:ln>
        </p:spPr>
        <p:txBody>
          <a:bodyPr anchorCtr="0" anchor="t" bIns="0" lIns="0" spcFirstLastPara="1" rIns="0" wrap="square" tIns="13325">
            <a:spAutoFit/>
          </a:bodyPr>
          <a:lstStyle/>
          <a:p>
            <a:pPr indent="0" lvl="0" marL="12700" marR="25239" rtl="0" algn="just">
              <a:lnSpc>
                <a:spcPct val="100000"/>
              </a:lnSpc>
              <a:spcBef>
                <a:spcPts val="0"/>
              </a:spcBef>
              <a:spcAft>
                <a:spcPts val="0"/>
              </a:spcAft>
              <a:buNone/>
            </a:pPr>
            <a:r>
              <a:rPr lang="en-US" sz="2000">
                <a:solidFill>
                  <a:schemeClr val="lt1"/>
                </a:solidFill>
                <a:latin typeface="Arial"/>
                <a:ea typeface="Arial"/>
                <a:cs typeface="Arial"/>
                <a:sym typeface="Arial"/>
              </a:rPr>
              <a:t>Para posicionar la imagen de forma absoluta,</a:t>
            </a:r>
            <a:r>
              <a:rPr lang="en-US" sz="2000">
                <a:solidFill>
                  <a:schemeClr val="lt1"/>
                </a:solidFill>
              </a:rPr>
              <a:t> </a:t>
            </a:r>
            <a:r>
              <a:rPr lang="en-US" sz="2000">
                <a:solidFill>
                  <a:schemeClr val="lt1"/>
                </a:solidFill>
                <a:latin typeface="Arial"/>
                <a:ea typeface="Arial"/>
                <a:cs typeface="Arial"/>
                <a:sym typeface="Arial"/>
              </a:rPr>
              <a:t>el </a:t>
            </a:r>
            <a:r>
              <a:rPr b="1" lang="en-US" sz="2000">
                <a:solidFill>
                  <a:schemeClr val="lt1"/>
                </a:solidFill>
                <a:latin typeface="Arial"/>
                <a:ea typeface="Arial"/>
                <a:cs typeface="Arial"/>
                <a:sym typeface="Arial"/>
              </a:rPr>
              <a:t>navegador </a:t>
            </a:r>
            <a:r>
              <a:rPr lang="en-US" sz="2000">
                <a:solidFill>
                  <a:schemeClr val="lt1"/>
                </a:solidFill>
                <a:latin typeface="Arial"/>
                <a:ea typeface="Arial"/>
                <a:cs typeface="Arial"/>
                <a:sym typeface="Arial"/>
              </a:rPr>
              <a:t>realiza los</a:t>
            </a:r>
            <a:r>
              <a:rPr lang="en-US" sz="2000">
                <a:solidFill>
                  <a:schemeClr val="lt1"/>
                </a:solidFill>
              </a:rPr>
              <a:t> </a:t>
            </a:r>
            <a:r>
              <a:rPr lang="en-US" sz="2000">
                <a:solidFill>
                  <a:schemeClr val="lt1"/>
                </a:solidFill>
                <a:latin typeface="Arial"/>
                <a:ea typeface="Arial"/>
                <a:cs typeface="Arial"/>
                <a:sym typeface="Arial"/>
              </a:rPr>
              <a:t>siguientes pasos:</a:t>
            </a:r>
            <a:endParaRPr sz="2000">
              <a:solidFill>
                <a:schemeClr val="lt1"/>
              </a:solidFill>
              <a:latin typeface="Arial"/>
              <a:ea typeface="Arial"/>
              <a:cs typeface="Arial"/>
              <a:sym typeface="Arial"/>
            </a:endParaRPr>
          </a:p>
          <a:p>
            <a:pPr indent="0" lvl="0" marL="0" marR="25239" rtl="0" algn="just">
              <a:lnSpc>
                <a:spcPct val="100000"/>
              </a:lnSpc>
              <a:spcBef>
                <a:spcPts val="160"/>
              </a:spcBef>
              <a:spcAft>
                <a:spcPts val="0"/>
              </a:spcAft>
              <a:buNone/>
            </a:pPr>
            <a:r>
              <a:t/>
            </a:r>
            <a:endParaRPr sz="2000">
              <a:solidFill>
                <a:schemeClr val="lt1"/>
              </a:solidFill>
              <a:latin typeface="Arial"/>
              <a:ea typeface="Arial"/>
              <a:cs typeface="Arial"/>
              <a:sym typeface="Arial"/>
            </a:endParaRPr>
          </a:p>
          <a:p>
            <a:pPr indent="-355600" lvl="0" marL="457200" marR="25239" rtl="0" algn="just">
              <a:lnSpc>
                <a:spcPct val="100000"/>
              </a:lnSpc>
              <a:spcBef>
                <a:spcPts val="0"/>
              </a:spcBef>
              <a:spcAft>
                <a:spcPts val="0"/>
              </a:spcAft>
              <a:buClr>
                <a:schemeClr val="lt1"/>
              </a:buClr>
              <a:buSzPts val="2000"/>
              <a:buAutoNum type="arabicPeriod"/>
            </a:pPr>
            <a:r>
              <a:rPr lang="en-US" sz="2000">
                <a:solidFill>
                  <a:schemeClr val="lt1"/>
                </a:solidFill>
                <a:latin typeface="Arial"/>
                <a:ea typeface="Arial"/>
                <a:cs typeface="Arial"/>
                <a:sym typeface="Arial"/>
              </a:rPr>
              <a:t>Se recorren </a:t>
            </a:r>
            <a:r>
              <a:rPr b="1" lang="en-US" sz="2000">
                <a:solidFill>
                  <a:schemeClr val="lt1"/>
                </a:solidFill>
                <a:latin typeface="Arial"/>
                <a:ea typeface="Arial"/>
                <a:cs typeface="Arial"/>
                <a:sym typeface="Arial"/>
              </a:rPr>
              <a:t>todos </a:t>
            </a:r>
            <a:r>
              <a:rPr lang="en-US" sz="2000">
                <a:solidFill>
                  <a:schemeClr val="lt1"/>
                </a:solidFill>
                <a:latin typeface="Arial"/>
                <a:ea typeface="Arial"/>
                <a:cs typeface="Arial"/>
                <a:sym typeface="Arial"/>
              </a:rPr>
              <a:t>los elementos contenedores empezando por el más</a:t>
            </a:r>
            <a:r>
              <a:rPr lang="en-US" sz="2000">
                <a:solidFill>
                  <a:schemeClr val="lt1"/>
                </a:solidFill>
              </a:rPr>
              <a:t> </a:t>
            </a:r>
            <a:r>
              <a:rPr lang="en-US" sz="2000">
                <a:solidFill>
                  <a:schemeClr val="lt1"/>
                </a:solidFill>
                <a:latin typeface="Arial"/>
                <a:ea typeface="Arial"/>
                <a:cs typeface="Arial"/>
                <a:sym typeface="Arial"/>
              </a:rPr>
              <a:t>cercano a la caja y llegando hasta el &lt;body&gt;</a:t>
            </a:r>
            <a:endParaRPr sz="2000">
              <a:solidFill>
                <a:schemeClr val="lt1"/>
              </a:solidFill>
              <a:latin typeface="Arial"/>
              <a:ea typeface="Arial"/>
              <a:cs typeface="Arial"/>
              <a:sym typeface="Arial"/>
            </a:endParaRPr>
          </a:p>
          <a:p>
            <a:pPr indent="0" lvl="0" marL="457200" marR="25239" rtl="0" algn="just">
              <a:lnSpc>
                <a:spcPct val="100000"/>
              </a:lnSpc>
              <a:spcBef>
                <a:spcPts val="165"/>
              </a:spcBef>
              <a:spcAft>
                <a:spcPts val="0"/>
              </a:spcAft>
              <a:buNone/>
            </a:pPr>
            <a:r>
              <a:t/>
            </a:r>
            <a:endParaRPr sz="2000">
              <a:solidFill>
                <a:schemeClr val="lt1"/>
              </a:solidFill>
              <a:latin typeface="Arial"/>
              <a:ea typeface="Arial"/>
              <a:cs typeface="Arial"/>
              <a:sym typeface="Arial"/>
            </a:endParaRPr>
          </a:p>
          <a:p>
            <a:pPr indent="-355600" lvl="0" marL="457200" marR="25239" rtl="0" algn="just">
              <a:lnSpc>
                <a:spcPct val="100000"/>
              </a:lnSpc>
              <a:spcBef>
                <a:spcPts val="0"/>
              </a:spcBef>
              <a:spcAft>
                <a:spcPts val="0"/>
              </a:spcAft>
              <a:buClr>
                <a:schemeClr val="lt1"/>
              </a:buClr>
              <a:buSzPts val="2000"/>
              <a:buFont typeface="Arial"/>
              <a:buAutoNum type="arabicPeriod"/>
            </a:pPr>
            <a:r>
              <a:rPr lang="en-US" sz="2000">
                <a:solidFill>
                  <a:schemeClr val="lt1"/>
                </a:solidFill>
                <a:latin typeface="Arial"/>
                <a:ea typeface="Arial"/>
                <a:cs typeface="Arial"/>
                <a:sym typeface="Arial"/>
              </a:rPr>
              <a:t>El primer </a:t>
            </a:r>
            <a:r>
              <a:rPr b="1" lang="en-US" sz="2000">
                <a:solidFill>
                  <a:schemeClr val="lt1"/>
                </a:solidFill>
                <a:latin typeface="Arial"/>
                <a:ea typeface="Arial"/>
                <a:cs typeface="Arial"/>
                <a:sym typeface="Arial"/>
              </a:rPr>
              <a:t>elemento </a:t>
            </a:r>
            <a:r>
              <a:rPr lang="en-US" sz="2000">
                <a:solidFill>
                  <a:schemeClr val="lt1"/>
                </a:solidFill>
                <a:latin typeface="Arial"/>
                <a:ea typeface="Arial"/>
                <a:cs typeface="Arial"/>
                <a:sym typeface="Arial"/>
              </a:rPr>
              <a:t>contenedor que esté posicionado de cualquier forma </a:t>
            </a:r>
            <a:r>
              <a:rPr b="1" lang="en-US" sz="2000">
                <a:solidFill>
                  <a:schemeClr val="lt1"/>
                </a:solidFill>
                <a:latin typeface="Arial"/>
                <a:ea typeface="Arial"/>
                <a:cs typeface="Arial"/>
                <a:sym typeface="Arial"/>
              </a:rPr>
              <a:t>diferente </a:t>
            </a:r>
            <a:r>
              <a:rPr lang="en-US" sz="2000">
                <a:solidFill>
                  <a:schemeClr val="lt1"/>
                </a:solidFill>
                <a:latin typeface="Arial"/>
                <a:ea typeface="Arial"/>
                <a:cs typeface="Arial"/>
                <a:sym typeface="Arial"/>
              </a:rPr>
              <a:t>a position: </a:t>
            </a:r>
            <a:r>
              <a:rPr b="1" lang="en-US" sz="2000">
                <a:solidFill>
                  <a:schemeClr val="lt1"/>
                </a:solidFill>
                <a:latin typeface="Arial"/>
                <a:ea typeface="Arial"/>
                <a:cs typeface="Arial"/>
                <a:sym typeface="Arial"/>
              </a:rPr>
              <a:t>static </a:t>
            </a:r>
            <a:r>
              <a:rPr lang="en-US" sz="2000">
                <a:solidFill>
                  <a:schemeClr val="lt1"/>
                </a:solidFill>
                <a:latin typeface="Arial"/>
                <a:ea typeface="Arial"/>
                <a:cs typeface="Arial"/>
                <a:sym typeface="Arial"/>
              </a:rPr>
              <a:t>se convierte en la </a:t>
            </a:r>
            <a:r>
              <a:rPr b="1" lang="en-US" sz="2000">
                <a:solidFill>
                  <a:schemeClr val="lt1"/>
                </a:solidFill>
                <a:latin typeface="Arial"/>
                <a:ea typeface="Arial"/>
                <a:cs typeface="Arial"/>
                <a:sym typeface="Arial"/>
              </a:rPr>
              <a:t>referencia </a:t>
            </a:r>
            <a:r>
              <a:rPr lang="en-US" sz="2000">
                <a:solidFill>
                  <a:schemeClr val="lt1"/>
                </a:solidFill>
                <a:latin typeface="Arial"/>
                <a:ea typeface="Arial"/>
                <a:cs typeface="Arial"/>
                <a:sym typeface="Arial"/>
              </a:rPr>
              <a:t>que </a:t>
            </a:r>
            <a:r>
              <a:rPr b="1" lang="en-US" sz="2000">
                <a:solidFill>
                  <a:schemeClr val="lt1"/>
                </a:solidFill>
                <a:latin typeface="Arial"/>
                <a:ea typeface="Arial"/>
                <a:cs typeface="Arial"/>
                <a:sym typeface="Arial"/>
              </a:rPr>
              <a:t>determina </a:t>
            </a:r>
            <a:r>
              <a:rPr lang="en-US" sz="2000">
                <a:solidFill>
                  <a:schemeClr val="lt1"/>
                </a:solidFill>
                <a:latin typeface="Arial"/>
                <a:ea typeface="Arial"/>
                <a:cs typeface="Arial"/>
                <a:sym typeface="Arial"/>
              </a:rPr>
              <a:t>la posición de la caja posicionada de forma absoluta.</a:t>
            </a:r>
            <a:endParaRPr sz="2000">
              <a:solidFill>
                <a:schemeClr val="lt1"/>
              </a:solidFill>
              <a:latin typeface="Arial"/>
              <a:ea typeface="Arial"/>
              <a:cs typeface="Arial"/>
              <a:sym typeface="Arial"/>
            </a:endParaRPr>
          </a:p>
          <a:p>
            <a:pPr indent="0" lvl="0" marL="457200" marR="25239" rtl="0" algn="just">
              <a:lnSpc>
                <a:spcPct val="100000"/>
              </a:lnSpc>
              <a:spcBef>
                <a:spcPts val="160"/>
              </a:spcBef>
              <a:spcAft>
                <a:spcPts val="0"/>
              </a:spcAft>
              <a:buNone/>
            </a:pPr>
            <a:r>
              <a:t/>
            </a:r>
            <a:endParaRPr sz="2000">
              <a:solidFill>
                <a:schemeClr val="lt1"/>
              </a:solidFill>
              <a:latin typeface="Arial"/>
              <a:ea typeface="Arial"/>
              <a:cs typeface="Arial"/>
              <a:sym typeface="Arial"/>
            </a:endParaRPr>
          </a:p>
          <a:p>
            <a:pPr indent="-355600" lvl="0" marL="457200" marR="25239" rtl="0" algn="just">
              <a:lnSpc>
                <a:spcPct val="100000"/>
              </a:lnSpc>
              <a:spcBef>
                <a:spcPts val="0"/>
              </a:spcBef>
              <a:spcAft>
                <a:spcPts val="0"/>
              </a:spcAft>
              <a:buClr>
                <a:schemeClr val="lt1"/>
              </a:buClr>
              <a:buSzPts val="2000"/>
              <a:buAutoNum type="arabicPeriod"/>
            </a:pPr>
            <a:r>
              <a:rPr lang="en-US" sz="2000">
                <a:solidFill>
                  <a:schemeClr val="lt1"/>
                </a:solidFill>
                <a:latin typeface="Arial"/>
                <a:ea typeface="Arial"/>
                <a:cs typeface="Arial"/>
                <a:sym typeface="Arial"/>
              </a:rPr>
              <a:t>Si </a:t>
            </a:r>
            <a:r>
              <a:rPr b="1" lang="en-US" sz="2000">
                <a:solidFill>
                  <a:schemeClr val="lt1"/>
                </a:solidFill>
                <a:latin typeface="Arial"/>
                <a:ea typeface="Arial"/>
                <a:cs typeface="Arial"/>
                <a:sym typeface="Arial"/>
              </a:rPr>
              <a:t>ningún </a:t>
            </a:r>
            <a:r>
              <a:rPr lang="en-US" sz="2000">
                <a:solidFill>
                  <a:schemeClr val="lt1"/>
                </a:solidFill>
                <a:latin typeface="Arial"/>
                <a:ea typeface="Arial"/>
                <a:cs typeface="Arial"/>
                <a:sym typeface="Arial"/>
              </a:rPr>
              <a:t>elemento contenedor está </a:t>
            </a:r>
            <a:r>
              <a:rPr b="1" lang="en-US" sz="2000">
                <a:solidFill>
                  <a:schemeClr val="lt1"/>
                </a:solidFill>
                <a:latin typeface="Arial"/>
                <a:ea typeface="Arial"/>
                <a:cs typeface="Arial"/>
                <a:sym typeface="Arial"/>
              </a:rPr>
              <a:t>posicionado</a:t>
            </a:r>
            <a:r>
              <a:rPr lang="en-US" sz="2000">
                <a:solidFill>
                  <a:schemeClr val="lt1"/>
                </a:solidFill>
                <a:latin typeface="Arial"/>
                <a:ea typeface="Arial"/>
                <a:cs typeface="Arial"/>
                <a:sym typeface="Arial"/>
              </a:rPr>
              <a:t>, la </a:t>
            </a:r>
            <a:r>
              <a:rPr b="1" lang="en-US" sz="2000">
                <a:solidFill>
                  <a:schemeClr val="lt1"/>
                </a:solidFill>
                <a:latin typeface="Arial"/>
                <a:ea typeface="Arial"/>
                <a:cs typeface="Arial"/>
                <a:sym typeface="Arial"/>
              </a:rPr>
              <a:t>referencia </a:t>
            </a:r>
            <a:r>
              <a:rPr lang="en-US" sz="2000">
                <a:solidFill>
                  <a:schemeClr val="lt1"/>
                </a:solidFill>
                <a:latin typeface="Arial"/>
                <a:ea typeface="Arial"/>
                <a:cs typeface="Arial"/>
                <a:sym typeface="Arial"/>
              </a:rPr>
              <a:t>es la</a:t>
            </a:r>
            <a:r>
              <a:rPr lang="en-US" sz="2000">
                <a:solidFill>
                  <a:schemeClr val="lt1"/>
                </a:solidFill>
              </a:rPr>
              <a:t> </a:t>
            </a:r>
            <a:r>
              <a:rPr b="1" lang="en-US" sz="2000">
                <a:solidFill>
                  <a:schemeClr val="lt1"/>
                </a:solidFill>
                <a:latin typeface="Arial"/>
                <a:ea typeface="Arial"/>
                <a:cs typeface="Arial"/>
                <a:sym typeface="Arial"/>
              </a:rPr>
              <a:t>ventana del navegador</a:t>
            </a:r>
            <a:r>
              <a:rPr lang="en-US" sz="2000">
                <a:solidFill>
                  <a:schemeClr val="lt1"/>
                </a:solidFill>
                <a:latin typeface="Arial"/>
                <a:ea typeface="Arial"/>
                <a:cs typeface="Arial"/>
                <a:sym typeface="Arial"/>
              </a:rPr>
              <a:t>, que </a:t>
            </a:r>
            <a:r>
              <a:rPr b="1" lang="en-US" sz="2000">
                <a:solidFill>
                  <a:schemeClr val="lt1"/>
                </a:solidFill>
                <a:latin typeface="Arial"/>
                <a:ea typeface="Arial"/>
                <a:cs typeface="Arial"/>
                <a:sym typeface="Arial"/>
              </a:rPr>
              <a:t>no </a:t>
            </a:r>
            <a:r>
              <a:rPr lang="en-US" sz="2000">
                <a:solidFill>
                  <a:schemeClr val="lt1"/>
                </a:solidFill>
                <a:latin typeface="Arial"/>
                <a:ea typeface="Arial"/>
                <a:cs typeface="Arial"/>
                <a:sym typeface="Arial"/>
              </a:rPr>
              <a:t>debe </a:t>
            </a:r>
            <a:r>
              <a:rPr b="1" lang="en-US" sz="2000">
                <a:solidFill>
                  <a:schemeClr val="lt1"/>
                </a:solidFill>
                <a:latin typeface="Arial"/>
                <a:ea typeface="Arial"/>
                <a:cs typeface="Arial"/>
                <a:sym typeface="Arial"/>
              </a:rPr>
              <a:t>confundirse </a:t>
            </a:r>
            <a:r>
              <a:rPr lang="en-US" sz="2000">
                <a:solidFill>
                  <a:schemeClr val="lt1"/>
                </a:solidFill>
                <a:latin typeface="Arial"/>
                <a:ea typeface="Arial"/>
                <a:cs typeface="Arial"/>
                <a:sym typeface="Arial"/>
              </a:rPr>
              <a:t>con el elemento</a:t>
            </a:r>
            <a:r>
              <a:rPr lang="en-US" sz="2000">
                <a:solidFill>
                  <a:schemeClr val="lt1"/>
                </a:solidFill>
              </a:rPr>
              <a:t> </a:t>
            </a:r>
            <a:r>
              <a:rPr lang="en-US" sz="2000">
                <a:solidFill>
                  <a:schemeClr val="lt1"/>
                </a:solidFill>
                <a:latin typeface="Arial"/>
                <a:ea typeface="Arial"/>
                <a:cs typeface="Arial"/>
                <a:sym typeface="Arial"/>
              </a:rPr>
              <a:t>&lt;</a:t>
            </a:r>
            <a:r>
              <a:rPr b="1" lang="en-US" sz="2000">
                <a:solidFill>
                  <a:schemeClr val="lt1"/>
                </a:solidFill>
                <a:latin typeface="Arial"/>
                <a:ea typeface="Arial"/>
                <a:cs typeface="Arial"/>
                <a:sym typeface="Arial"/>
              </a:rPr>
              <a:t>body</a:t>
            </a:r>
            <a:r>
              <a:rPr lang="en-US" sz="2000">
                <a:solidFill>
                  <a:schemeClr val="lt1"/>
                </a:solidFill>
                <a:latin typeface="Arial"/>
                <a:ea typeface="Arial"/>
                <a:cs typeface="Arial"/>
                <a:sym typeface="Arial"/>
              </a:rPr>
              <a:t>&gt; de la página.</a:t>
            </a:r>
            <a:endParaRPr sz="2000">
              <a:solidFill>
                <a:schemeClr val="lt1"/>
              </a:solidFill>
              <a:latin typeface="Arial"/>
              <a:ea typeface="Arial"/>
              <a:cs typeface="Arial"/>
              <a:sym typeface="Arial"/>
            </a:endParaRPr>
          </a:p>
          <a:p>
            <a:pPr indent="0" lvl="0" marL="457200" marR="25239" rtl="0" algn="just">
              <a:lnSpc>
                <a:spcPct val="100000"/>
              </a:lnSpc>
              <a:spcBef>
                <a:spcPts val="165"/>
              </a:spcBef>
              <a:spcAft>
                <a:spcPts val="0"/>
              </a:spcAft>
              <a:buNone/>
            </a:pPr>
            <a:r>
              <a:t/>
            </a:r>
            <a:endParaRPr sz="2000">
              <a:solidFill>
                <a:schemeClr val="lt1"/>
              </a:solidFill>
              <a:latin typeface="Arial"/>
              <a:ea typeface="Arial"/>
              <a:cs typeface="Arial"/>
              <a:sym typeface="Arial"/>
            </a:endParaRPr>
          </a:p>
          <a:p>
            <a:pPr indent="-355600" lvl="0" marL="457200" marR="25239" rtl="0" algn="just">
              <a:lnSpc>
                <a:spcPct val="100000"/>
              </a:lnSpc>
              <a:spcBef>
                <a:spcPts val="0"/>
              </a:spcBef>
              <a:spcAft>
                <a:spcPts val="0"/>
              </a:spcAft>
              <a:buClr>
                <a:schemeClr val="lt1"/>
              </a:buClr>
              <a:buSzPts val="2000"/>
              <a:buFont typeface="Arial"/>
              <a:buAutoNum type="arabicPeriod"/>
            </a:pPr>
            <a:r>
              <a:rPr lang="en-US" sz="2000">
                <a:solidFill>
                  <a:schemeClr val="lt1"/>
                </a:solidFill>
                <a:latin typeface="Arial"/>
                <a:ea typeface="Arial"/>
                <a:cs typeface="Arial"/>
                <a:sym typeface="Arial"/>
              </a:rPr>
              <a:t>Una vez determinada la referencia del posicionamiento absoluto, se realiza la interpretación de las  propiedades top, right, bottom y left.</a:t>
            </a:r>
            <a:endParaRPr sz="2000">
              <a:solidFill>
                <a:schemeClr val="lt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2"/>
          <p:cNvSpPr txBox="1"/>
          <p:nvPr/>
        </p:nvSpPr>
        <p:spPr>
          <a:xfrm>
            <a:off x="1218425" y="1009550"/>
            <a:ext cx="7472100" cy="4671000"/>
          </a:xfrm>
          <a:prstGeom prst="rect">
            <a:avLst/>
          </a:prstGeom>
          <a:noFill/>
          <a:ln>
            <a:noFill/>
          </a:ln>
        </p:spPr>
        <p:txBody>
          <a:bodyPr anchorCtr="0" anchor="t" bIns="0" lIns="0" spcFirstLastPara="1" rIns="0" wrap="square" tIns="13325">
            <a:spAutoFit/>
          </a:bodyPr>
          <a:lstStyle/>
          <a:p>
            <a:pPr indent="-120650" lvl="0" marL="12700" marR="0" rtl="0" algn="just">
              <a:lnSpc>
                <a:spcPct val="100000"/>
              </a:lnSpc>
              <a:spcBef>
                <a:spcPts val="0"/>
              </a:spcBef>
              <a:spcAft>
                <a:spcPts val="0"/>
              </a:spcAft>
              <a:buClr>
                <a:schemeClr val="lt1"/>
              </a:buClr>
              <a:buSzPts val="1900"/>
              <a:buFont typeface="Arial"/>
              <a:buChar char="•"/>
            </a:pPr>
            <a:r>
              <a:rPr lang="en-US" sz="2000">
                <a:solidFill>
                  <a:schemeClr val="lt1"/>
                </a:solidFill>
                <a:latin typeface="Arial"/>
                <a:ea typeface="Arial"/>
                <a:cs typeface="Arial"/>
                <a:sym typeface="Arial"/>
              </a:rPr>
              <a:t>	El valor de la propiedad top indica el desplazamiento desde el borde superior de la caja hasta el borde superior del elemento </a:t>
            </a:r>
            <a:r>
              <a:rPr b="1" lang="en-US" sz="2000">
                <a:solidFill>
                  <a:schemeClr val="lt1"/>
                </a:solidFill>
                <a:latin typeface="Arial"/>
                <a:ea typeface="Arial"/>
                <a:cs typeface="Arial"/>
                <a:sym typeface="Arial"/>
              </a:rPr>
              <a:t>contenedor </a:t>
            </a:r>
            <a:r>
              <a:rPr lang="en-US" sz="2000">
                <a:solidFill>
                  <a:schemeClr val="lt1"/>
                </a:solidFill>
                <a:latin typeface="Arial"/>
                <a:ea typeface="Arial"/>
                <a:cs typeface="Arial"/>
                <a:sym typeface="Arial"/>
              </a:rPr>
              <a:t>que se utiliza como referencia.</a:t>
            </a:r>
            <a:endParaRPr sz="2000">
              <a:solidFill>
                <a:schemeClr val="lt1"/>
              </a:solidFill>
              <a:latin typeface="Arial"/>
              <a:ea typeface="Arial"/>
              <a:cs typeface="Arial"/>
              <a:sym typeface="Arial"/>
            </a:endParaRPr>
          </a:p>
          <a:p>
            <a:pPr indent="0" lvl="0" marL="0" marR="0" rtl="0" algn="just">
              <a:lnSpc>
                <a:spcPct val="100000"/>
              </a:lnSpc>
              <a:spcBef>
                <a:spcPts val="105"/>
              </a:spcBef>
              <a:spcAft>
                <a:spcPts val="0"/>
              </a:spcAft>
              <a:buClr>
                <a:srgbClr val="202429"/>
              </a:buClr>
              <a:buSzPts val="2000"/>
              <a:buFont typeface="Arial"/>
              <a:buNone/>
            </a:pPr>
            <a:r>
              <a:t/>
            </a:r>
            <a:endParaRPr sz="2000">
              <a:solidFill>
                <a:schemeClr val="lt1"/>
              </a:solidFill>
              <a:latin typeface="Arial"/>
              <a:ea typeface="Arial"/>
              <a:cs typeface="Arial"/>
              <a:sym typeface="Arial"/>
            </a:endParaRPr>
          </a:p>
          <a:p>
            <a:pPr indent="-120650" lvl="0" marL="12700" marR="0" rtl="0" algn="just">
              <a:lnSpc>
                <a:spcPct val="100000"/>
              </a:lnSpc>
              <a:spcBef>
                <a:spcPts val="0"/>
              </a:spcBef>
              <a:spcAft>
                <a:spcPts val="0"/>
              </a:spcAft>
              <a:buClr>
                <a:schemeClr val="lt1"/>
              </a:buClr>
              <a:buSzPts val="1900"/>
              <a:buFont typeface="Arial"/>
              <a:buChar char="•"/>
            </a:pPr>
            <a:r>
              <a:rPr lang="en-US" sz="2000">
                <a:solidFill>
                  <a:schemeClr val="lt1"/>
                </a:solidFill>
                <a:latin typeface="Arial"/>
                <a:ea typeface="Arial"/>
                <a:cs typeface="Arial"/>
                <a:sym typeface="Arial"/>
              </a:rPr>
              <a:t>	El valor de la propiedad right indica el desplazamiento desde el borde derecho de la caja hasta el borde derecho del elemento </a:t>
            </a:r>
            <a:r>
              <a:rPr b="1" lang="en-US" sz="2000">
                <a:solidFill>
                  <a:schemeClr val="lt1"/>
                </a:solidFill>
                <a:latin typeface="Arial"/>
                <a:ea typeface="Arial"/>
                <a:cs typeface="Arial"/>
                <a:sym typeface="Arial"/>
              </a:rPr>
              <a:t>contenedor </a:t>
            </a:r>
            <a:r>
              <a:rPr lang="en-US" sz="2000">
                <a:solidFill>
                  <a:schemeClr val="lt1"/>
                </a:solidFill>
                <a:latin typeface="Arial"/>
                <a:ea typeface="Arial"/>
                <a:cs typeface="Arial"/>
                <a:sym typeface="Arial"/>
              </a:rPr>
              <a:t>que se utiliza como referencia.</a:t>
            </a:r>
            <a:endParaRPr sz="2000">
              <a:solidFill>
                <a:schemeClr val="lt1"/>
              </a:solidFill>
              <a:latin typeface="Arial"/>
              <a:ea typeface="Arial"/>
              <a:cs typeface="Arial"/>
              <a:sym typeface="Arial"/>
            </a:endParaRPr>
          </a:p>
          <a:p>
            <a:pPr indent="0" lvl="0" marL="0" marR="0" rtl="0" algn="just">
              <a:lnSpc>
                <a:spcPct val="100000"/>
              </a:lnSpc>
              <a:spcBef>
                <a:spcPts val="100"/>
              </a:spcBef>
              <a:spcAft>
                <a:spcPts val="0"/>
              </a:spcAft>
              <a:buClr>
                <a:srgbClr val="202429"/>
              </a:buClr>
              <a:buSzPts val="2000"/>
              <a:buFont typeface="Arial"/>
              <a:buNone/>
            </a:pPr>
            <a:r>
              <a:t/>
            </a:r>
            <a:endParaRPr sz="2000">
              <a:solidFill>
                <a:schemeClr val="lt1"/>
              </a:solidFill>
              <a:latin typeface="Arial"/>
              <a:ea typeface="Arial"/>
              <a:cs typeface="Arial"/>
              <a:sym typeface="Arial"/>
            </a:endParaRPr>
          </a:p>
          <a:p>
            <a:pPr indent="-120650" lvl="0" marL="12700" marR="0" rtl="0" algn="just">
              <a:lnSpc>
                <a:spcPct val="100000"/>
              </a:lnSpc>
              <a:spcBef>
                <a:spcPts val="0"/>
              </a:spcBef>
              <a:spcAft>
                <a:spcPts val="0"/>
              </a:spcAft>
              <a:buClr>
                <a:schemeClr val="lt1"/>
              </a:buClr>
              <a:buSzPts val="1900"/>
              <a:buFont typeface="Arial"/>
              <a:buChar char="•"/>
            </a:pPr>
            <a:r>
              <a:rPr lang="en-US" sz="2000">
                <a:solidFill>
                  <a:schemeClr val="lt1"/>
                </a:solidFill>
                <a:latin typeface="Arial"/>
                <a:ea typeface="Arial"/>
                <a:cs typeface="Arial"/>
                <a:sym typeface="Arial"/>
              </a:rPr>
              <a:t>	El valor de la propiedad bottom indica el desplazamiento desde el borde inferior de la caja hasta el borde inferior del elemento </a:t>
            </a:r>
            <a:r>
              <a:rPr b="1" lang="en-US" sz="2000">
                <a:solidFill>
                  <a:schemeClr val="lt1"/>
                </a:solidFill>
                <a:latin typeface="Arial"/>
                <a:ea typeface="Arial"/>
                <a:cs typeface="Arial"/>
                <a:sym typeface="Arial"/>
              </a:rPr>
              <a:t>contenedor </a:t>
            </a:r>
            <a:r>
              <a:rPr lang="en-US" sz="2000">
                <a:solidFill>
                  <a:schemeClr val="lt1"/>
                </a:solidFill>
                <a:latin typeface="Arial"/>
                <a:ea typeface="Arial"/>
                <a:cs typeface="Arial"/>
                <a:sym typeface="Arial"/>
              </a:rPr>
              <a:t>que se utiliza como referencia.</a:t>
            </a:r>
            <a:endParaRPr sz="2000">
              <a:solidFill>
                <a:schemeClr val="lt1"/>
              </a:solidFill>
              <a:latin typeface="Arial"/>
              <a:ea typeface="Arial"/>
              <a:cs typeface="Arial"/>
              <a:sym typeface="Arial"/>
            </a:endParaRPr>
          </a:p>
          <a:p>
            <a:pPr indent="0" lvl="0" marL="0" marR="0" rtl="0" algn="just">
              <a:lnSpc>
                <a:spcPct val="100000"/>
              </a:lnSpc>
              <a:spcBef>
                <a:spcPts val="105"/>
              </a:spcBef>
              <a:spcAft>
                <a:spcPts val="0"/>
              </a:spcAft>
              <a:buClr>
                <a:srgbClr val="202429"/>
              </a:buClr>
              <a:buSzPts val="2000"/>
              <a:buFont typeface="Arial"/>
              <a:buNone/>
            </a:pPr>
            <a:r>
              <a:t/>
            </a:r>
            <a:endParaRPr sz="2000">
              <a:solidFill>
                <a:schemeClr val="lt1"/>
              </a:solidFill>
              <a:latin typeface="Arial"/>
              <a:ea typeface="Arial"/>
              <a:cs typeface="Arial"/>
              <a:sym typeface="Arial"/>
            </a:endParaRPr>
          </a:p>
          <a:p>
            <a:pPr indent="-120650" lvl="0" marL="12700" marR="0" rtl="0" algn="just">
              <a:lnSpc>
                <a:spcPct val="100000"/>
              </a:lnSpc>
              <a:spcBef>
                <a:spcPts val="0"/>
              </a:spcBef>
              <a:spcAft>
                <a:spcPts val="0"/>
              </a:spcAft>
              <a:buClr>
                <a:schemeClr val="lt1"/>
              </a:buClr>
              <a:buSzPts val="1900"/>
              <a:buFont typeface="Arial"/>
              <a:buChar char="•"/>
            </a:pPr>
            <a:r>
              <a:rPr lang="en-US" sz="2000">
                <a:solidFill>
                  <a:schemeClr val="lt1"/>
                </a:solidFill>
                <a:latin typeface="Arial"/>
                <a:ea typeface="Arial"/>
                <a:cs typeface="Arial"/>
                <a:sym typeface="Arial"/>
              </a:rPr>
              <a:t>	El valor de la propiedad left indica el desplazamiento desde el borde izquierdo de la caja hasta el borde izquierdo del elemento </a:t>
            </a:r>
            <a:r>
              <a:rPr b="1" lang="en-US" sz="2000">
                <a:solidFill>
                  <a:schemeClr val="lt1"/>
                </a:solidFill>
                <a:latin typeface="Arial"/>
                <a:ea typeface="Arial"/>
                <a:cs typeface="Arial"/>
                <a:sym typeface="Arial"/>
              </a:rPr>
              <a:t>contenedor </a:t>
            </a:r>
            <a:r>
              <a:rPr lang="en-US" sz="2000">
                <a:solidFill>
                  <a:schemeClr val="lt1"/>
                </a:solidFill>
                <a:latin typeface="Arial"/>
                <a:ea typeface="Arial"/>
                <a:cs typeface="Arial"/>
                <a:sym typeface="Arial"/>
              </a:rPr>
              <a:t>que se utiliza como referencia.</a:t>
            </a:r>
            <a:endParaRPr sz="2000">
              <a:solidFill>
                <a:schemeClr val="lt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p43"/>
          <p:cNvPicPr preferRelativeResize="0"/>
          <p:nvPr/>
        </p:nvPicPr>
        <p:blipFill rotWithShape="1">
          <a:blip r:embed="rId3">
            <a:alphaModFix/>
          </a:blip>
          <a:srcRect b="0" l="0" r="0" t="0"/>
          <a:stretch/>
        </p:blipFill>
        <p:spPr>
          <a:xfrm>
            <a:off x="4858511" y="284988"/>
            <a:ext cx="3642360" cy="2970275"/>
          </a:xfrm>
          <a:prstGeom prst="rect">
            <a:avLst/>
          </a:prstGeom>
          <a:noFill/>
          <a:ln>
            <a:noFill/>
          </a:ln>
        </p:spPr>
      </p:pic>
      <p:sp>
        <p:nvSpPr>
          <p:cNvPr id="325" name="Google Shape;325;p43"/>
          <p:cNvSpPr txBox="1"/>
          <p:nvPr>
            <p:ph type="title"/>
          </p:nvPr>
        </p:nvSpPr>
        <p:spPr>
          <a:xfrm>
            <a:off x="1297500" y="525000"/>
            <a:ext cx="7038900" cy="3828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0" lang="en-US">
                <a:latin typeface="Arial"/>
                <a:ea typeface="Arial"/>
                <a:cs typeface="Arial"/>
                <a:sym typeface="Arial"/>
              </a:rPr>
              <a:t>EJEMPLO: </a:t>
            </a:r>
            <a:r>
              <a:rPr b="0" lang="en-US" sz="1800">
                <a:latin typeface="Arial"/>
                <a:ea typeface="Arial"/>
                <a:cs typeface="Arial"/>
                <a:sym typeface="Arial"/>
              </a:rPr>
              <a:t>página original</a:t>
            </a:r>
            <a:endParaRPr sz="1800">
              <a:latin typeface="Arial"/>
              <a:ea typeface="Arial"/>
              <a:cs typeface="Arial"/>
              <a:sym typeface="Arial"/>
            </a:endParaRPr>
          </a:p>
        </p:txBody>
      </p:sp>
      <p:pic>
        <p:nvPicPr>
          <p:cNvPr id="326" name="Google Shape;326;p43"/>
          <p:cNvPicPr preferRelativeResize="0"/>
          <p:nvPr/>
        </p:nvPicPr>
        <p:blipFill rotWithShape="1">
          <a:blip r:embed="rId4">
            <a:alphaModFix/>
          </a:blip>
          <a:srcRect b="0" l="0" r="0" t="0"/>
          <a:stretch/>
        </p:blipFill>
        <p:spPr>
          <a:xfrm>
            <a:off x="858011" y="3572255"/>
            <a:ext cx="7024116" cy="298094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4"/>
          <p:cNvSpPr txBox="1"/>
          <p:nvPr>
            <p:ph type="title"/>
          </p:nvPr>
        </p:nvSpPr>
        <p:spPr>
          <a:xfrm>
            <a:off x="1297500" y="525000"/>
            <a:ext cx="7038900" cy="382800"/>
          </a:xfrm>
          <a:prstGeom prst="rect">
            <a:avLst/>
          </a:prstGeom>
          <a:noFill/>
          <a:ln>
            <a:noFill/>
          </a:ln>
        </p:spPr>
        <p:txBody>
          <a:bodyPr anchorCtr="0" anchor="t" bIns="0" lIns="0" spcFirstLastPara="1" rIns="0" wrap="square" tIns="13325">
            <a:spAutoFit/>
          </a:bodyPr>
          <a:lstStyle/>
          <a:p>
            <a:pPr indent="0" lvl="0" marL="1584325" rtl="0" algn="l">
              <a:lnSpc>
                <a:spcPct val="100000"/>
              </a:lnSpc>
              <a:spcBef>
                <a:spcPts val="0"/>
              </a:spcBef>
              <a:spcAft>
                <a:spcPts val="0"/>
              </a:spcAft>
              <a:buNone/>
            </a:pPr>
            <a:r>
              <a:rPr b="0" lang="en-US">
                <a:latin typeface="Arial"/>
                <a:ea typeface="Arial"/>
                <a:cs typeface="Arial"/>
                <a:sym typeface="Arial"/>
              </a:rPr>
              <a:t>EJEMPLO</a:t>
            </a:r>
            <a:endParaRPr/>
          </a:p>
        </p:txBody>
      </p:sp>
      <p:pic>
        <p:nvPicPr>
          <p:cNvPr id="332" name="Google Shape;332;p44"/>
          <p:cNvPicPr preferRelativeResize="0"/>
          <p:nvPr/>
        </p:nvPicPr>
        <p:blipFill rotWithShape="1">
          <a:blip r:embed="rId3">
            <a:alphaModFix/>
          </a:blip>
          <a:srcRect b="0" l="0" r="0" t="0"/>
          <a:stretch/>
        </p:blipFill>
        <p:spPr>
          <a:xfrm>
            <a:off x="499872" y="1219200"/>
            <a:ext cx="2066543" cy="1152144"/>
          </a:xfrm>
          <a:prstGeom prst="rect">
            <a:avLst/>
          </a:prstGeom>
          <a:noFill/>
          <a:ln>
            <a:noFill/>
          </a:ln>
        </p:spPr>
      </p:pic>
      <p:grpSp>
        <p:nvGrpSpPr>
          <p:cNvPr id="333" name="Google Shape;333;p44"/>
          <p:cNvGrpSpPr/>
          <p:nvPr/>
        </p:nvGrpSpPr>
        <p:grpSpPr>
          <a:xfrm>
            <a:off x="3209544" y="2113787"/>
            <a:ext cx="5858256" cy="3319272"/>
            <a:chOff x="3209544" y="2113787"/>
            <a:chExt cx="5858256" cy="3319272"/>
          </a:xfrm>
        </p:grpSpPr>
        <p:pic>
          <p:nvPicPr>
            <p:cNvPr id="334" name="Google Shape;334;p44"/>
            <p:cNvPicPr preferRelativeResize="0"/>
            <p:nvPr/>
          </p:nvPicPr>
          <p:blipFill rotWithShape="1">
            <a:blip r:embed="rId4">
              <a:alphaModFix/>
            </a:blip>
            <a:srcRect b="0" l="0" r="0" t="0"/>
            <a:stretch/>
          </p:blipFill>
          <p:spPr>
            <a:xfrm>
              <a:off x="3209544" y="2145792"/>
              <a:ext cx="5858256" cy="3287267"/>
            </a:xfrm>
            <a:prstGeom prst="rect">
              <a:avLst/>
            </a:prstGeom>
            <a:noFill/>
            <a:ln>
              <a:noFill/>
            </a:ln>
          </p:spPr>
        </p:pic>
        <p:sp>
          <p:nvSpPr>
            <p:cNvPr id="335" name="Google Shape;335;p44"/>
            <p:cNvSpPr/>
            <p:nvPr/>
          </p:nvSpPr>
          <p:spPr>
            <a:xfrm>
              <a:off x="5350764" y="2113787"/>
              <a:ext cx="669290" cy="1226820"/>
            </a:xfrm>
            <a:custGeom>
              <a:rect b="b" l="l" r="r" t="t"/>
              <a:pathLst>
                <a:path extrusionOk="0" h="1226820" w="669289">
                  <a:moveTo>
                    <a:pt x="668782" y="3429"/>
                  </a:moveTo>
                  <a:lnTo>
                    <a:pt x="661289" y="0"/>
                  </a:lnTo>
                  <a:lnTo>
                    <a:pt x="11303" y="1205103"/>
                  </a:lnTo>
                  <a:lnTo>
                    <a:pt x="8382" y="1163320"/>
                  </a:lnTo>
                  <a:lnTo>
                    <a:pt x="6350" y="1161796"/>
                  </a:lnTo>
                  <a:lnTo>
                    <a:pt x="1778" y="1162050"/>
                  </a:lnTo>
                  <a:lnTo>
                    <a:pt x="0" y="1163955"/>
                  </a:lnTo>
                  <a:lnTo>
                    <a:pt x="4318" y="1226566"/>
                  </a:lnTo>
                  <a:lnTo>
                    <a:pt x="12827" y="1221486"/>
                  </a:lnTo>
                  <a:lnTo>
                    <a:pt x="61214" y="1192149"/>
                  </a:lnTo>
                  <a:lnTo>
                    <a:pt x="61722" y="1189863"/>
                  </a:lnTo>
                  <a:lnTo>
                    <a:pt x="59182" y="1186180"/>
                  </a:lnTo>
                  <a:lnTo>
                    <a:pt x="56515" y="1185672"/>
                  </a:lnTo>
                  <a:lnTo>
                    <a:pt x="18796" y="1208659"/>
                  </a:lnTo>
                  <a:lnTo>
                    <a:pt x="668782" y="3429"/>
                  </a:lnTo>
                  <a:close/>
                </a:path>
              </a:pathLst>
            </a:custGeom>
            <a:solidFill>
              <a:srgbClr val="2CA0B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36" name="Google Shape;336;p44"/>
          <p:cNvSpPr txBox="1"/>
          <p:nvPr/>
        </p:nvSpPr>
        <p:spPr>
          <a:xfrm>
            <a:off x="5002212" y="1740950"/>
            <a:ext cx="3375600" cy="289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chemeClr val="lt2"/>
                </a:solidFill>
                <a:latin typeface="Arial"/>
                <a:ea typeface="Arial"/>
                <a:cs typeface="Arial"/>
                <a:sym typeface="Arial"/>
              </a:rPr>
              <a:t>p Se desplaza</a:t>
            </a:r>
            <a:endParaRPr sz="1800">
              <a:solidFill>
                <a:schemeClr val="lt2"/>
              </a:solidFill>
              <a:latin typeface="Arial"/>
              <a:ea typeface="Arial"/>
              <a:cs typeface="Arial"/>
              <a:sym typeface="Arial"/>
            </a:endParaRPr>
          </a:p>
        </p:txBody>
      </p:sp>
      <p:sp>
        <p:nvSpPr>
          <p:cNvPr id="337" name="Google Shape;337;p44"/>
          <p:cNvSpPr txBox="1"/>
          <p:nvPr/>
        </p:nvSpPr>
        <p:spPr>
          <a:xfrm>
            <a:off x="459740" y="5516067"/>
            <a:ext cx="8334900" cy="9972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solidFill>
                  <a:schemeClr val="lt1"/>
                </a:solidFill>
                <a:latin typeface="Arial"/>
                <a:ea typeface="Arial"/>
                <a:cs typeface="Arial"/>
                <a:sym typeface="Arial"/>
              </a:rPr>
              <a:t>3-Cuando una caja se posiciona de forma absoluta, el resto de elementos de la página la ignoran y </a:t>
            </a:r>
            <a:r>
              <a:rPr lang="en-US" sz="1600">
                <a:solidFill>
                  <a:schemeClr val="lt2"/>
                </a:solidFill>
                <a:latin typeface="Arial"/>
                <a:ea typeface="Arial"/>
                <a:cs typeface="Arial"/>
                <a:sym typeface="Arial"/>
              </a:rPr>
              <a:t>ocupan el lugar original ocupado por la caja posicionada</a:t>
            </a:r>
            <a:r>
              <a:rPr lang="en-US" sz="1600">
                <a:solidFill>
                  <a:schemeClr val="lt1"/>
                </a:solidFill>
                <a:latin typeface="Arial"/>
                <a:ea typeface="Arial"/>
                <a:cs typeface="Arial"/>
                <a:sym typeface="Arial"/>
              </a:rPr>
              <a:t>. El párrafo </a:t>
            </a:r>
            <a:r>
              <a:rPr b="1" lang="en-US" sz="1600">
                <a:solidFill>
                  <a:schemeClr val="lt1"/>
                </a:solidFill>
                <a:latin typeface="Arial"/>
                <a:ea typeface="Arial"/>
                <a:cs typeface="Arial"/>
                <a:sym typeface="Arial"/>
              </a:rPr>
              <a:t>sube </a:t>
            </a:r>
            <a:r>
              <a:rPr lang="en-US" sz="1600">
                <a:solidFill>
                  <a:schemeClr val="lt1"/>
                </a:solidFill>
                <a:latin typeface="Arial"/>
                <a:ea typeface="Arial"/>
                <a:cs typeface="Arial"/>
                <a:sym typeface="Arial"/>
              </a:rPr>
              <a:t>hasta el principio del &lt;div&gt; y se produce un solapamiento con la imagen posicionada que impide ver parte de los contenidos del párrafo</a:t>
            </a:r>
            <a:endParaRPr sz="1600">
              <a:solidFill>
                <a:schemeClr val="lt1"/>
              </a:solidFill>
              <a:latin typeface="Arial"/>
              <a:ea typeface="Arial"/>
              <a:cs typeface="Arial"/>
              <a:sym typeface="Arial"/>
            </a:endParaRPr>
          </a:p>
        </p:txBody>
      </p:sp>
      <p:sp>
        <p:nvSpPr>
          <p:cNvPr id="338" name="Google Shape;338;p44"/>
          <p:cNvSpPr txBox="1"/>
          <p:nvPr/>
        </p:nvSpPr>
        <p:spPr>
          <a:xfrm>
            <a:off x="2697607" y="1171702"/>
            <a:ext cx="5680200" cy="750900"/>
          </a:xfrm>
          <a:prstGeom prst="rect">
            <a:avLst/>
          </a:prstGeom>
          <a:noFill/>
          <a:ln>
            <a:noFill/>
          </a:ln>
        </p:spPr>
        <p:txBody>
          <a:bodyPr anchorCtr="0" anchor="t" bIns="0" lIns="0" spcFirstLastPara="1" rIns="0" wrap="square" tIns="12050">
            <a:spAutoFit/>
          </a:bodyPr>
          <a:lstStyle/>
          <a:p>
            <a:pPr indent="0" lvl="0" marL="12700" marR="5080" rtl="0" algn="just">
              <a:lnSpc>
                <a:spcPct val="100000"/>
              </a:lnSpc>
              <a:spcBef>
                <a:spcPts val="0"/>
              </a:spcBef>
              <a:spcAft>
                <a:spcPts val="0"/>
              </a:spcAft>
              <a:buNone/>
            </a:pPr>
            <a:r>
              <a:rPr lang="en-US" sz="1600">
                <a:solidFill>
                  <a:schemeClr val="lt1"/>
                </a:solidFill>
                <a:latin typeface="Arial"/>
                <a:ea typeface="Arial"/>
                <a:cs typeface="Arial"/>
                <a:sym typeface="Arial"/>
              </a:rPr>
              <a:t>1-Se posiciona de forma </a:t>
            </a:r>
            <a:r>
              <a:rPr b="1" lang="en-US" sz="1600">
                <a:solidFill>
                  <a:schemeClr val="lt1"/>
                </a:solidFill>
                <a:latin typeface="Arial"/>
                <a:ea typeface="Arial"/>
                <a:cs typeface="Arial"/>
                <a:sym typeface="Arial"/>
              </a:rPr>
              <a:t>absoluta </a:t>
            </a:r>
            <a:r>
              <a:rPr lang="en-US" sz="1600">
                <a:solidFill>
                  <a:schemeClr val="lt1"/>
                </a:solidFill>
                <a:latin typeface="Arial"/>
                <a:ea typeface="Arial"/>
                <a:cs typeface="Arial"/>
                <a:sym typeface="Arial"/>
              </a:rPr>
              <a:t>la imagen mediante la propiedad </a:t>
            </a:r>
            <a:r>
              <a:rPr b="1" lang="en-US" sz="1600">
                <a:solidFill>
                  <a:schemeClr val="lt1"/>
                </a:solidFill>
                <a:latin typeface="Arial"/>
                <a:ea typeface="Arial"/>
                <a:cs typeface="Arial"/>
                <a:sym typeface="Arial"/>
              </a:rPr>
              <a:t>position </a:t>
            </a:r>
            <a:r>
              <a:rPr lang="en-US" sz="1600">
                <a:solidFill>
                  <a:schemeClr val="lt1"/>
                </a:solidFill>
                <a:latin typeface="Arial"/>
                <a:ea typeface="Arial"/>
                <a:cs typeface="Arial"/>
                <a:sym typeface="Arial"/>
              </a:rPr>
              <a:t>y se indica su nueva posición mediante las </a:t>
            </a:r>
            <a:r>
              <a:rPr lang="en-US" sz="1600">
                <a:solidFill>
                  <a:schemeClr val="lt1"/>
                </a:solidFill>
              </a:rPr>
              <a:t>propiedades top y left.</a:t>
            </a:r>
            <a:endParaRPr sz="1600">
              <a:solidFill>
                <a:schemeClr val="lt1"/>
              </a:solidFill>
            </a:endParaRPr>
          </a:p>
        </p:txBody>
      </p:sp>
      <p:sp>
        <p:nvSpPr>
          <p:cNvPr id="339" name="Google Shape;339;p44"/>
          <p:cNvSpPr txBox="1"/>
          <p:nvPr/>
        </p:nvSpPr>
        <p:spPr>
          <a:xfrm>
            <a:off x="207975" y="2924682"/>
            <a:ext cx="2823900" cy="1736100"/>
          </a:xfrm>
          <a:prstGeom prst="rect">
            <a:avLst/>
          </a:prstGeom>
          <a:noFill/>
          <a:ln>
            <a:noFill/>
          </a:ln>
        </p:spPr>
        <p:txBody>
          <a:bodyPr anchorCtr="0" anchor="t" bIns="0" lIns="0" spcFirstLastPara="1" rIns="0" wrap="square" tIns="12050">
            <a:spAutoFit/>
          </a:bodyPr>
          <a:lstStyle/>
          <a:p>
            <a:pPr indent="0" lvl="0" marL="12700" marR="45085" rtl="0" algn="just">
              <a:lnSpc>
                <a:spcPct val="100000"/>
              </a:lnSpc>
              <a:spcBef>
                <a:spcPts val="0"/>
              </a:spcBef>
              <a:spcAft>
                <a:spcPts val="0"/>
              </a:spcAft>
              <a:buNone/>
            </a:pPr>
            <a:r>
              <a:rPr lang="en-US" sz="1600">
                <a:solidFill>
                  <a:schemeClr val="lt1"/>
                </a:solidFill>
                <a:latin typeface="Arial"/>
                <a:ea typeface="Arial"/>
                <a:cs typeface="Arial"/>
                <a:sym typeface="Arial"/>
              </a:rPr>
              <a:t>2-La imagen posicionada de forma </a:t>
            </a:r>
            <a:r>
              <a:rPr b="1" lang="en-US" sz="1600">
                <a:solidFill>
                  <a:schemeClr val="lt1"/>
                </a:solidFill>
                <a:latin typeface="Arial"/>
                <a:ea typeface="Arial"/>
                <a:cs typeface="Arial"/>
                <a:sym typeface="Arial"/>
              </a:rPr>
              <a:t>absoluta </a:t>
            </a:r>
            <a:r>
              <a:rPr lang="en-US" sz="1600">
                <a:solidFill>
                  <a:schemeClr val="lt1"/>
                </a:solidFill>
                <a:latin typeface="Arial"/>
                <a:ea typeface="Arial"/>
                <a:cs typeface="Arial"/>
                <a:sym typeface="Arial"/>
              </a:rPr>
              <a:t>no toma como referencia su elemento contenedor &lt;div&gt; sino la </a:t>
            </a:r>
            <a:r>
              <a:rPr b="1" lang="en-US" sz="1600">
                <a:solidFill>
                  <a:schemeClr val="lt1"/>
                </a:solidFill>
                <a:latin typeface="Arial"/>
                <a:ea typeface="Arial"/>
                <a:cs typeface="Arial"/>
                <a:sym typeface="Arial"/>
              </a:rPr>
              <a:t>ventana </a:t>
            </a:r>
            <a:r>
              <a:rPr lang="en-US" sz="1600">
                <a:solidFill>
                  <a:schemeClr val="lt1"/>
                </a:solidFill>
                <a:latin typeface="Arial"/>
                <a:ea typeface="Arial"/>
                <a:cs typeface="Arial"/>
                <a:sym typeface="Arial"/>
              </a:rPr>
              <a:t>del navegador, tal y como demuestra la siguiente imagen:</a:t>
            </a:r>
            <a:endParaRPr sz="1600">
              <a:solidFill>
                <a:schemeClr val="lt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5"/>
          <p:cNvSpPr txBox="1"/>
          <p:nvPr>
            <p:ph type="title"/>
          </p:nvPr>
        </p:nvSpPr>
        <p:spPr>
          <a:xfrm>
            <a:off x="1297500" y="525000"/>
            <a:ext cx="7038900" cy="3828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0" lang="en-US">
                <a:latin typeface="Arial"/>
                <a:ea typeface="Arial"/>
                <a:cs typeface="Arial"/>
                <a:sym typeface="Arial"/>
              </a:rPr>
              <a:t>EJEMPLO</a:t>
            </a:r>
            <a:endParaRPr/>
          </a:p>
        </p:txBody>
      </p:sp>
      <p:sp>
        <p:nvSpPr>
          <p:cNvPr id="345" name="Google Shape;345;p45"/>
          <p:cNvSpPr txBox="1"/>
          <p:nvPr/>
        </p:nvSpPr>
        <p:spPr>
          <a:xfrm>
            <a:off x="5072634" y="869137"/>
            <a:ext cx="3733800" cy="1410900"/>
          </a:xfrm>
          <a:prstGeom prst="rect">
            <a:avLst/>
          </a:prstGeom>
          <a:noFill/>
          <a:ln>
            <a:noFill/>
          </a:ln>
        </p:spPr>
        <p:txBody>
          <a:bodyPr anchorCtr="0" anchor="t" bIns="0" lIns="0" spcFirstLastPara="1" rIns="0" wrap="square" tIns="12700">
            <a:spAutoFit/>
          </a:bodyPr>
          <a:lstStyle/>
          <a:p>
            <a:pPr indent="0" lvl="0" marL="12700" rtl="0" algn="just">
              <a:lnSpc>
                <a:spcPct val="100000"/>
              </a:lnSpc>
              <a:spcBef>
                <a:spcPts val="0"/>
              </a:spcBef>
              <a:spcAft>
                <a:spcPts val="0"/>
              </a:spcAft>
              <a:buNone/>
            </a:pPr>
            <a:r>
              <a:rPr lang="en-US" sz="1800">
                <a:solidFill>
                  <a:schemeClr val="lt1"/>
                </a:solidFill>
                <a:latin typeface="Arial"/>
                <a:ea typeface="Arial"/>
                <a:cs typeface="Arial"/>
                <a:sym typeface="Arial"/>
              </a:rPr>
              <a:t>Ahora el elemento que contiene a la</a:t>
            </a:r>
            <a:endParaRPr sz="1800">
              <a:solidFill>
                <a:schemeClr val="lt1"/>
              </a:solidFill>
              <a:latin typeface="Arial"/>
              <a:ea typeface="Arial"/>
              <a:cs typeface="Arial"/>
              <a:sym typeface="Arial"/>
            </a:endParaRPr>
          </a:p>
          <a:p>
            <a:pPr indent="0" lvl="0" marL="12700" rtl="0" algn="just">
              <a:lnSpc>
                <a:spcPct val="100000"/>
              </a:lnSpc>
              <a:spcBef>
                <a:spcPts val="5"/>
              </a:spcBef>
              <a:spcAft>
                <a:spcPts val="0"/>
              </a:spcAft>
              <a:buNone/>
            </a:pPr>
            <a:r>
              <a:rPr lang="en-US" sz="1800">
                <a:solidFill>
                  <a:schemeClr val="lt1"/>
                </a:solidFill>
                <a:latin typeface="Arial"/>
                <a:ea typeface="Arial"/>
                <a:cs typeface="Arial"/>
                <a:sym typeface="Arial"/>
              </a:rPr>
              <a:t>imagen, es relative </a:t>
            </a:r>
            <a:r>
              <a:rPr lang="en-US" sz="1800">
                <a:solidFill>
                  <a:schemeClr val="lt1"/>
                </a:solidFill>
              </a:rPr>
              <a:t>→</a:t>
            </a:r>
            <a:endParaRPr sz="1800">
              <a:solidFill>
                <a:schemeClr val="lt1"/>
              </a:solidFill>
              <a:latin typeface="Arial"/>
              <a:ea typeface="Arial"/>
              <a:cs typeface="Arial"/>
              <a:sym typeface="Arial"/>
            </a:endParaRPr>
          </a:p>
          <a:p>
            <a:pPr indent="0" lvl="0" marL="12700" marR="5080" rtl="0" algn="just">
              <a:lnSpc>
                <a:spcPct val="100000"/>
              </a:lnSpc>
              <a:spcBef>
                <a:spcPts val="95"/>
              </a:spcBef>
              <a:spcAft>
                <a:spcPts val="0"/>
              </a:spcAft>
              <a:buNone/>
            </a:pPr>
            <a:r>
              <a:rPr lang="en-US" sz="1800">
                <a:solidFill>
                  <a:schemeClr val="lt1"/>
                </a:solidFill>
                <a:latin typeface="Arial"/>
                <a:ea typeface="Arial"/>
                <a:cs typeface="Arial"/>
                <a:sym typeface="Arial"/>
              </a:rPr>
              <a:t>elemento </a:t>
            </a:r>
            <a:r>
              <a:rPr b="1" lang="en-US" sz="1800">
                <a:solidFill>
                  <a:schemeClr val="lt1"/>
                </a:solidFill>
                <a:latin typeface="Arial"/>
                <a:ea typeface="Arial"/>
                <a:cs typeface="Arial"/>
                <a:sym typeface="Arial"/>
              </a:rPr>
              <a:t>contenedor </a:t>
            </a:r>
            <a:r>
              <a:rPr lang="en-US" sz="1800">
                <a:solidFill>
                  <a:schemeClr val="lt1"/>
                </a:solidFill>
                <a:latin typeface="Arial"/>
                <a:ea typeface="Arial"/>
                <a:cs typeface="Arial"/>
                <a:sym typeface="Arial"/>
              </a:rPr>
              <a:t>se </a:t>
            </a:r>
            <a:r>
              <a:rPr b="1" lang="en-US" sz="1800">
                <a:solidFill>
                  <a:schemeClr val="lt1"/>
                </a:solidFill>
                <a:latin typeface="Arial"/>
                <a:ea typeface="Arial"/>
                <a:cs typeface="Arial"/>
                <a:sym typeface="Arial"/>
              </a:rPr>
              <a:t>posiciona </a:t>
            </a:r>
            <a:r>
              <a:rPr lang="en-US" sz="1800">
                <a:solidFill>
                  <a:schemeClr val="lt1"/>
                </a:solidFill>
                <a:latin typeface="Arial"/>
                <a:ea typeface="Arial"/>
                <a:cs typeface="Arial"/>
                <a:sym typeface="Arial"/>
              </a:rPr>
              <a:t>pero </a:t>
            </a:r>
            <a:r>
              <a:rPr b="1" lang="en-US" sz="1800">
                <a:solidFill>
                  <a:schemeClr val="lt1"/>
                </a:solidFill>
                <a:latin typeface="Arial"/>
                <a:ea typeface="Arial"/>
                <a:cs typeface="Arial"/>
                <a:sym typeface="Arial"/>
              </a:rPr>
              <a:t>no se desplaza </a:t>
            </a:r>
            <a:r>
              <a:rPr lang="en-US" sz="1800">
                <a:solidFill>
                  <a:schemeClr val="lt1"/>
                </a:solidFill>
                <a:latin typeface="Arial"/>
                <a:ea typeface="Arial"/>
                <a:cs typeface="Arial"/>
                <a:sym typeface="Arial"/>
              </a:rPr>
              <a:t>respecto de su posición original</a:t>
            </a:r>
            <a:endParaRPr sz="1800">
              <a:solidFill>
                <a:schemeClr val="lt1"/>
              </a:solidFill>
              <a:latin typeface="Arial"/>
              <a:ea typeface="Arial"/>
              <a:cs typeface="Arial"/>
              <a:sym typeface="Arial"/>
            </a:endParaRPr>
          </a:p>
        </p:txBody>
      </p:sp>
      <p:grpSp>
        <p:nvGrpSpPr>
          <p:cNvPr id="346" name="Google Shape;346;p45"/>
          <p:cNvGrpSpPr/>
          <p:nvPr/>
        </p:nvGrpSpPr>
        <p:grpSpPr>
          <a:xfrm>
            <a:off x="499872" y="1357883"/>
            <a:ext cx="8339327" cy="3595115"/>
            <a:chOff x="499872" y="1357883"/>
            <a:chExt cx="8339327" cy="3595115"/>
          </a:xfrm>
        </p:grpSpPr>
        <p:pic>
          <p:nvPicPr>
            <p:cNvPr id="347" name="Google Shape;347;p45"/>
            <p:cNvPicPr preferRelativeResize="0"/>
            <p:nvPr/>
          </p:nvPicPr>
          <p:blipFill rotWithShape="1">
            <a:blip r:embed="rId3">
              <a:alphaModFix/>
            </a:blip>
            <a:srcRect b="0" l="0" r="0" t="0"/>
            <a:stretch/>
          </p:blipFill>
          <p:spPr>
            <a:xfrm>
              <a:off x="499872" y="1638299"/>
              <a:ext cx="2590800" cy="2781300"/>
            </a:xfrm>
            <a:prstGeom prst="rect">
              <a:avLst/>
            </a:prstGeom>
            <a:noFill/>
            <a:ln>
              <a:noFill/>
            </a:ln>
          </p:spPr>
        </p:pic>
        <p:sp>
          <p:nvSpPr>
            <p:cNvPr id="348" name="Google Shape;348;p45"/>
            <p:cNvSpPr/>
            <p:nvPr/>
          </p:nvSpPr>
          <p:spPr>
            <a:xfrm>
              <a:off x="2567939" y="1370837"/>
              <a:ext cx="2482215" cy="1492250"/>
            </a:xfrm>
            <a:custGeom>
              <a:rect b="b" l="l" r="r" t="t"/>
              <a:pathLst>
                <a:path extrusionOk="0" h="1492250" w="2482215">
                  <a:moveTo>
                    <a:pt x="2482215" y="0"/>
                  </a:moveTo>
                  <a:lnTo>
                    <a:pt x="2469515" y="126"/>
                  </a:lnTo>
                  <a:lnTo>
                    <a:pt x="0" y="1481327"/>
                  </a:lnTo>
                  <a:lnTo>
                    <a:pt x="6604" y="1492250"/>
                  </a:lnTo>
                  <a:lnTo>
                    <a:pt x="2475992" y="11175"/>
                  </a:lnTo>
                  <a:lnTo>
                    <a:pt x="2482215" y="0"/>
                  </a:lnTo>
                  <a:close/>
                </a:path>
              </a:pathLst>
            </a:custGeom>
            <a:solidFill>
              <a:srgbClr val="2CA0B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49" name="Google Shape;349;p45"/>
            <p:cNvPicPr preferRelativeResize="0"/>
            <p:nvPr/>
          </p:nvPicPr>
          <p:blipFill rotWithShape="1">
            <a:blip r:embed="rId4">
              <a:alphaModFix/>
            </a:blip>
            <a:srcRect b="0" l="0" r="0" t="0"/>
            <a:stretch/>
          </p:blipFill>
          <p:spPr>
            <a:xfrm>
              <a:off x="4966335" y="1357883"/>
              <a:ext cx="105410" cy="91058"/>
            </a:xfrm>
            <a:prstGeom prst="rect">
              <a:avLst/>
            </a:prstGeom>
            <a:noFill/>
            <a:ln>
              <a:noFill/>
            </a:ln>
          </p:spPr>
        </p:pic>
        <p:pic>
          <p:nvPicPr>
            <p:cNvPr id="350" name="Google Shape;350;p45"/>
            <p:cNvPicPr preferRelativeResize="0"/>
            <p:nvPr/>
          </p:nvPicPr>
          <p:blipFill rotWithShape="1">
            <a:blip r:embed="rId5">
              <a:alphaModFix/>
            </a:blip>
            <a:srcRect b="0" l="0" r="0" t="0"/>
            <a:stretch/>
          </p:blipFill>
          <p:spPr>
            <a:xfrm>
              <a:off x="3410711" y="2336291"/>
              <a:ext cx="5428488" cy="2616707"/>
            </a:xfrm>
            <a:prstGeom prst="rect">
              <a:avLst/>
            </a:prstGeom>
            <a:noFill/>
            <a:ln>
              <a:noFill/>
            </a:ln>
          </p:spPr>
        </p:pic>
      </p:grpSp>
      <p:sp>
        <p:nvSpPr>
          <p:cNvPr id="351" name="Google Shape;351;p45"/>
          <p:cNvSpPr txBox="1"/>
          <p:nvPr/>
        </p:nvSpPr>
        <p:spPr>
          <a:xfrm>
            <a:off x="361289" y="4963159"/>
            <a:ext cx="8411100" cy="1582800"/>
          </a:xfrm>
          <a:prstGeom prst="rect">
            <a:avLst/>
          </a:prstGeom>
          <a:noFill/>
          <a:ln>
            <a:noFill/>
          </a:ln>
        </p:spPr>
        <p:txBody>
          <a:bodyPr anchorCtr="0" anchor="t" bIns="0" lIns="0" spcFirstLastPara="1" rIns="0" wrap="square" tIns="12700">
            <a:spAutoFit/>
          </a:bodyPr>
          <a:lstStyle/>
          <a:p>
            <a:pPr indent="0" lvl="0" marL="12700" marR="271780" rtl="0" algn="just">
              <a:lnSpc>
                <a:spcPct val="100000"/>
              </a:lnSpc>
              <a:spcBef>
                <a:spcPts val="0"/>
              </a:spcBef>
              <a:spcAft>
                <a:spcPts val="0"/>
              </a:spcAft>
              <a:buNone/>
            </a:pPr>
            <a:r>
              <a:rPr lang="en-US" sz="1700">
                <a:solidFill>
                  <a:schemeClr val="lt1"/>
                </a:solidFill>
                <a:latin typeface="Calibri"/>
                <a:ea typeface="Calibri"/>
                <a:cs typeface="Calibri"/>
                <a:sym typeface="Calibri"/>
              </a:rPr>
              <a:t>Elemento contenedor DIV está posicionado → es la referencia para el posicionamiento absoluto. El resultado es muy diferente a la del ejemplo anterior.</a:t>
            </a:r>
            <a:endParaRPr sz="1700">
              <a:solidFill>
                <a:schemeClr val="lt1"/>
              </a:solidFill>
              <a:latin typeface="Calibri"/>
              <a:ea typeface="Calibri"/>
              <a:cs typeface="Calibri"/>
              <a:sym typeface="Calibri"/>
            </a:endParaRPr>
          </a:p>
          <a:p>
            <a:pPr indent="0" lvl="0" marL="12700" marR="911225" rtl="0" algn="just">
              <a:lnSpc>
                <a:spcPct val="100000"/>
              </a:lnSpc>
              <a:spcBef>
                <a:spcPts val="0"/>
              </a:spcBef>
              <a:spcAft>
                <a:spcPts val="0"/>
              </a:spcAft>
              <a:buNone/>
            </a:pPr>
            <a:r>
              <a:rPr lang="en-US" sz="1700">
                <a:solidFill>
                  <a:schemeClr val="lt1"/>
                </a:solidFill>
                <a:latin typeface="Calibri"/>
                <a:ea typeface="Calibri"/>
                <a:cs typeface="Calibri"/>
                <a:sym typeface="Calibri"/>
              </a:rPr>
              <a:t>-Si se quiere posicionar un elemento de forma absoluta respecto de su elemento contenedor → imprescindible posicionar este último.</a:t>
            </a:r>
            <a:endParaRPr sz="1700">
              <a:solidFill>
                <a:schemeClr val="lt1"/>
              </a:solidFill>
              <a:latin typeface="Calibri"/>
              <a:ea typeface="Calibri"/>
              <a:cs typeface="Calibri"/>
              <a:sym typeface="Calibri"/>
            </a:endParaRPr>
          </a:p>
          <a:p>
            <a:pPr indent="0" lvl="0" marL="12700" rtl="0" algn="just">
              <a:lnSpc>
                <a:spcPct val="100000"/>
              </a:lnSpc>
              <a:spcBef>
                <a:spcPts val="0"/>
              </a:spcBef>
              <a:spcAft>
                <a:spcPts val="0"/>
              </a:spcAft>
              <a:buNone/>
            </a:pPr>
            <a:r>
              <a:rPr lang="en-US" sz="1700">
                <a:solidFill>
                  <a:schemeClr val="lt1"/>
                </a:solidFill>
                <a:latin typeface="Calibri"/>
                <a:ea typeface="Calibri"/>
                <a:cs typeface="Calibri"/>
                <a:sym typeface="Calibri"/>
              </a:rPr>
              <a:t>Sólo es necesario añadir la propiedad position: relative, por lo que no es obligatorio desplazar el</a:t>
            </a:r>
            <a:endParaRPr sz="1700">
              <a:solidFill>
                <a:schemeClr val="lt1"/>
              </a:solidFill>
              <a:latin typeface="Calibri"/>
              <a:ea typeface="Calibri"/>
              <a:cs typeface="Calibri"/>
              <a:sym typeface="Calibri"/>
            </a:endParaRPr>
          </a:p>
          <a:p>
            <a:pPr indent="0" lvl="0" marL="12700" rtl="0" algn="just">
              <a:lnSpc>
                <a:spcPct val="100000"/>
              </a:lnSpc>
              <a:spcBef>
                <a:spcPts val="0"/>
              </a:spcBef>
              <a:spcAft>
                <a:spcPts val="0"/>
              </a:spcAft>
              <a:buNone/>
            </a:pPr>
            <a:r>
              <a:rPr lang="en-US" sz="1700">
                <a:solidFill>
                  <a:schemeClr val="lt1"/>
                </a:solidFill>
                <a:latin typeface="Calibri"/>
                <a:ea typeface="Calibri"/>
                <a:cs typeface="Calibri"/>
                <a:sym typeface="Calibri"/>
              </a:rPr>
              <a:t>elemento contenedor respecto de su posición original.</a:t>
            </a:r>
            <a:endParaRPr sz="1700">
              <a:solidFill>
                <a:schemeClr val="lt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6"/>
          <p:cNvSpPr txBox="1"/>
          <p:nvPr/>
        </p:nvSpPr>
        <p:spPr>
          <a:xfrm>
            <a:off x="507300" y="2419350"/>
            <a:ext cx="8334300" cy="3751800"/>
          </a:xfrm>
          <a:prstGeom prst="rect">
            <a:avLst/>
          </a:prstGeom>
          <a:noFill/>
          <a:ln>
            <a:noFill/>
          </a:ln>
        </p:spPr>
        <p:txBody>
          <a:bodyPr anchorCtr="0" anchor="t" bIns="0" lIns="0" spcFirstLastPara="1" rIns="0" wrap="square" tIns="12050">
            <a:spAutoFit/>
          </a:bodyPr>
          <a:lstStyle/>
          <a:p>
            <a:pPr indent="0" lvl="0" marL="12700" marR="0" rtl="0" algn="just">
              <a:lnSpc>
                <a:spcPct val="100000"/>
              </a:lnSpc>
              <a:spcBef>
                <a:spcPts val="0"/>
              </a:spcBef>
              <a:spcAft>
                <a:spcPts val="0"/>
              </a:spcAft>
              <a:buNone/>
            </a:pPr>
            <a:r>
              <a:rPr lang="en-US" sz="2200">
                <a:solidFill>
                  <a:schemeClr val="lt1"/>
                </a:solidFill>
                <a:latin typeface="Arial"/>
                <a:ea typeface="Arial"/>
                <a:cs typeface="Arial"/>
                <a:sym typeface="Arial"/>
              </a:rPr>
              <a:t>El estándar CSS considera que el posicionamiento </a:t>
            </a:r>
            <a:r>
              <a:rPr b="1" lang="en-US" sz="2200">
                <a:solidFill>
                  <a:schemeClr val="lt1"/>
                </a:solidFill>
                <a:latin typeface="Arial"/>
                <a:ea typeface="Arial"/>
                <a:cs typeface="Arial"/>
                <a:sym typeface="Arial"/>
              </a:rPr>
              <a:t>fijo </a:t>
            </a:r>
            <a:r>
              <a:rPr lang="en-US" sz="2200">
                <a:solidFill>
                  <a:schemeClr val="lt1"/>
                </a:solidFill>
                <a:latin typeface="Arial"/>
                <a:ea typeface="Arial"/>
                <a:cs typeface="Arial"/>
                <a:sym typeface="Arial"/>
              </a:rPr>
              <a:t>es un caso </a:t>
            </a:r>
            <a:r>
              <a:rPr b="1" lang="en-US" sz="2200">
                <a:solidFill>
                  <a:schemeClr val="lt1"/>
                </a:solidFill>
                <a:latin typeface="Arial"/>
                <a:ea typeface="Arial"/>
                <a:cs typeface="Arial"/>
                <a:sym typeface="Arial"/>
              </a:rPr>
              <a:t>particular  </a:t>
            </a:r>
            <a:r>
              <a:rPr lang="en-US" sz="2200">
                <a:solidFill>
                  <a:schemeClr val="lt1"/>
                </a:solidFill>
                <a:latin typeface="Arial"/>
                <a:ea typeface="Arial"/>
                <a:cs typeface="Arial"/>
                <a:sym typeface="Arial"/>
              </a:rPr>
              <a:t>del  posicionamiento  </a:t>
            </a:r>
            <a:r>
              <a:rPr b="1" lang="en-US" sz="2200">
                <a:solidFill>
                  <a:schemeClr val="lt1"/>
                </a:solidFill>
                <a:latin typeface="Arial"/>
                <a:ea typeface="Arial"/>
                <a:cs typeface="Arial"/>
                <a:sym typeface="Arial"/>
              </a:rPr>
              <a:t>absoluto</a:t>
            </a:r>
            <a:r>
              <a:rPr lang="en-US" sz="2200">
                <a:solidFill>
                  <a:schemeClr val="lt1"/>
                </a:solidFill>
                <a:latin typeface="Arial"/>
                <a:ea typeface="Arial"/>
                <a:cs typeface="Arial"/>
                <a:sym typeface="Arial"/>
              </a:rPr>
              <a:t>,  ya  que    sólo  se diferencian en el comportamiento de las cajas  posicionadas.</a:t>
            </a:r>
            <a:endParaRPr sz="2200">
              <a:solidFill>
                <a:schemeClr val="lt1"/>
              </a:solidFill>
              <a:latin typeface="Arial"/>
              <a:ea typeface="Arial"/>
              <a:cs typeface="Arial"/>
              <a:sym typeface="Arial"/>
            </a:endParaRPr>
          </a:p>
          <a:p>
            <a:pPr indent="0" lvl="0" marL="0" marR="0" rtl="0" algn="just">
              <a:lnSpc>
                <a:spcPct val="100000"/>
              </a:lnSpc>
              <a:spcBef>
                <a:spcPts val="110"/>
              </a:spcBef>
              <a:spcAft>
                <a:spcPts val="0"/>
              </a:spcAft>
              <a:buNone/>
            </a:pPr>
            <a:r>
              <a:t/>
            </a:r>
            <a:endParaRPr sz="2200">
              <a:solidFill>
                <a:schemeClr val="lt1"/>
              </a:solidFill>
              <a:latin typeface="Arial"/>
              <a:ea typeface="Arial"/>
              <a:cs typeface="Arial"/>
              <a:sym typeface="Arial"/>
            </a:endParaRPr>
          </a:p>
          <a:p>
            <a:pPr indent="0" lvl="0" marL="12700" marR="0" rtl="0" algn="just">
              <a:lnSpc>
                <a:spcPct val="100000"/>
              </a:lnSpc>
              <a:spcBef>
                <a:spcPts val="0"/>
              </a:spcBef>
              <a:spcAft>
                <a:spcPts val="0"/>
              </a:spcAft>
              <a:buNone/>
            </a:pPr>
            <a:r>
              <a:rPr lang="en-US" sz="2200">
                <a:solidFill>
                  <a:schemeClr val="lt1"/>
                </a:solidFill>
                <a:latin typeface="Arial"/>
                <a:ea typeface="Arial"/>
                <a:cs typeface="Arial"/>
                <a:sym typeface="Arial"/>
              </a:rPr>
              <a:t>Cuando una caja se posiciona de forma fija, la forma de obtener el </a:t>
            </a:r>
            <a:r>
              <a:rPr b="1" lang="en-US" sz="2200">
                <a:solidFill>
                  <a:schemeClr val="lt1"/>
                </a:solidFill>
                <a:latin typeface="Arial"/>
                <a:ea typeface="Arial"/>
                <a:cs typeface="Arial"/>
                <a:sym typeface="Arial"/>
              </a:rPr>
              <a:t>origen </a:t>
            </a:r>
            <a:r>
              <a:rPr lang="en-US" sz="2200">
                <a:solidFill>
                  <a:schemeClr val="lt1"/>
                </a:solidFill>
                <a:latin typeface="Arial"/>
                <a:ea typeface="Arial"/>
                <a:cs typeface="Arial"/>
                <a:sym typeface="Arial"/>
              </a:rPr>
              <a:t>de coordenadas para interpretar su  desplazamiento es </a:t>
            </a:r>
            <a:r>
              <a:rPr b="1" lang="en-US" sz="2200">
                <a:solidFill>
                  <a:schemeClr val="lt1"/>
                </a:solidFill>
                <a:latin typeface="Arial"/>
                <a:ea typeface="Arial"/>
                <a:cs typeface="Arial"/>
                <a:sym typeface="Arial"/>
              </a:rPr>
              <a:t>idéntica </a:t>
            </a:r>
            <a:r>
              <a:rPr lang="en-US" sz="2200">
                <a:solidFill>
                  <a:schemeClr val="lt1"/>
                </a:solidFill>
                <a:latin typeface="Arial"/>
                <a:ea typeface="Arial"/>
                <a:cs typeface="Arial"/>
                <a:sym typeface="Arial"/>
              </a:rPr>
              <a:t>al posicionamiento absoluto.</a:t>
            </a:r>
            <a:endParaRPr sz="2200">
              <a:solidFill>
                <a:schemeClr val="lt1"/>
              </a:solidFill>
              <a:latin typeface="Arial"/>
              <a:ea typeface="Arial"/>
              <a:cs typeface="Arial"/>
              <a:sym typeface="Arial"/>
            </a:endParaRPr>
          </a:p>
          <a:p>
            <a:pPr indent="0" lvl="0" marL="12700" marR="0" rtl="0" algn="just">
              <a:lnSpc>
                <a:spcPct val="100000"/>
              </a:lnSpc>
              <a:spcBef>
                <a:spcPts val="5"/>
              </a:spcBef>
              <a:spcAft>
                <a:spcPts val="0"/>
              </a:spcAft>
              <a:buNone/>
            </a:pPr>
            <a:r>
              <a:rPr lang="en-US" sz="2200">
                <a:solidFill>
                  <a:schemeClr val="lt1"/>
                </a:solidFill>
                <a:latin typeface="Arial"/>
                <a:ea typeface="Arial"/>
                <a:cs typeface="Arial"/>
                <a:sym typeface="Arial"/>
              </a:rPr>
              <a:t>De hecho, si el usuario no mueve la página HTML  en la ventana del  navegador,  no  existe  ninguna  diferencia   entre  estos  dos modelos de posicionamiento.</a:t>
            </a:r>
            <a:endParaRPr sz="2200">
              <a:solidFill>
                <a:schemeClr val="lt1"/>
              </a:solidFill>
            </a:endParaRPr>
          </a:p>
          <a:p>
            <a:pPr indent="0" lvl="0" marL="12700" marR="0" rtl="0" algn="just">
              <a:lnSpc>
                <a:spcPct val="100000"/>
              </a:lnSpc>
              <a:spcBef>
                <a:spcPts val="0"/>
              </a:spcBef>
              <a:spcAft>
                <a:spcPts val="0"/>
              </a:spcAft>
              <a:buNone/>
            </a:pPr>
            <a:r>
              <a:t/>
            </a:r>
            <a:endParaRPr sz="2200">
              <a:solidFill>
                <a:schemeClr val="lt1"/>
              </a:solidFill>
              <a:latin typeface="Arial"/>
              <a:ea typeface="Arial"/>
              <a:cs typeface="Arial"/>
              <a:sym typeface="Arial"/>
            </a:endParaRPr>
          </a:p>
        </p:txBody>
      </p:sp>
      <p:sp>
        <p:nvSpPr>
          <p:cNvPr id="357" name="Google Shape;357;p46"/>
          <p:cNvSpPr txBox="1"/>
          <p:nvPr>
            <p:ph type="title"/>
          </p:nvPr>
        </p:nvSpPr>
        <p:spPr>
          <a:xfrm>
            <a:off x="1297500" y="525000"/>
            <a:ext cx="7038900" cy="628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000"/>
              <a:t>Posicionamiento fijo</a:t>
            </a:r>
            <a:endParaRPr sz="4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7"/>
          <p:cNvSpPr txBox="1"/>
          <p:nvPr>
            <p:ph type="title"/>
          </p:nvPr>
        </p:nvSpPr>
        <p:spPr>
          <a:xfrm>
            <a:off x="1297500" y="525000"/>
            <a:ext cx="7038900" cy="628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000"/>
              <a:t>Posicionamiento fijo</a:t>
            </a:r>
            <a:endParaRPr sz="4000"/>
          </a:p>
        </p:txBody>
      </p:sp>
      <p:sp>
        <p:nvSpPr>
          <p:cNvPr id="363" name="Google Shape;363;p47"/>
          <p:cNvSpPr txBox="1"/>
          <p:nvPr/>
        </p:nvSpPr>
        <p:spPr>
          <a:xfrm>
            <a:off x="1200150" y="2025150"/>
            <a:ext cx="7689600" cy="4184100"/>
          </a:xfrm>
          <a:prstGeom prst="rect">
            <a:avLst/>
          </a:prstGeom>
          <a:noFill/>
          <a:ln>
            <a:noFill/>
          </a:ln>
        </p:spPr>
        <p:txBody>
          <a:bodyPr anchorCtr="0" anchor="t" bIns="0" lIns="0" spcFirstLastPara="1" rIns="0" wrap="square" tIns="12700">
            <a:spAutoFit/>
          </a:bodyPr>
          <a:lstStyle/>
          <a:p>
            <a:pPr indent="0" lvl="0" marL="12700" marR="0" rtl="0" algn="just">
              <a:spcBef>
                <a:spcPts val="0"/>
              </a:spcBef>
              <a:spcAft>
                <a:spcPts val="0"/>
              </a:spcAft>
              <a:buNone/>
            </a:pPr>
            <a:r>
              <a:rPr lang="en-US" sz="2200">
                <a:solidFill>
                  <a:schemeClr val="lt1"/>
                </a:solidFill>
              </a:rPr>
              <a:t>La principal característica de una caja posicionada de  forma fija es que su </a:t>
            </a:r>
            <a:r>
              <a:rPr b="1" lang="en-US" sz="2200">
                <a:solidFill>
                  <a:schemeClr val="lt1"/>
                </a:solidFill>
              </a:rPr>
              <a:t>posición es inamovible </a:t>
            </a:r>
            <a:r>
              <a:rPr lang="en-US" sz="2200">
                <a:solidFill>
                  <a:schemeClr val="lt1"/>
                </a:solidFill>
              </a:rPr>
              <a:t>dentro de la  ventana del navegador. El	posicionamiento fijo hace que las cajas </a:t>
            </a:r>
            <a:r>
              <a:rPr b="1" lang="en-US" sz="2200">
                <a:solidFill>
                  <a:schemeClr val="lt1"/>
                </a:solidFill>
              </a:rPr>
              <a:t>no modifiquen </a:t>
            </a:r>
            <a:r>
              <a:rPr lang="en-US" sz="2200">
                <a:solidFill>
                  <a:schemeClr val="lt1"/>
                </a:solidFill>
              </a:rPr>
              <a:t>su posición ni aunque el usuario </a:t>
            </a:r>
            <a:r>
              <a:rPr b="1" lang="en-US" sz="2200">
                <a:solidFill>
                  <a:schemeClr val="lt1"/>
                </a:solidFill>
              </a:rPr>
              <a:t>suba o baje </a:t>
            </a:r>
            <a:r>
              <a:rPr lang="en-US" sz="2200">
                <a:solidFill>
                  <a:schemeClr val="lt1"/>
                </a:solidFill>
              </a:rPr>
              <a:t>la página en la ventana de su navegador.</a:t>
            </a:r>
            <a:endParaRPr sz="2200">
              <a:solidFill>
                <a:schemeClr val="lt1"/>
              </a:solidFill>
            </a:endParaRPr>
          </a:p>
          <a:p>
            <a:pPr indent="0" lvl="0" marL="0" marR="19050" rtl="0" algn="just">
              <a:lnSpc>
                <a:spcPct val="100000"/>
              </a:lnSpc>
              <a:spcBef>
                <a:spcPts val="0"/>
              </a:spcBef>
              <a:spcAft>
                <a:spcPts val="0"/>
              </a:spcAft>
              <a:buNone/>
            </a:pPr>
            <a:r>
              <a:t/>
            </a:r>
            <a:endParaRPr sz="2300">
              <a:solidFill>
                <a:schemeClr val="lt1"/>
              </a:solidFill>
            </a:endParaRPr>
          </a:p>
          <a:p>
            <a:pPr indent="0" lvl="0" marL="12700" marR="19050" rtl="0" algn="just">
              <a:lnSpc>
                <a:spcPct val="100000"/>
              </a:lnSpc>
              <a:spcBef>
                <a:spcPts val="0"/>
              </a:spcBef>
              <a:spcAft>
                <a:spcPts val="0"/>
              </a:spcAft>
              <a:buNone/>
            </a:pPr>
            <a:r>
              <a:rPr lang="en-US" sz="2300">
                <a:solidFill>
                  <a:schemeClr val="lt1"/>
                </a:solidFill>
                <a:latin typeface="Arial"/>
                <a:ea typeface="Arial"/>
                <a:cs typeface="Arial"/>
                <a:sym typeface="Arial"/>
              </a:rPr>
              <a:t>Si la página se visualiza en un</a:t>
            </a:r>
            <a:r>
              <a:rPr lang="en-US" sz="2300">
                <a:solidFill>
                  <a:schemeClr val="lt1"/>
                </a:solidFill>
              </a:rPr>
              <a:t> </a:t>
            </a:r>
            <a:r>
              <a:rPr lang="en-US" sz="2300">
                <a:solidFill>
                  <a:schemeClr val="lt1"/>
                </a:solidFill>
                <a:latin typeface="Arial"/>
                <a:ea typeface="Arial"/>
                <a:cs typeface="Arial"/>
                <a:sym typeface="Arial"/>
              </a:rPr>
              <a:t>medio </a:t>
            </a:r>
            <a:r>
              <a:rPr b="1" lang="en-US" sz="2300">
                <a:solidFill>
                  <a:schemeClr val="lt1"/>
                </a:solidFill>
                <a:latin typeface="Arial"/>
                <a:ea typeface="Arial"/>
                <a:cs typeface="Arial"/>
                <a:sym typeface="Arial"/>
              </a:rPr>
              <a:t>paginado </a:t>
            </a:r>
            <a:r>
              <a:rPr lang="en-US" sz="2300">
                <a:solidFill>
                  <a:schemeClr val="lt1"/>
                </a:solidFill>
                <a:latin typeface="Arial"/>
                <a:ea typeface="Arial"/>
                <a:cs typeface="Arial"/>
                <a:sym typeface="Arial"/>
              </a:rPr>
              <a:t>(por ejemplo en una impresora) las cajas posicionadas de forma fija se repiten en todas las páginas.</a:t>
            </a:r>
            <a:endParaRPr sz="2300">
              <a:solidFill>
                <a:schemeClr val="lt1"/>
              </a:solidFill>
              <a:latin typeface="Arial"/>
              <a:ea typeface="Arial"/>
              <a:cs typeface="Arial"/>
              <a:sym typeface="Arial"/>
            </a:endParaRPr>
          </a:p>
          <a:p>
            <a:pPr indent="0" lvl="0" marL="12700" marR="19050" rtl="0" algn="just">
              <a:lnSpc>
                <a:spcPct val="100000"/>
              </a:lnSpc>
              <a:spcBef>
                <a:spcPts val="0"/>
              </a:spcBef>
              <a:spcAft>
                <a:spcPts val="0"/>
              </a:spcAft>
              <a:buNone/>
            </a:pPr>
            <a:r>
              <a:rPr lang="en-US" sz="2300">
                <a:solidFill>
                  <a:schemeClr val="lt1"/>
                </a:solidFill>
                <a:latin typeface="Arial"/>
                <a:ea typeface="Arial"/>
                <a:cs typeface="Arial"/>
                <a:sym typeface="Arial"/>
              </a:rPr>
              <a:t>Esta característica puede ser útil para crear </a:t>
            </a:r>
            <a:r>
              <a:rPr b="1" lang="en-US" sz="2300">
                <a:solidFill>
                  <a:schemeClr val="lt1"/>
                </a:solidFill>
                <a:latin typeface="Arial"/>
                <a:ea typeface="Arial"/>
                <a:cs typeface="Arial"/>
                <a:sym typeface="Arial"/>
              </a:rPr>
              <a:t>encabezados o pies de página </a:t>
            </a:r>
            <a:r>
              <a:rPr lang="en-US" sz="2300">
                <a:solidFill>
                  <a:schemeClr val="lt1"/>
                </a:solidFill>
                <a:latin typeface="Arial"/>
                <a:ea typeface="Arial"/>
                <a:cs typeface="Arial"/>
                <a:sym typeface="Arial"/>
              </a:rPr>
              <a:t>en páginas HTML preparadas para imprimir.</a:t>
            </a:r>
            <a:endParaRPr sz="2300">
              <a:solidFill>
                <a:schemeClr val="lt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8"/>
          <p:cNvSpPr txBox="1"/>
          <p:nvPr>
            <p:ph type="title"/>
          </p:nvPr>
        </p:nvSpPr>
        <p:spPr>
          <a:xfrm>
            <a:off x="1297500" y="525000"/>
            <a:ext cx="7038900" cy="628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000"/>
              <a:t>Posicionamiento Sticky</a:t>
            </a:r>
            <a:endParaRPr sz="4000"/>
          </a:p>
        </p:txBody>
      </p:sp>
      <p:sp>
        <p:nvSpPr>
          <p:cNvPr id="369" name="Google Shape;369;p48"/>
          <p:cNvSpPr txBox="1"/>
          <p:nvPr/>
        </p:nvSpPr>
        <p:spPr>
          <a:xfrm>
            <a:off x="1200150" y="1752600"/>
            <a:ext cx="7689600" cy="3522300"/>
          </a:xfrm>
          <a:prstGeom prst="rect">
            <a:avLst/>
          </a:prstGeom>
          <a:noFill/>
          <a:ln>
            <a:noFill/>
          </a:ln>
        </p:spPr>
        <p:txBody>
          <a:bodyPr anchorCtr="0" anchor="t" bIns="0" lIns="0" spcFirstLastPara="1" rIns="0" wrap="square" tIns="12700">
            <a:spAutoFit/>
          </a:bodyPr>
          <a:lstStyle/>
          <a:p>
            <a:pPr indent="0" lvl="0" marL="12700" marR="19050" rtl="0" algn="just">
              <a:lnSpc>
                <a:spcPct val="100000"/>
              </a:lnSpc>
              <a:spcBef>
                <a:spcPts val="0"/>
              </a:spcBef>
              <a:spcAft>
                <a:spcPts val="0"/>
              </a:spcAft>
              <a:buNone/>
            </a:pPr>
            <a:r>
              <a:rPr lang="en-US" sz="2300">
                <a:solidFill>
                  <a:schemeClr val="lt1"/>
                </a:solidFill>
              </a:rPr>
              <a:t>Incluido en CSS3 en el último trimestre de 2022, el posicionamiento sticky puede considerarse un híbrido de los posicionamientos relativo y fijo. </a:t>
            </a:r>
            <a:endParaRPr sz="2300">
              <a:solidFill>
                <a:schemeClr val="lt1"/>
              </a:solidFill>
            </a:endParaRPr>
          </a:p>
          <a:p>
            <a:pPr indent="0" lvl="0" marL="12700" marR="19050" rtl="0" algn="just">
              <a:lnSpc>
                <a:spcPct val="100000"/>
              </a:lnSpc>
              <a:spcBef>
                <a:spcPts val="0"/>
              </a:spcBef>
              <a:spcAft>
                <a:spcPts val="0"/>
              </a:spcAft>
              <a:buNone/>
            </a:pPr>
            <a:r>
              <a:t/>
            </a:r>
            <a:endParaRPr sz="2300">
              <a:solidFill>
                <a:schemeClr val="lt1"/>
              </a:solidFill>
            </a:endParaRPr>
          </a:p>
          <a:p>
            <a:pPr indent="0" lvl="0" marL="12700" marR="19050" rtl="0" algn="just">
              <a:lnSpc>
                <a:spcPct val="100000"/>
              </a:lnSpc>
              <a:spcBef>
                <a:spcPts val="0"/>
              </a:spcBef>
              <a:spcAft>
                <a:spcPts val="0"/>
              </a:spcAft>
              <a:buNone/>
            </a:pPr>
            <a:r>
              <a:rPr lang="en-US" sz="2300">
                <a:solidFill>
                  <a:schemeClr val="lt1"/>
                </a:solidFill>
              </a:rPr>
              <a:t>Un elemento con posicionamiento sticky es tratado como un elemento posicionado relativamente hasta que cruza un umbral especificado, en cuyo punto se trata como fijo hasta que alcanza el límite de su padre.</a:t>
            </a:r>
            <a:endParaRPr sz="2300">
              <a:solidFill>
                <a:schemeClr val="lt1"/>
              </a:solidFill>
            </a:endParaRPr>
          </a:p>
          <a:p>
            <a:pPr indent="0" lvl="0" marL="12700" marR="19050" rtl="0" algn="just">
              <a:lnSpc>
                <a:spcPct val="100000"/>
              </a:lnSpc>
              <a:spcBef>
                <a:spcPts val="0"/>
              </a:spcBef>
              <a:spcAft>
                <a:spcPts val="0"/>
              </a:spcAft>
              <a:buNone/>
            </a:pPr>
            <a:r>
              <a:t/>
            </a:r>
            <a:endParaRPr sz="2200">
              <a:solidFill>
                <a:schemeClr val="lt1"/>
              </a:solidFill>
            </a:endParaRPr>
          </a:p>
          <a:p>
            <a:pPr indent="0" lvl="0" marL="12700" marR="19050" rtl="0" algn="just">
              <a:lnSpc>
                <a:spcPct val="100000"/>
              </a:lnSpc>
              <a:spcBef>
                <a:spcPts val="0"/>
              </a:spcBef>
              <a:spcAft>
                <a:spcPts val="0"/>
              </a:spcAft>
              <a:buNone/>
            </a:pPr>
            <a:r>
              <a:t/>
            </a:r>
            <a:endParaRPr sz="2200">
              <a:solidFill>
                <a:schemeClr val="lt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9"/>
          <p:cNvSpPr txBox="1"/>
          <p:nvPr>
            <p:ph type="title"/>
          </p:nvPr>
        </p:nvSpPr>
        <p:spPr>
          <a:xfrm>
            <a:off x="1297500" y="525000"/>
            <a:ext cx="7038900" cy="628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000"/>
              <a:t>Posicionamiento Sticky</a:t>
            </a:r>
            <a:endParaRPr sz="4000"/>
          </a:p>
        </p:txBody>
      </p:sp>
      <p:sp>
        <p:nvSpPr>
          <p:cNvPr id="375" name="Google Shape;375;p49"/>
          <p:cNvSpPr txBox="1"/>
          <p:nvPr/>
        </p:nvSpPr>
        <p:spPr>
          <a:xfrm>
            <a:off x="972150" y="4019550"/>
            <a:ext cx="7689600" cy="1782900"/>
          </a:xfrm>
          <a:prstGeom prst="rect">
            <a:avLst/>
          </a:prstGeom>
          <a:noFill/>
          <a:ln>
            <a:noFill/>
          </a:ln>
        </p:spPr>
        <p:txBody>
          <a:bodyPr anchorCtr="0" anchor="t" bIns="0" lIns="0" spcFirstLastPara="1" rIns="0" wrap="square" tIns="12700">
            <a:spAutoFit/>
          </a:bodyPr>
          <a:lstStyle/>
          <a:p>
            <a:pPr indent="0" lvl="0" marL="12700" marR="19050" rtl="0" algn="just">
              <a:lnSpc>
                <a:spcPct val="100000"/>
              </a:lnSpc>
              <a:spcBef>
                <a:spcPts val="0"/>
              </a:spcBef>
              <a:spcAft>
                <a:spcPts val="0"/>
              </a:spcAft>
              <a:buNone/>
            </a:pPr>
            <a:r>
              <a:rPr lang="en-US" sz="2300">
                <a:solidFill>
                  <a:schemeClr val="lt1"/>
                </a:solidFill>
              </a:rPr>
              <a:t>En este ejemplo se posicionaría el elemento con id </a:t>
            </a:r>
            <a:r>
              <a:rPr i="1" lang="en-US" sz="2300">
                <a:solidFill>
                  <a:schemeClr val="lt2"/>
                </a:solidFill>
              </a:rPr>
              <a:t>one </a:t>
            </a:r>
            <a:r>
              <a:rPr lang="en-US" sz="2300">
                <a:solidFill>
                  <a:schemeClr val="lt1"/>
                </a:solidFill>
              </a:rPr>
              <a:t>relativamente hasta que el viewport sea desplazado de manera tal que el elemento esté a menos de 10 píxeles del límite superior. Más allá de ese umbral, el elemento sería fijado a 10 píxeles del límite superior.</a:t>
            </a:r>
            <a:endParaRPr sz="2200">
              <a:solidFill>
                <a:schemeClr val="lt1"/>
              </a:solidFill>
            </a:endParaRPr>
          </a:p>
        </p:txBody>
      </p:sp>
      <p:sp>
        <p:nvSpPr>
          <p:cNvPr id="376" name="Google Shape;376;p49"/>
          <p:cNvSpPr txBox="1"/>
          <p:nvPr/>
        </p:nvSpPr>
        <p:spPr>
          <a:xfrm>
            <a:off x="3228900" y="1843500"/>
            <a:ext cx="2686200" cy="18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a:solidFill>
                  <a:srgbClr val="9900FF"/>
                </a:solidFill>
                <a:latin typeface="Lato"/>
                <a:ea typeface="Lato"/>
                <a:cs typeface="Lato"/>
                <a:sym typeface="Lato"/>
              </a:rPr>
              <a:t>#one </a:t>
            </a:r>
            <a:r>
              <a:rPr lang="en-US" sz="2300">
                <a:solidFill>
                  <a:schemeClr val="lt1"/>
                </a:solidFill>
                <a:latin typeface="Lato"/>
                <a:ea typeface="Lato"/>
                <a:cs typeface="Lato"/>
                <a:sym typeface="Lato"/>
              </a:rPr>
              <a:t>{</a:t>
            </a:r>
            <a:endParaRPr sz="2300">
              <a:solidFill>
                <a:schemeClr val="lt1"/>
              </a:solidFill>
              <a:latin typeface="Lato"/>
              <a:ea typeface="Lato"/>
              <a:cs typeface="Lato"/>
              <a:sym typeface="Lato"/>
            </a:endParaRPr>
          </a:p>
          <a:p>
            <a:pPr indent="0" lvl="0" marL="0" rtl="0" algn="l">
              <a:spcBef>
                <a:spcPts val="0"/>
              </a:spcBef>
              <a:spcAft>
                <a:spcPts val="0"/>
              </a:spcAft>
              <a:buNone/>
            </a:pPr>
            <a:r>
              <a:rPr lang="en-US" sz="2300">
                <a:solidFill>
                  <a:srgbClr val="9900FF"/>
                </a:solidFill>
                <a:latin typeface="Lato"/>
                <a:ea typeface="Lato"/>
                <a:cs typeface="Lato"/>
                <a:sym typeface="Lato"/>
              </a:rPr>
              <a:t>	</a:t>
            </a:r>
            <a:r>
              <a:rPr lang="en-US" sz="2300">
                <a:solidFill>
                  <a:srgbClr val="FF0000"/>
                </a:solidFill>
                <a:latin typeface="Lato"/>
                <a:ea typeface="Lato"/>
                <a:cs typeface="Lato"/>
                <a:sym typeface="Lato"/>
              </a:rPr>
              <a:t>position:</a:t>
            </a:r>
            <a:r>
              <a:rPr lang="en-US" sz="2300">
                <a:solidFill>
                  <a:srgbClr val="9900FF"/>
                </a:solidFill>
                <a:latin typeface="Lato"/>
                <a:ea typeface="Lato"/>
                <a:cs typeface="Lato"/>
                <a:sym typeface="Lato"/>
              </a:rPr>
              <a:t> </a:t>
            </a:r>
            <a:r>
              <a:rPr lang="en-US" sz="2300">
                <a:solidFill>
                  <a:schemeClr val="lt1"/>
                </a:solidFill>
                <a:latin typeface="Lato"/>
                <a:ea typeface="Lato"/>
                <a:cs typeface="Lato"/>
                <a:sym typeface="Lato"/>
              </a:rPr>
              <a:t>sticky;</a:t>
            </a:r>
            <a:endParaRPr sz="2300">
              <a:solidFill>
                <a:schemeClr val="lt1"/>
              </a:solidFill>
              <a:latin typeface="Lato"/>
              <a:ea typeface="Lato"/>
              <a:cs typeface="Lato"/>
              <a:sym typeface="Lato"/>
            </a:endParaRPr>
          </a:p>
          <a:p>
            <a:pPr indent="0" lvl="0" marL="0" rtl="0" algn="l">
              <a:spcBef>
                <a:spcPts val="0"/>
              </a:spcBef>
              <a:spcAft>
                <a:spcPts val="0"/>
              </a:spcAft>
              <a:buNone/>
            </a:pPr>
            <a:r>
              <a:rPr lang="en-US" sz="2300">
                <a:solidFill>
                  <a:srgbClr val="9900FF"/>
                </a:solidFill>
                <a:latin typeface="Lato"/>
                <a:ea typeface="Lato"/>
                <a:cs typeface="Lato"/>
                <a:sym typeface="Lato"/>
              </a:rPr>
              <a:t>	</a:t>
            </a:r>
            <a:r>
              <a:rPr lang="en-US" sz="2300">
                <a:solidFill>
                  <a:srgbClr val="FF0000"/>
                </a:solidFill>
                <a:latin typeface="Lato"/>
                <a:ea typeface="Lato"/>
                <a:cs typeface="Lato"/>
                <a:sym typeface="Lato"/>
              </a:rPr>
              <a:t>top: </a:t>
            </a:r>
            <a:r>
              <a:rPr lang="en-US" sz="2300">
                <a:solidFill>
                  <a:schemeClr val="lt1"/>
                </a:solidFill>
                <a:latin typeface="Lato"/>
                <a:ea typeface="Lato"/>
                <a:cs typeface="Lato"/>
                <a:sym typeface="Lato"/>
              </a:rPr>
              <a:t>10px;</a:t>
            </a:r>
            <a:endParaRPr sz="2300">
              <a:solidFill>
                <a:schemeClr val="lt1"/>
              </a:solidFill>
              <a:latin typeface="Lato"/>
              <a:ea typeface="Lato"/>
              <a:cs typeface="Lato"/>
              <a:sym typeface="Lato"/>
            </a:endParaRPr>
          </a:p>
          <a:p>
            <a:pPr indent="0" lvl="0" marL="0" rtl="0" algn="l">
              <a:spcBef>
                <a:spcPts val="0"/>
              </a:spcBef>
              <a:spcAft>
                <a:spcPts val="0"/>
              </a:spcAft>
              <a:buNone/>
            </a:pPr>
            <a:r>
              <a:rPr lang="en-US" sz="2300">
                <a:solidFill>
                  <a:schemeClr val="lt1"/>
                </a:solidFill>
                <a:latin typeface="Lato"/>
                <a:ea typeface="Lato"/>
                <a:cs typeface="Lato"/>
                <a:sym typeface="Lato"/>
              </a:rPr>
              <a:t>}</a:t>
            </a:r>
            <a:endParaRPr sz="2300">
              <a:solidFill>
                <a:schemeClr val="lt1"/>
              </a:solidFill>
              <a:latin typeface="Lato"/>
              <a:ea typeface="Lato"/>
              <a:cs typeface="Lato"/>
              <a:sym typeface="La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0"/>
          <p:cNvSpPr txBox="1"/>
          <p:nvPr/>
        </p:nvSpPr>
        <p:spPr>
          <a:xfrm>
            <a:off x="1281588" y="1478503"/>
            <a:ext cx="7070700" cy="1860000"/>
          </a:xfrm>
          <a:prstGeom prst="rect">
            <a:avLst/>
          </a:prstGeom>
          <a:noFill/>
          <a:ln>
            <a:noFill/>
          </a:ln>
        </p:spPr>
        <p:txBody>
          <a:bodyPr anchorCtr="0" anchor="t" bIns="0" lIns="0" spcFirstLastPara="1" rIns="0" wrap="square" tIns="12700">
            <a:spAutoFit/>
          </a:bodyPr>
          <a:lstStyle/>
          <a:p>
            <a:pPr indent="0" lvl="0" marL="12700" marR="5080" rtl="0" algn="just">
              <a:lnSpc>
                <a:spcPct val="100000"/>
              </a:lnSpc>
              <a:spcBef>
                <a:spcPts val="0"/>
              </a:spcBef>
              <a:spcAft>
                <a:spcPts val="0"/>
              </a:spcAft>
              <a:buNone/>
            </a:pPr>
            <a:r>
              <a:rPr lang="en-US" sz="2400">
                <a:solidFill>
                  <a:schemeClr val="lt1"/>
                </a:solidFill>
                <a:latin typeface="Arial"/>
                <a:ea typeface="Arial"/>
                <a:cs typeface="Arial"/>
                <a:sym typeface="Arial"/>
              </a:rPr>
              <a:t>El</a:t>
            </a:r>
            <a:r>
              <a:rPr lang="en-US" sz="2400">
                <a:solidFill>
                  <a:schemeClr val="lt1"/>
                </a:solidFill>
              </a:rPr>
              <a:t> </a:t>
            </a:r>
            <a:r>
              <a:rPr lang="en-US" sz="2400">
                <a:solidFill>
                  <a:schemeClr val="lt1"/>
                </a:solidFill>
                <a:latin typeface="Arial"/>
                <a:ea typeface="Arial"/>
                <a:cs typeface="Arial"/>
                <a:sym typeface="Arial"/>
              </a:rPr>
              <a:t>posicionamiento</a:t>
            </a:r>
            <a:r>
              <a:rPr lang="en-US" sz="2400">
                <a:solidFill>
                  <a:schemeClr val="lt1"/>
                </a:solidFill>
              </a:rPr>
              <a:t> </a:t>
            </a:r>
            <a:r>
              <a:rPr lang="en-US" sz="2400">
                <a:solidFill>
                  <a:schemeClr val="lt1"/>
                </a:solidFill>
                <a:latin typeface="Arial"/>
                <a:ea typeface="Arial"/>
                <a:cs typeface="Arial"/>
                <a:sym typeface="Arial"/>
              </a:rPr>
              <a:t>flotante</a:t>
            </a:r>
            <a:r>
              <a:rPr lang="en-US" sz="2400">
                <a:solidFill>
                  <a:schemeClr val="lt1"/>
                </a:solidFill>
              </a:rPr>
              <a:t> </a:t>
            </a:r>
            <a:r>
              <a:rPr lang="en-US" sz="2400">
                <a:solidFill>
                  <a:schemeClr val="lt1"/>
                </a:solidFill>
                <a:latin typeface="Arial"/>
                <a:ea typeface="Arial"/>
                <a:cs typeface="Arial"/>
                <a:sym typeface="Arial"/>
              </a:rPr>
              <a:t>es</a:t>
            </a:r>
            <a:r>
              <a:rPr lang="en-US" sz="2400">
                <a:solidFill>
                  <a:schemeClr val="lt1"/>
                </a:solidFill>
              </a:rPr>
              <a:t> </a:t>
            </a:r>
            <a:r>
              <a:rPr lang="en-US" sz="2400">
                <a:solidFill>
                  <a:schemeClr val="lt1"/>
                </a:solidFill>
                <a:latin typeface="Arial"/>
                <a:ea typeface="Arial"/>
                <a:cs typeface="Arial"/>
                <a:sym typeface="Arial"/>
              </a:rPr>
              <a:t>el</a:t>
            </a:r>
            <a:r>
              <a:rPr lang="en-US" sz="2400">
                <a:solidFill>
                  <a:schemeClr val="lt1"/>
                </a:solidFill>
              </a:rPr>
              <a:t> </a:t>
            </a:r>
            <a:r>
              <a:rPr lang="en-US" sz="2400">
                <a:solidFill>
                  <a:schemeClr val="lt1"/>
                </a:solidFill>
                <a:latin typeface="Arial"/>
                <a:ea typeface="Arial"/>
                <a:cs typeface="Arial"/>
                <a:sym typeface="Arial"/>
              </a:rPr>
              <a:t>más</a:t>
            </a:r>
            <a:r>
              <a:rPr lang="en-US" sz="2400">
                <a:solidFill>
                  <a:schemeClr val="lt1"/>
                </a:solidFill>
              </a:rPr>
              <a:t> </a:t>
            </a:r>
            <a:r>
              <a:rPr lang="en-US" sz="2400">
                <a:solidFill>
                  <a:schemeClr val="lt1"/>
                </a:solidFill>
                <a:latin typeface="Arial"/>
                <a:ea typeface="Arial"/>
                <a:cs typeface="Arial"/>
                <a:sym typeface="Arial"/>
              </a:rPr>
              <a:t>difícil</a:t>
            </a:r>
            <a:r>
              <a:rPr lang="en-US" sz="2400">
                <a:solidFill>
                  <a:schemeClr val="lt1"/>
                </a:solidFill>
              </a:rPr>
              <a:t> </a:t>
            </a:r>
            <a:r>
              <a:rPr lang="en-US" sz="2400">
                <a:solidFill>
                  <a:schemeClr val="lt1"/>
                </a:solidFill>
                <a:latin typeface="Arial"/>
                <a:ea typeface="Arial"/>
                <a:cs typeface="Arial"/>
                <a:sym typeface="Arial"/>
              </a:rPr>
              <a:t>de</a:t>
            </a:r>
            <a:r>
              <a:rPr lang="en-US" sz="2400">
                <a:solidFill>
                  <a:schemeClr val="lt1"/>
                </a:solidFill>
              </a:rPr>
              <a:t> </a:t>
            </a:r>
            <a:r>
              <a:rPr lang="en-US" sz="2400">
                <a:solidFill>
                  <a:schemeClr val="lt1"/>
                </a:solidFill>
                <a:latin typeface="Arial"/>
                <a:ea typeface="Arial"/>
                <a:cs typeface="Arial"/>
                <a:sym typeface="Arial"/>
              </a:rPr>
              <a:t>comprender</a:t>
            </a:r>
            <a:r>
              <a:rPr lang="en-US" sz="2400">
                <a:solidFill>
                  <a:schemeClr val="lt1"/>
                </a:solidFill>
              </a:rPr>
              <a:t> </a:t>
            </a:r>
            <a:r>
              <a:rPr lang="en-US" sz="2400">
                <a:solidFill>
                  <a:schemeClr val="lt1"/>
                </a:solidFill>
                <a:latin typeface="Arial"/>
                <a:ea typeface="Arial"/>
                <a:cs typeface="Arial"/>
                <a:sym typeface="Arial"/>
              </a:rPr>
              <a:t>pero</a:t>
            </a:r>
            <a:r>
              <a:rPr lang="en-US" sz="2400">
                <a:solidFill>
                  <a:schemeClr val="lt1"/>
                </a:solidFill>
              </a:rPr>
              <a:t> </a:t>
            </a:r>
            <a:r>
              <a:rPr lang="en-US" sz="2400">
                <a:solidFill>
                  <a:schemeClr val="lt1"/>
                </a:solidFill>
                <a:latin typeface="Arial"/>
                <a:ea typeface="Arial"/>
                <a:cs typeface="Arial"/>
                <a:sym typeface="Arial"/>
              </a:rPr>
              <a:t>al</a:t>
            </a:r>
            <a:r>
              <a:rPr lang="en-US" sz="2400">
                <a:solidFill>
                  <a:schemeClr val="lt1"/>
                </a:solidFill>
              </a:rPr>
              <a:t> </a:t>
            </a:r>
            <a:r>
              <a:rPr lang="en-US" sz="2400">
                <a:solidFill>
                  <a:schemeClr val="lt1"/>
                </a:solidFill>
                <a:latin typeface="Arial"/>
                <a:ea typeface="Arial"/>
                <a:cs typeface="Arial"/>
                <a:sym typeface="Arial"/>
              </a:rPr>
              <a:t>mismo</a:t>
            </a:r>
            <a:r>
              <a:rPr lang="en-US" sz="2400">
                <a:solidFill>
                  <a:schemeClr val="lt1"/>
                </a:solidFill>
              </a:rPr>
              <a:t> </a:t>
            </a:r>
            <a:r>
              <a:rPr lang="en-US" sz="2400">
                <a:solidFill>
                  <a:schemeClr val="lt1"/>
                </a:solidFill>
                <a:latin typeface="Arial"/>
                <a:ea typeface="Arial"/>
                <a:cs typeface="Arial"/>
                <a:sym typeface="Arial"/>
              </a:rPr>
              <a:t>tiempo</a:t>
            </a:r>
            <a:r>
              <a:rPr lang="en-US" sz="2400">
                <a:solidFill>
                  <a:schemeClr val="lt1"/>
                </a:solidFill>
              </a:rPr>
              <a:t> fue </a:t>
            </a:r>
            <a:r>
              <a:rPr lang="en-US" sz="2400">
                <a:solidFill>
                  <a:schemeClr val="lt1"/>
                </a:solidFill>
                <a:latin typeface="Arial"/>
                <a:ea typeface="Arial"/>
                <a:cs typeface="Arial"/>
                <a:sym typeface="Arial"/>
              </a:rPr>
              <a:t>el</a:t>
            </a:r>
            <a:r>
              <a:rPr lang="en-US" sz="2400">
                <a:solidFill>
                  <a:schemeClr val="lt1"/>
                </a:solidFill>
              </a:rPr>
              <a:t> </a:t>
            </a:r>
            <a:r>
              <a:rPr b="1" lang="en-US" sz="2400">
                <a:solidFill>
                  <a:schemeClr val="lt1"/>
                </a:solidFill>
                <a:latin typeface="Arial"/>
                <a:ea typeface="Arial"/>
                <a:cs typeface="Arial"/>
                <a:sym typeface="Arial"/>
              </a:rPr>
              <a:t>más</a:t>
            </a:r>
            <a:r>
              <a:rPr b="1" lang="en-US" sz="2400">
                <a:solidFill>
                  <a:schemeClr val="lt1"/>
                </a:solidFill>
              </a:rPr>
              <a:t> </a:t>
            </a:r>
            <a:r>
              <a:rPr b="1" lang="en-US" sz="2400">
                <a:solidFill>
                  <a:schemeClr val="lt1"/>
                </a:solidFill>
                <a:latin typeface="Arial"/>
                <a:ea typeface="Arial"/>
                <a:cs typeface="Arial"/>
                <a:sym typeface="Arial"/>
              </a:rPr>
              <a:t>utilizado</a:t>
            </a:r>
            <a:r>
              <a:rPr lang="en-US" sz="2400">
                <a:solidFill>
                  <a:schemeClr val="lt1"/>
                </a:solidFill>
                <a:latin typeface="Arial"/>
                <a:ea typeface="Arial"/>
                <a:cs typeface="Arial"/>
                <a:sym typeface="Arial"/>
              </a:rPr>
              <a:t>.</a:t>
            </a:r>
            <a:r>
              <a:rPr lang="en-US" sz="2400">
                <a:solidFill>
                  <a:schemeClr val="lt1"/>
                </a:solidFill>
              </a:rPr>
              <a:t> </a:t>
            </a:r>
            <a:r>
              <a:rPr lang="en-US" sz="2400">
                <a:solidFill>
                  <a:schemeClr val="lt1"/>
                </a:solidFill>
                <a:latin typeface="Arial"/>
                <a:ea typeface="Arial"/>
                <a:cs typeface="Arial"/>
                <a:sym typeface="Arial"/>
              </a:rPr>
              <a:t>La</a:t>
            </a:r>
            <a:r>
              <a:rPr lang="en-US" sz="2400">
                <a:solidFill>
                  <a:schemeClr val="lt1"/>
                </a:solidFill>
              </a:rPr>
              <a:t> </a:t>
            </a:r>
            <a:r>
              <a:rPr b="1" lang="en-US" sz="2400">
                <a:solidFill>
                  <a:schemeClr val="lt1"/>
                </a:solidFill>
                <a:latin typeface="Arial"/>
                <a:ea typeface="Arial"/>
                <a:cs typeface="Arial"/>
                <a:sym typeface="Arial"/>
              </a:rPr>
              <a:t>mayoría</a:t>
            </a:r>
            <a:r>
              <a:rPr b="1" lang="en-US" sz="2400">
                <a:solidFill>
                  <a:schemeClr val="lt1"/>
                </a:solidFill>
              </a:rPr>
              <a:t> </a:t>
            </a:r>
            <a:r>
              <a:rPr lang="en-US" sz="2400">
                <a:solidFill>
                  <a:schemeClr val="lt1"/>
                </a:solidFill>
                <a:latin typeface="Arial"/>
                <a:ea typeface="Arial"/>
                <a:cs typeface="Arial"/>
                <a:sym typeface="Arial"/>
              </a:rPr>
              <a:t>de</a:t>
            </a:r>
            <a:r>
              <a:rPr lang="en-US" sz="2400">
                <a:solidFill>
                  <a:schemeClr val="lt1"/>
                </a:solidFill>
              </a:rPr>
              <a:t> </a:t>
            </a:r>
            <a:r>
              <a:rPr lang="en-US" sz="2400">
                <a:solidFill>
                  <a:schemeClr val="lt1"/>
                </a:solidFill>
                <a:latin typeface="Arial"/>
                <a:ea typeface="Arial"/>
                <a:cs typeface="Arial"/>
                <a:sym typeface="Arial"/>
              </a:rPr>
              <a:t>estructuras</a:t>
            </a:r>
            <a:r>
              <a:rPr lang="en-US" sz="2400">
                <a:solidFill>
                  <a:schemeClr val="lt1"/>
                </a:solidFill>
              </a:rPr>
              <a:t> </a:t>
            </a:r>
            <a:r>
              <a:rPr lang="en-US" sz="2400">
                <a:solidFill>
                  <a:schemeClr val="lt1"/>
                </a:solidFill>
                <a:latin typeface="Arial"/>
                <a:ea typeface="Arial"/>
                <a:cs typeface="Arial"/>
                <a:sym typeface="Arial"/>
              </a:rPr>
              <a:t>de</a:t>
            </a:r>
            <a:r>
              <a:rPr lang="en-US" sz="2400">
                <a:solidFill>
                  <a:schemeClr val="lt1"/>
                </a:solidFill>
              </a:rPr>
              <a:t> </a:t>
            </a:r>
            <a:r>
              <a:rPr lang="en-US" sz="2400">
                <a:solidFill>
                  <a:schemeClr val="lt1"/>
                </a:solidFill>
                <a:latin typeface="Arial"/>
                <a:ea typeface="Arial"/>
                <a:cs typeface="Arial"/>
                <a:sym typeface="Arial"/>
              </a:rPr>
              <a:t>las</a:t>
            </a:r>
            <a:r>
              <a:rPr lang="en-US" sz="2400">
                <a:solidFill>
                  <a:schemeClr val="lt1"/>
                </a:solidFill>
              </a:rPr>
              <a:t> </a:t>
            </a:r>
            <a:r>
              <a:rPr lang="en-US" sz="2400">
                <a:solidFill>
                  <a:schemeClr val="lt1"/>
                </a:solidFill>
                <a:latin typeface="Arial"/>
                <a:ea typeface="Arial"/>
                <a:cs typeface="Arial"/>
                <a:sym typeface="Arial"/>
              </a:rPr>
              <a:t>páginas</a:t>
            </a:r>
            <a:r>
              <a:rPr lang="en-US" sz="2400">
                <a:solidFill>
                  <a:schemeClr val="lt1"/>
                </a:solidFill>
              </a:rPr>
              <a:t> </a:t>
            </a:r>
            <a:r>
              <a:rPr lang="en-US" sz="2400">
                <a:solidFill>
                  <a:schemeClr val="lt1"/>
                </a:solidFill>
                <a:latin typeface="Arial"/>
                <a:ea typeface="Arial"/>
                <a:cs typeface="Arial"/>
                <a:sym typeface="Arial"/>
              </a:rPr>
              <a:t>web</a:t>
            </a:r>
            <a:r>
              <a:rPr lang="en-US" sz="2400">
                <a:solidFill>
                  <a:schemeClr val="lt1"/>
                </a:solidFill>
              </a:rPr>
              <a:t> </a:t>
            </a:r>
            <a:r>
              <a:rPr lang="en-US" sz="2400">
                <a:solidFill>
                  <a:schemeClr val="lt1"/>
                </a:solidFill>
                <a:latin typeface="Arial"/>
                <a:ea typeface="Arial"/>
                <a:cs typeface="Arial"/>
                <a:sym typeface="Arial"/>
              </a:rPr>
              <a:t>complejas</a:t>
            </a:r>
            <a:r>
              <a:rPr lang="en-US" sz="2400">
                <a:solidFill>
                  <a:schemeClr val="lt1"/>
                </a:solidFill>
              </a:rPr>
              <a:t> </a:t>
            </a:r>
            <a:r>
              <a:rPr lang="en-US" sz="2400">
                <a:solidFill>
                  <a:schemeClr val="lt1"/>
                </a:solidFill>
                <a:latin typeface="Arial"/>
                <a:ea typeface="Arial"/>
                <a:cs typeface="Arial"/>
                <a:sym typeface="Arial"/>
              </a:rPr>
              <a:t>est</a:t>
            </a:r>
            <a:r>
              <a:rPr lang="en-US" sz="2400">
                <a:solidFill>
                  <a:schemeClr val="lt1"/>
                </a:solidFill>
              </a:rPr>
              <a:t>aban </a:t>
            </a:r>
            <a:r>
              <a:rPr lang="en-US" sz="2400">
                <a:solidFill>
                  <a:schemeClr val="lt1"/>
                </a:solidFill>
                <a:latin typeface="Arial"/>
                <a:ea typeface="Arial"/>
                <a:cs typeface="Arial"/>
                <a:sym typeface="Arial"/>
              </a:rPr>
              <a:t>diseñadas</a:t>
            </a:r>
            <a:r>
              <a:rPr lang="en-US" sz="2400">
                <a:solidFill>
                  <a:schemeClr val="lt1"/>
                </a:solidFill>
              </a:rPr>
              <a:t> </a:t>
            </a:r>
            <a:r>
              <a:rPr lang="en-US" sz="2400">
                <a:solidFill>
                  <a:schemeClr val="lt1"/>
                </a:solidFill>
                <a:latin typeface="Arial"/>
                <a:ea typeface="Arial"/>
                <a:cs typeface="Arial"/>
                <a:sym typeface="Arial"/>
              </a:rPr>
              <a:t>con</a:t>
            </a:r>
            <a:r>
              <a:rPr lang="en-US" sz="2400">
                <a:solidFill>
                  <a:schemeClr val="lt1"/>
                </a:solidFill>
              </a:rPr>
              <a:t> </a:t>
            </a:r>
            <a:r>
              <a:rPr lang="en-US" sz="2400">
                <a:solidFill>
                  <a:schemeClr val="lt1"/>
                </a:solidFill>
                <a:latin typeface="Arial"/>
                <a:ea typeface="Arial"/>
                <a:cs typeface="Arial"/>
                <a:sym typeface="Arial"/>
              </a:rPr>
              <a:t>el</a:t>
            </a:r>
            <a:r>
              <a:rPr lang="en-US" sz="2400">
                <a:solidFill>
                  <a:schemeClr val="lt1"/>
                </a:solidFill>
              </a:rPr>
              <a:t> </a:t>
            </a:r>
            <a:r>
              <a:rPr lang="en-US" sz="2400">
                <a:solidFill>
                  <a:schemeClr val="lt1"/>
                </a:solidFill>
                <a:latin typeface="Arial"/>
                <a:ea typeface="Arial"/>
                <a:cs typeface="Arial"/>
                <a:sym typeface="Arial"/>
              </a:rPr>
              <a:t>posicionamiento</a:t>
            </a:r>
            <a:r>
              <a:rPr lang="en-US" sz="2400">
                <a:solidFill>
                  <a:schemeClr val="lt1"/>
                </a:solidFill>
              </a:rPr>
              <a:t> </a:t>
            </a:r>
            <a:r>
              <a:rPr lang="en-US" sz="2400">
                <a:solidFill>
                  <a:schemeClr val="lt1"/>
                </a:solidFill>
                <a:latin typeface="Arial"/>
                <a:ea typeface="Arial"/>
                <a:cs typeface="Arial"/>
                <a:sym typeface="Arial"/>
              </a:rPr>
              <a:t>flotante.</a:t>
            </a:r>
            <a:endParaRPr sz="2400">
              <a:solidFill>
                <a:schemeClr val="lt1"/>
              </a:solidFill>
              <a:latin typeface="Arial"/>
              <a:ea typeface="Arial"/>
              <a:cs typeface="Arial"/>
              <a:sym typeface="Arial"/>
            </a:endParaRPr>
          </a:p>
        </p:txBody>
      </p:sp>
      <p:sp>
        <p:nvSpPr>
          <p:cNvPr id="382" name="Google Shape;382;p50"/>
          <p:cNvSpPr txBox="1"/>
          <p:nvPr>
            <p:ph type="title"/>
          </p:nvPr>
        </p:nvSpPr>
        <p:spPr>
          <a:xfrm>
            <a:off x="1297500" y="525000"/>
            <a:ext cx="7038900" cy="629100"/>
          </a:xfrm>
          <a:prstGeom prst="rect">
            <a:avLst/>
          </a:prstGeom>
          <a:noFill/>
          <a:ln>
            <a:noFill/>
          </a:ln>
        </p:spPr>
        <p:txBody>
          <a:bodyPr anchorCtr="0" anchor="t" bIns="0" lIns="0" spcFirstLastPara="1" rIns="0" wrap="square" tIns="13325">
            <a:spAutoFit/>
          </a:bodyPr>
          <a:lstStyle/>
          <a:p>
            <a:pPr indent="0" lvl="0" marL="0" rtl="0" algn="l">
              <a:lnSpc>
                <a:spcPct val="100000"/>
              </a:lnSpc>
              <a:spcBef>
                <a:spcPts val="0"/>
              </a:spcBef>
              <a:spcAft>
                <a:spcPts val="0"/>
              </a:spcAft>
              <a:buNone/>
            </a:pPr>
            <a:r>
              <a:rPr lang="en-US" sz="4000"/>
              <a:t>Posicionamiento flotante</a:t>
            </a:r>
            <a:endParaRPr sz="4000"/>
          </a:p>
        </p:txBody>
      </p:sp>
      <p:sp>
        <p:nvSpPr>
          <p:cNvPr id="383" name="Google Shape;383;p50"/>
          <p:cNvSpPr txBox="1"/>
          <p:nvPr/>
        </p:nvSpPr>
        <p:spPr>
          <a:xfrm>
            <a:off x="1281610" y="3814416"/>
            <a:ext cx="7070700" cy="2229300"/>
          </a:xfrm>
          <a:prstGeom prst="rect">
            <a:avLst/>
          </a:prstGeom>
          <a:noFill/>
          <a:ln>
            <a:noFill/>
          </a:ln>
        </p:spPr>
        <p:txBody>
          <a:bodyPr anchorCtr="0" anchor="t" bIns="0" lIns="0" spcFirstLastPara="1" rIns="0" wrap="square" tIns="12700">
            <a:spAutoFit/>
          </a:bodyPr>
          <a:lstStyle/>
          <a:p>
            <a:pPr indent="0" lvl="0" marL="12700" marR="5080" rtl="0" algn="just">
              <a:lnSpc>
                <a:spcPct val="100000"/>
              </a:lnSpc>
              <a:spcBef>
                <a:spcPts val="0"/>
              </a:spcBef>
              <a:spcAft>
                <a:spcPts val="0"/>
              </a:spcAft>
              <a:buNone/>
            </a:pPr>
            <a:r>
              <a:rPr lang="en-US" sz="2400">
                <a:solidFill>
                  <a:schemeClr val="lt1"/>
                </a:solidFill>
              </a:rPr>
              <a:t>Cuando una caja </a:t>
            </a:r>
            <a:r>
              <a:rPr lang="en-US" sz="2400">
                <a:solidFill>
                  <a:schemeClr val="lt1"/>
                </a:solidFill>
              </a:rPr>
              <a:t>se posiciona con el modelo de </a:t>
            </a:r>
            <a:r>
              <a:rPr lang="en-US" sz="2400">
                <a:solidFill>
                  <a:schemeClr val="lt1"/>
                </a:solidFill>
              </a:rPr>
              <a:t>posicionamiento flotante, automáticamente se convierte en una </a:t>
            </a:r>
            <a:r>
              <a:rPr b="1" lang="en-US" sz="2400">
                <a:solidFill>
                  <a:schemeClr val="lt1"/>
                </a:solidFill>
              </a:rPr>
              <a:t>caja flotante</a:t>
            </a:r>
            <a:r>
              <a:rPr lang="en-US" sz="2400">
                <a:solidFill>
                  <a:schemeClr val="lt1"/>
                </a:solidFill>
              </a:rPr>
              <a:t>, lo que significa que se desplaza hasta la </a:t>
            </a:r>
            <a:r>
              <a:rPr b="1" lang="en-US" sz="2400">
                <a:solidFill>
                  <a:schemeClr val="lt1"/>
                </a:solidFill>
              </a:rPr>
              <a:t>zona más a la izquierda</a:t>
            </a:r>
            <a:r>
              <a:rPr lang="en-US" sz="2400">
                <a:solidFill>
                  <a:schemeClr val="lt1"/>
                </a:solidFill>
              </a:rPr>
              <a:t> o más a la </a:t>
            </a:r>
            <a:r>
              <a:rPr b="1" lang="en-US" sz="2400">
                <a:solidFill>
                  <a:schemeClr val="lt1"/>
                </a:solidFill>
              </a:rPr>
              <a:t>derecha </a:t>
            </a:r>
            <a:r>
              <a:rPr lang="en-US" sz="2400">
                <a:solidFill>
                  <a:schemeClr val="lt1"/>
                </a:solidFill>
              </a:rPr>
              <a:t>de la posición en la que originalmente se encontraba.</a:t>
            </a:r>
            <a:endParaRPr sz="2400">
              <a:solidFill>
                <a:schemeClr val="l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1"/>
          <p:cNvSpPr txBox="1"/>
          <p:nvPr/>
        </p:nvSpPr>
        <p:spPr>
          <a:xfrm>
            <a:off x="1350060" y="3500247"/>
            <a:ext cx="7368000" cy="31299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200">
                <a:solidFill>
                  <a:schemeClr val="lt1"/>
                </a:solidFill>
                <a:latin typeface="Arial"/>
                <a:ea typeface="Arial"/>
                <a:cs typeface="Arial"/>
                <a:sym typeface="Arial"/>
              </a:rPr>
              <a:t>Cuando se posiciona una caja de forma flotante:</a:t>
            </a:r>
            <a:endParaRPr sz="2200">
              <a:solidFill>
                <a:schemeClr val="lt1"/>
              </a:solidFill>
              <a:latin typeface="Arial"/>
              <a:ea typeface="Arial"/>
              <a:cs typeface="Arial"/>
              <a:sym typeface="Arial"/>
            </a:endParaRPr>
          </a:p>
          <a:p>
            <a:pPr indent="0" lvl="0" marL="0" rtl="0" algn="l">
              <a:lnSpc>
                <a:spcPct val="100000"/>
              </a:lnSpc>
              <a:spcBef>
                <a:spcPts val="275"/>
              </a:spcBef>
              <a:spcAft>
                <a:spcPts val="0"/>
              </a:spcAft>
              <a:buNone/>
            </a:pPr>
            <a:r>
              <a:t/>
            </a:r>
            <a:endParaRPr sz="2200">
              <a:solidFill>
                <a:schemeClr val="lt1"/>
              </a:solidFill>
              <a:latin typeface="Arial"/>
              <a:ea typeface="Arial"/>
              <a:cs typeface="Arial"/>
              <a:sym typeface="Arial"/>
            </a:endParaRPr>
          </a:p>
          <a:p>
            <a:pPr indent="-133349" lvl="0" marL="12700" marR="5080" rtl="0" algn="just">
              <a:lnSpc>
                <a:spcPct val="100000"/>
              </a:lnSpc>
              <a:spcBef>
                <a:spcPts val="5"/>
              </a:spcBef>
              <a:spcAft>
                <a:spcPts val="0"/>
              </a:spcAft>
              <a:buClr>
                <a:schemeClr val="lt1"/>
              </a:buClr>
              <a:buSzPts val="2100"/>
              <a:buFont typeface="Arial"/>
              <a:buChar char="▪"/>
            </a:pPr>
            <a:r>
              <a:rPr lang="en-US" sz="2200">
                <a:solidFill>
                  <a:schemeClr val="lt1"/>
                </a:solidFill>
                <a:latin typeface="Arial"/>
                <a:ea typeface="Arial"/>
                <a:cs typeface="Arial"/>
                <a:sym typeface="Arial"/>
              </a:rPr>
              <a:t>	La caja deja de pertenecer al flujo normal de la página, lo que significa que el resto de cajas ocupan el lugar </a:t>
            </a:r>
            <a:r>
              <a:rPr b="1" lang="en-US" sz="2200">
                <a:solidFill>
                  <a:schemeClr val="lt1"/>
                </a:solidFill>
                <a:latin typeface="Arial"/>
                <a:ea typeface="Arial"/>
                <a:cs typeface="Arial"/>
                <a:sym typeface="Arial"/>
              </a:rPr>
              <a:t>dejado </a:t>
            </a:r>
            <a:r>
              <a:rPr lang="en-US" sz="2200">
                <a:solidFill>
                  <a:schemeClr val="lt1"/>
                </a:solidFill>
                <a:latin typeface="Arial"/>
                <a:ea typeface="Arial"/>
                <a:cs typeface="Arial"/>
                <a:sym typeface="Arial"/>
              </a:rPr>
              <a:t>por la caja flotante.</a:t>
            </a:r>
            <a:endParaRPr sz="2200">
              <a:solidFill>
                <a:schemeClr val="lt1"/>
              </a:solidFill>
              <a:latin typeface="Arial"/>
              <a:ea typeface="Arial"/>
              <a:cs typeface="Arial"/>
              <a:sym typeface="Arial"/>
            </a:endParaRPr>
          </a:p>
          <a:p>
            <a:pPr indent="0" lvl="0" marL="0" rtl="0" algn="l">
              <a:lnSpc>
                <a:spcPct val="100000"/>
              </a:lnSpc>
              <a:spcBef>
                <a:spcPts val="265"/>
              </a:spcBef>
              <a:spcAft>
                <a:spcPts val="0"/>
              </a:spcAft>
              <a:buSzPts val="2200"/>
              <a:buFont typeface="Arial"/>
              <a:buNone/>
            </a:pPr>
            <a:r>
              <a:t/>
            </a:r>
            <a:endParaRPr sz="2200">
              <a:solidFill>
                <a:schemeClr val="lt1"/>
              </a:solidFill>
              <a:latin typeface="Arial"/>
              <a:ea typeface="Arial"/>
              <a:cs typeface="Arial"/>
              <a:sym typeface="Arial"/>
            </a:endParaRPr>
          </a:p>
          <a:p>
            <a:pPr indent="-133349" lvl="0" marL="12700" marR="6350" rtl="0" algn="just">
              <a:lnSpc>
                <a:spcPct val="100000"/>
              </a:lnSpc>
              <a:spcBef>
                <a:spcPts val="0"/>
              </a:spcBef>
              <a:spcAft>
                <a:spcPts val="0"/>
              </a:spcAft>
              <a:buClr>
                <a:schemeClr val="lt1"/>
              </a:buClr>
              <a:buSzPts val="2100"/>
              <a:buFont typeface="Arial"/>
              <a:buChar char="▪"/>
            </a:pPr>
            <a:r>
              <a:rPr lang="en-US" sz="2200">
                <a:solidFill>
                  <a:schemeClr val="lt1"/>
                </a:solidFill>
                <a:latin typeface="Arial"/>
                <a:ea typeface="Arial"/>
                <a:cs typeface="Arial"/>
                <a:sym typeface="Arial"/>
              </a:rPr>
              <a:t>	La caja flotante se posiciona lo más a la izquierda o lo más  a  la  derecha  posible  de  la  posición  en  la  que  se encontraba originalmente.</a:t>
            </a:r>
            <a:endParaRPr sz="2200">
              <a:solidFill>
                <a:schemeClr val="lt1"/>
              </a:solidFill>
              <a:latin typeface="Arial"/>
              <a:ea typeface="Arial"/>
              <a:cs typeface="Arial"/>
              <a:sym typeface="Arial"/>
            </a:endParaRPr>
          </a:p>
        </p:txBody>
      </p:sp>
      <p:pic>
        <p:nvPicPr>
          <p:cNvPr id="389" name="Google Shape;389;p51"/>
          <p:cNvPicPr preferRelativeResize="0"/>
          <p:nvPr/>
        </p:nvPicPr>
        <p:blipFill rotWithShape="1">
          <a:blip r:embed="rId3">
            <a:alphaModFix/>
          </a:blip>
          <a:srcRect b="0" l="0" r="0" t="0"/>
          <a:stretch/>
        </p:blipFill>
        <p:spPr>
          <a:xfrm>
            <a:off x="1437072" y="493776"/>
            <a:ext cx="7040928" cy="28422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2"/>
          <p:cNvSpPr txBox="1"/>
          <p:nvPr/>
        </p:nvSpPr>
        <p:spPr>
          <a:xfrm>
            <a:off x="1028700" y="3524250"/>
            <a:ext cx="7479900" cy="2792400"/>
          </a:xfrm>
          <a:prstGeom prst="rect">
            <a:avLst/>
          </a:prstGeom>
          <a:noFill/>
          <a:ln>
            <a:noFill/>
          </a:ln>
        </p:spPr>
        <p:txBody>
          <a:bodyPr anchorCtr="0" anchor="t" bIns="0" lIns="0" spcFirstLastPara="1" rIns="0" wrap="square" tIns="12700">
            <a:spAutoFit/>
          </a:bodyPr>
          <a:lstStyle/>
          <a:p>
            <a:pPr indent="0" lvl="0" marL="24765" marR="19050" rtl="0" algn="just">
              <a:lnSpc>
                <a:spcPct val="100000"/>
              </a:lnSpc>
              <a:spcBef>
                <a:spcPts val="0"/>
              </a:spcBef>
              <a:spcAft>
                <a:spcPts val="0"/>
              </a:spcAft>
              <a:buNone/>
            </a:pPr>
            <a:r>
              <a:rPr lang="en-US" sz="1800">
                <a:solidFill>
                  <a:schemeClr val="lt1"/>
                </a:solidFill>
                <a:latin typeface="Calibri"/>
                <a:ea typeface="Calibri"/>
                <a:cs typeface="Calibri"/>
                <a:sym typeface="Calibri"/>
              </a:rPr>
              <a:t>Ahora la caja 1 se posiciona de forma flotante hacia la izquierda.</a:t>
            </a:r>
            <a:endParaRPr sz="1800">
              <a:solidFill>
                <a:schemeClr val="lt1"/>
              </a:solidFill>
              <a:latin typeface="Calibri"/>
              <a:ea typeface="Calibri"/>
              <a:cs typeface="Calibri"/>
              <a:sym typeface="Calibri"/>
            </a:endParaRPr>
          </a:p>
          <a:p>
            <a:pPr indent="0" lvl="0" marL="0" marR="19050" rtl="0" algn="just">
              <a:lnSpc>
                <a:spcPct val="100000"/>
              </a:lnSpc>
              <a:spcBef>
                <a:spcPts val="70"/>
              </a:spcBef>
              <a:spcAft>
                <a:spcPts val="0"/>
              </a:spcAft>
              <a:buNone/>
            </a:pPr>
            <a:r>
              <a:t/>
            </a:r>
            <a:endParaRPr sz="1800">
              <a:solidFill>
                <a:schemeClr val="lt1"/>
              </a:solidFill>
              <a:latin typeface="Calibri"/>
              <a:ea typeface="Calibri"/>
              <a:cs typeface="Calibri"/>
              <a:sym typeface="Calibri"/>
            </a:endParaRPr>
          </a:p>
          <a:p>
            <a:pPr indent="0" lvl="0" marL="12700" marR="19050" rtl="0" algn="just">
              <a:lnSpc>
                <a:spcPct val="100000"/>
              </a:lnSpc>
              <a:spcBef>
                <a:spcPts val="0"/>
              </a:spcBef>
              <a:spcAft>
                <a:spcPts val="0"/>
              </a:spcAft>
              <a:buNone/>
            </a:pPr>
            <a:r>
              <a:rPr lang="en-US" sz="1800">
                <a:solidFill>
                  <a:schemeClr val="lt1"/>
                </a:solidFill>
                <a:latin typeface="Calibri"/>
                <a:ea typeface="Calibri"/>
                <a:cs typeface="Calibri"/>
                <a:sym typeface="Calibri"/>
              </a:rPr>
              <a:t>La caja 1 es de tipo flotante, por lo que </a:t>
            </a:r>
            <a:r>
              <a:rPr b="1" i="1" lang="en-US" sz="1800">
                <a:solidFill>
                  <a:schemeClr val="lt1"/>
                </a:solidFill>
                <a:latin typeface="Calibri"/>
                <a:ea typeface="Calibri"/>
                <a:cs typeface="Calibri"/>
                <a:sym typeface="Calibri"/>
              </a:rPr>
              <a:t>desaparece </a:t>
            </a:r>
            <a:r>
              <a:rPr i="1" lang="en-US" sz="1800">
                <a:solidFill>
                  <a:schemeClr val="lt1"/>
                </a:solidFill>
                <a:latin typeface="Calibri"/>
                <a:ea typeface="Calibri"/>
                <a:cs typeface="Calibri"/>
                <a:sym typeface="Calibri"/>
              </a:rPr>
              <a:t>del flujo normal </a:t>
            </a:r>
            <a:r>
              <a:rPr lang="en-US" sz="1800">
                <a:solidFill>
                  <a:schemeClr val="lt1"/>
                </a:solidFill>
                <a:latin typeface="Calibri"/>
                <a:ea typeface="Calibri"/>
                <a:cs typeface="Calibri"/>
                <a:sym typeface="Calibri"/>
              </a:rPr>
              <a:t>de la página y el resto de cajas ocupan su lugar.</a:t>
            </a:r>
            <a:endParaRPr sz="1800">
              <a:solidFill>
                <a:schemeClr val="lt1"/>
              </a:solidFill>
              <a:latin typeface="Calibri"/>
              <a:ea typeface="Calibri"/>
              <a:cs typeface="Calibri"/>
              <a:sym typeface="Calibri"/>
            </a:endParaRPr>
          </a:p>
          <a:p>
            <a:pPr indent="0" lvl="0" marL="12700" marR="19050" rtl="0" algn="just">
              <a:lnSpc>
                <a:spcPct val="100000"/>
              </a:lnSpc>
              <a:spcBef>
                <a:spcPts val="0"/>
              </a:spcBef>
              <a:spcAft>
                <a:spcPts val="0"/>
              </a:spcAft>
              <a:buNone/>
            </a:pPr>
            <a:r>
              <a:rPr lang="en-US" sz="1800">
                <a:solidFill>
                  <a:schemeClr val="lt1"/>
                </a:solidFill>
                <a:latin typeface="Calibri"/>
                <a:ea typeface="Calibri"/>
                <a:cs typeface="Calibri"/>
                <a:sym typeface="Calibri"/>
              </a:rPr>
              <a:t>El resultado es que la caja 2 ahora se muestra donde estaba la caja 1 y la caja 3 se muestra donde estaba la caja 2.</a:t>
            </a:r>
            <a:endParaRPr sz="1800">
              <a:solidFill>
                <a:schemeClr val="lt1"/>
              </a:solidFill>
              <a:latin typeface="Calibri"/>
              <a:ea typeface="Calibri"/>
              <a:cs typeface="Calibri"/>
              <a:sym typeface="Calibri"/>
            </a:endParaRPr>
          </a:p>
          <a:p>
            <a:pPr indent="0" lvl="0" marL="12700" marR="19050" rtl="0" algn="just">
              <a:lnSpc>
                <a:spcPct val="100000"/>
              </a:lnSpc>
              <a:spcBef>
                <a:spcPts val="0"/>
              </a:spcBef>
              <a:spcAft>
                <a:spcPts val="0"/>
              </a:spcAft>
              <a:buNone/>
            </a:pPr>
            <a:r>
              <a:rPr lang="en-US" sz="1800">
                <a:solidFill>
                  <a:schemeClr val="lt1"/>
                </a:solidFill>
                <a:latin typeface="Calibri"/>
                <a:ea typeface="Calibri"/>
                <a:cs typeface="Calibri"/>
                <a:sym typeface="Calibri"/>
              </a:rPr>
              <a:t>Al mismo tiempo, la caja 1 se desplaza todo lo posible hacia la izquierda de la posición en la que se encontraba.</a:t>
            </a:r>
            <a:endParaRPr sz="1800">
              <a:solidFill>
                <a:schemeClr val="lt1"/>
              </a:solidFill>
              <a:latin typeface="Calibri"/>
              <a:ea typeface="Calibri"/>
              <a:cs typeface="Calibri"/>
              <a:sym typeface="Calibri"/>
            </a:endParaRPr>
          </a:p>
          <a:p>
            <a:pPr indent="0" lvl="0" marL="12700" marR="19050" rtl="0" algn="just">
              <a:lnSpc>
                <a:spcPct val="100000"/>
              </a:lnSpc>
              <a:spcBef>
                <a:spcPts val="0"/>
              </a:spcBef>
              <a:spcAft>
                <a:spcPts val="0"/>
              </a:spcAft>
              <a:buNone/>
            </a:pPr>
            <a:r>
              <a:rPr lang="en-US" sz="1800">
                <a:solidFill>
                  <a:schemeClr val="lt1"/>
                </a:solidFill>
                <a:latin typeface="Calibri"/>
                <a:ea typeface="Calibri"/>
                <a:cs typeface="Calibri"/>
                <a:sym typeface="Calibri"/>
              </a:rPr>
              <a:t>El resultado es que la caja 1 se muestra </a:t>
            </a:r>
            <a:r>
              <a:rPr b="1" lang="en-US" sz="1800">
                <a:solidFill>
                  <a:schemeClr val="lt1"/>
                </a:solidFill>
                <a:latin typeface="Calibri"/>
                <a:ea typeface="Calibri"/>
                <a:cs typeface="Calibri"/>
                <a:sym typeface="Calibri"/>
              </a:rPr>
              <a:t>encima </a:t>
            </a:r>
            <a:r>
              <a:rPr lang="en-US" sz="1800">
                <a:solidFill>
                  <a:schemeClr val="lt1"/>
                </a:solidFill>
                <a:latin typeface="Calibri"/>
                <a:ea typeface="Calibri"/>
                <a:cs typeface="Calibri"/>
                <a:sym typeface="Calibri"/>
              </a:rPr>
              <a:t>de la nueva posición de la caja 2 y </a:t>
            </a:r>
            <a:r>
              <a:rPr b="1" lang="en-US" sz="1800">
                <a:solidFill>
                  <a:schemeClr val="lt1"/>
                </a:solidFill>
                <a:latin typeface="Calibri"/>
                <a:ea typeface="Calibri"/>
                <a:cs typeface="Calibri"/>
                <a:sym typeface="Calibri"/>
              </a:rPr>
              <a:t>tapa</a:t>
            </a:r>
            <a:r>
              <a:rPr lang="en-US" sz="1800">
                <a:solidFill>
                  <a:schemeClr val="lt1"/>
                </a:solidFill>
                <a:latin typeface="Calibri"/>
                <a:ea typeface="Calibri"/>
                <a:cs typeface="Calibri"/>
                <a:sym typeface="Calibri"/>
              </a:rPr>
              <a:t> </a:t>
            </a:r>
            <a:r>
              <a:rPr lang="en-US" sz="1800">
                <a:solidFill>
                  <a:schemeClr val="lt1"/>
                </a:solidFill>
                <a:latin typeface="Calibri"/>
                <a:ea typeface="Calibri"/>
                <a:cs typeface="Calibri"/>
                <a:sym typeface="Calibri"/>
              </a:rPr>
              <a:t>todos sus contenidos.</a:t>
            </a:r>
            <a:endParaRPr sz="1800">
              <a:solidFill>
                <a:schemeClr val="lt1"/>
              </a:solidFill>
              <a:latin typeface="Calibri"/>
              <a:ea typeface="Calibri"/>
              <a:cs typeface="Calibri"/>
              <a:sym typeface="Calibri"/>
            </a:endParaRPr>
          </a:p>
        </p:txBody>
      </p:sp>
      <p:pic>
        <p:nvPicPr>
          <p:cNvPr id="395" name="Google Shape;395;p52"/>
          <p:cNvPicPr preferRelativeResize="0"/>
          <p:nvPr/>
        </p:nvPicPr>
        <p:blipFill rotWithShape="1">
          <a:blip r:embed="rId3">
            <a:alphaModFix/>
          </a:blip>
          <a:srcRect b="0" l="0" r="0" t="0"/>
          <a:stretch/>
        </p:blipFill>
        <p:spPr>
          <a:xfrm>
            <a:off x="2152650" y="471022"/>
            <a:ext cx="5439156" cy="279044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id="400" name="Google Shape;400;p53"/>
          <p:cNvPicPr preferRelativeResize="0"/>
          <p:nvPr/>
        </p:nvPicPr>
        <p:blipFill rotWithShape="1">
          <a:blip r:embed="rId3">
            <a:alphaModFix/>
          </a:blip>
          <a:srcRect b="0" l="0" r="0" t="0"/>
          <a:stretch/>
        </p:blipFill>
        <p:spPr>
          <a:xfrm>
            <a:off x="152400" y="457200"/>
            <a:ext cx="5056632" cy="2133600"/>
          </a:xfrm>
          <a:prstGeom prst="rect">
            <a:avLst/>
          </a:prstGeom>
          <a:noFill/>
          <a:ln>
            <a:noFill/>
          </a:ln>
        </p:spPr>
      </p:pic>
      <p:pic>
        <p:nvPicPr>
          <p:cNvPr id="401" name="Google Shape;401;p53"/>
          <p:cNvPicPr preferRelativeResize="0"/>
          <p:nvPr/>
        </p:nvPicPr>
        <p:blipFill rotWithShape="1">
          <a:blip r:embed="rId4">
            <a:alphaModFix/>
          </a:blip>
          <a:srcRect b="0" l="0" r="0" t="0"/>
          <a:stretch/>
        </p:blipFill>
        <p:spPr>
          <a:xfrm>
            <a:off x="152400" y="2971800"/>
            <a:ext cx="5056632" cy="2316480"/>
          </a:xfrm>
          <a:prstGeom prst="rect">
            <a:avLst/>
          </a:prstGeom>
          <a:noFill/>
          <a:ln>
            <a:noFill/>
          </a:ln>
        </p:spPr>
      </p:pic>
      <p:sp>
        <p:nvSpPr>
          <p:cNvPr id="402" name="Google Shape;402;p53"/>
          <p:cNvSpPr txBox="1"/>
          <p:nvPr/>
        </p:nvSpPr>
        <p:spPr>
          <a:xfrm>
            <a:off x="5410580" y="221995"/>
            <a:ext cx="3442200" cy="4640100"/>
          </a:xfrm>
          <a:prstGeom prst="rect">
            <a:avLst/>
          </a:prstGeom>
          <a:noFill/>
          <a:ln>
            <a:noFill/>
          </a:ln>
        </p:spPr>
        <p:txBody>
          <a:bodyPr anchorCtr="0" anchor="t" bIns="0" lIns="0" spcFirstLastPara="1" rIns="0" wrap="square" tIns="12700">
            <a:spAutoFit/>
          </a:bodyPr>
          <a:lstStyle/>
          <a:p>
            <a:pPr indent="0" lvl="0" marL="12700" marR="19050" rtl="0" algn="just">
              <a:lnSpc>
                <a:spcPct val="100000"/>
              </a:lnSpc>
              <a:spcBef>
                <a:spcPts val="0"/>
              </a:spcBef>
              <a:spcAft>
                <a:spcPts val="0"/>
              </a:spcAft>
              <a:buNone/>
            </a:pPr>
            <a:r>
              <a:rPr lang="en-US" sz="1400">
                <a:solidFill>
                  <a:schemeClr val="lt1"/>
                </a:solidFill>
                <a:latin typeface="Arial"/>
                <a:ea typeface="Arial"/>
                <a:cs typeface="Arial"/>
                <a:sym typeface="Arial"/>
              </a:rPr>
              <a:t>Fig A: En el siguiente ejemplo se posicionan de forma flotante hacia la izquierda las tres cajas:</a:t>
            </a:r>
            <a:endParaRPr sz="1400">
              <a:solidFill>
                <a:schemeClr val="lt1"/>
              </a:solidFill>
              <a:latin typeface="Arial"/>
              <a:ea typeface="Arial"/>
              <a:cs typeface="Arial"/>
              <a:sym typeface="Arial"/>
            </a:endParaRPr>
          </a:p>
          <a:p>
            <a:pPr indent="0" lvl="0" marL="0" marR="19050" rtl="0" algn="just">
              <a:lnSpc>
                <a:spcPct val="100000"/>
              </a:lnSpc>
              <a:spcBef>
                <a:spcPts val="280"/>
              </a:spcBef>
              <a:spcAft>
                <a:spcPts val="0"/>
              </a:spcAft>
              <a:buNone/>
            </a:pPr>
            <a:r>
              <a:t/>
            </a:r>
            <a:endParaRPr sz="1400">
              <a:solidFill>
                <a:schemeClr val="lt1"/>
              </a:solidFill>
              <a:latin typeface="Arial"/>
              <a:ea typeface="Arial"/>
              <a:cs typeface="Arial"/>
              <a:sym typeface="Arial"/>
            </a:endParaRPr>
          </a:p>
          <a:p>
            <a:pPr indent="0" lvl="0" marL="12700" marR="19050" rtl="0" algn="just">
              <a:lnSpc>
                <a:spcPct val="100000"/>
              </a:lnSpc>
              <a:spcBef>
                <a:spcPts val="0"/>
              </a:spcBef>
              <a:spcAft>
                <a:spcPts val="0"/>
              </a:spcAft>
              <a:buNone/>
            </a:pPr>
            <a:r>
              <a:rPr lang="en-US" sz="1400">
                <a:solidFill>
                  <a:schemeClr val="lt1"/>
                </a:solidFill>
                <a:latin typeface="Arial"/>
                <a:ea typeface="Arial"/>
                <a:cs typeface="Arial"/>
                <a:sym typeface="Arial"/>
              </a:rPr>
              <a:t>Las cajas </a:t>
            </a:r>
            <a:r>
              <a:rPr b="1" lang="en-US" sz="1400">
                <a:solidFill>
                  <a:schemeClr val="lt1"/>
                </a:solidFill>
                <a:latin typeface="Arial"/>
                <a:ea typeface="Arial"/>
                <a:cs typeface="Arial"/>
                <a:sym typeface="Arial"/>
              </a:rPr>
              <a:t>no se superponen </a:t>
            </a:r>
            <a:r>
              <a:rPr lang="en-US" sz="1400">
                <a:solidFill>
                  <a:schemeClr val="lt1"/>
                </a:solidFill>
                <a:latin typeface="Arial"/>
                <a:ea typeface="Arial"/>
                <a:cs typeface="Arial"/>
                <a:sym typeface="Arial"/>
              </a:rPr>
              <a:t>entre sí porque las cajas flotantes tienen en </a:t>
            </a:r>
            <a:r>
              <a:rPr b="1" lang="en-US" sz="1400">
                <a:solidFill>
                  <a:schemeClr val="lt1"/>
                </a:solidFill>
                <a:latin typeface="Arial"/>
                <a:ea typeface="Arial"/>
                <a:cs typeface="Arial"/>
                <a:sym typeface="Arial"/>
              </a:rPr>
              <a:t>cuenta </a:t>
            </a:r>
            <a:r>
              <a:rPr lang="en-US" sz="1400">
                <a:solidFill>
                  <a:schemeClr val="lt1"/>
                </a:solidFill>
                <a:latin typeface="Arial"/>
                <a:ea typeface="Arial"/>
                <a:cs typeface="Arial"/>
                <a:sym typeface="Arial"/>
              </a:rPr>
              <a:t>las otras cajas flotantes existentes.</a:t>
            </a:r>
            <a:endParaRPr sz="1400">
              <a:solidFill>
                <a:schemeClr val="lt1"/>
              </a:solidFill>
              <a:latin typeface="Arial"/>
              <a:ea typeface="Arial"/>
              <a:cs typeface="Arial"/>
              <a:sym typeface="Arial"/>
            </a:endParaRPr>
          </a:p>
          <a:p>
            <a:pPr indent="0" lvl="0" marL="12700" marR="19050" rtl="0" algn="just">
              <a:lnSpc>
                <a:spcPct val="99600"/>
              </a:lnSpc>
              <a:spcBef>
                <a:spcPts val="100"/>
              </a:spcBef>
              <a:spcAft>
                <a:spcPts val="0"/>
              </a:spcAft>
              <a:buNone/>
            </a:pPr>
            <a:r>
              <a:rPr lang="en-US" sz="1400">
                <a:solidFill>
                  <a:schemeClr val="lt1"/>
                </a:solidFill>
                <a:latin typeface="Arial"/>
                <a:ea typeface="Arial"/>
                <a:cs typeface="Arial"/>
                <a:sym typeface="Arial"/>
              </a:rPr>
              <a:t>Como la caja 1 ya estaba posicionada lo más a la izquierda posible, la caja 2 sólo puede colocarse </a:t>
            </a:r>
            <a:r>
              <a:rPr b="1" lang="en-US" sz="1400">
                <a:solidFill>
                  <a:schemeClr val="lt1"/>
                </a:solidFill>
                <a:latin typeface="Arial"/>
                <a:ea typeface="Arial"/>
                <a:cs typeface="Arial"/>
                <a:sym typeface="Arial"/>
              </a:rPr>
              <a:t>al lado </a:t>
            </a:r>
            <a:r>
              <a:rPr lang="en-US" sz="1400">
                <a:solidFill>
                  <a:schemeClr val="lt1"/>
                </a:solidFill>
                <a:latin typeface="Arial"/>
                <a:ea typeface="Arial"/>
                <a:cs typeface="Arial"/>
                <a:sym typeface="Arial"/>
              </a:rPr>
              <a:t>del borde derecho de la caja 1, que es el sitio </a:t>
            </a:r>
            <a:r>
              <a:rPr b="1" lang="en-US" sz="1400">
                <a:solidFill>
                  <a:schemeClr val="lt1"/>
                </a:solidFill>
                <a:latin typeface="Arial"/>
                <a:ea typeface="Arial"/>
                <a:cs typeface="Arial"/>
                <a:sym typeface="Arial"/>
              </a:rPr>
              <a:t>más </a:t>
            </a:r>
            <a:r>
              <a:rPr lang="en-US" sz="1400">
                <a:solidFill>
                  <a:schemeClr val="lt1"/>
                </a:solidFill>
                <a:latin typeface="Arial"/>
                <a:ea typeface="Arial"/>
                <a:cs typeface="Arial"/>
                <a:sym typeface="Arial"/>
              </a:rPr>
              <a:t>a la izquierda </a:t>
            </a:r>
            <a:r>
              <a:rPr b="1" lang="en-US" sz="1400">
                <a:solidFill>
                  <a:schemeClr val="lt1"/>
                </a:solidFill>
                <a:latin typeface="Arial"/>
                <a:ea typeface="Arial"/>
                <a:cs typeface="Arial"/>
                <a:sym typeface="Arial"/>
              </a:rPr>
              <a:t>posible </a:t>
            </a:r>
            <a:r>
              <a:rPr lang="en-US" sz="1400">
                <a:solidFill>
                  <a:schemeClr val="lt1"/>
                </a:solidFill>
                <a:latin typeface="Arial"/>
                <a:ea typeface="Arial"/>
                <a:cs typeface="Arial"/>
                <a:sym typeface="Arial"/>
              </a:rPr>
              <a:t>respecto de la zona en la que se encontraba</a:t>
            </a:r>
            <a:r>
              <a:rPr lang="en-US" sz="1400">
                <a:solidFill>
                  <a:schemeClr val="lt1"/>
                </a:solidFill>
                <a:latin typeface="Calibri"/>
                <a:ea typeface="Calibri"/>
                <a:cs typeface="Calibri"/>
                <a:sym typeface="Calibri"/>
              </a:rPr>
              <a:t>.</a:t>
            </a:r>
            <a:endParaRPr sz="1400">
              <a:solidFill>
                <a:schemeClr val="lt1"/>
              </a:solidFill>
              <a:latin typeface="Calibri"/>
              <a:ea typeface="Calibri"/>
              <a:cs typeface="Calibri"/>
              <a:sym typeface="Calibri"/>
            </a:endParaRPr>
          </a:p>
          <a:p>
            <a:pPr indent="0" lvl="0" marL="0" marR="19050" rtl="0" algn="just">
              <a:lnSpc>
                <a:spcPct val="100000"/>
              </a:lnSpc>
              <a:spcBef>
                <a:spcPts val="455"/>
              </a:spcBef>
              <a:spcAft>
                <a:spcPts val="0"/>
              </a:spcAft>
              <a:buNone/>
            </a:pPr>
            <a:r>
              <a:t/>
            </a:r>
            <a:endParaRPr sz="1400">
              <a:solidFill>
                <a:schemeClr val="lt1"/>
              </a:solidFill>
              <a:latin typeface="Calibri"/>
              <a:ea typeface="Calibri"/>
              <a:cs typeface="Calibri"/>
              <a:sym typeface="Calibri"/>
            </a:endParaRPr>
          </a:p>
          <a:p>
            <a:pPr indent="0" lvl="0" marL="91440" marR="19050" rtl="0" algn="just">
              <a:lnSpc>
                <a:spcPct val="100000"/>
              </a:lnSpc>
              <a:spcBef>
                <a:spcPts val="0"/>
              </a:spcBef>
              <a:spcAft>
                <a:spcPts val="0"/>
              </a:spcAft>
              <a:buNone/>
            </a:pPr>
            <a:r>
              <a:rPr lang="en-US" sz="1400">
                <a:solidFill>
                  <a:schemeClr val="lt1"/>
                </a:solidFill>
                <a:latin typeface="Arial"/>
                <a:ea typeface="Arial"/>
                <a:cs typeface="Arial"/>
                <a:sym typeface="Arial"/>
              </a:rPr>
              <a:t>Fig B: Si no existe sitio en la línea actual</a:t>
            </a:r>
            <a:endParaRPr sz="1400">
              <a:solidFill>
                <a:schemeClr val="lt1"/>
              </a:solidFill>
              <a:latin typeface="Arial"/>
              <a:ea typeface="Arial"/>
              <a:cs typeface="Arial"/>
              <a:sym typeface="Arial"/>
            </a:endParaRPr>
          </a:p>
          <a:p>
            <a:pPr indent="0" lvl="0" marL="91440" marR="19050" rtl="0" algn="just">
              <a:lnSpc>
                <a:spcPct val="100000"/>
              </a:lnSpc>
              <a:spcBef>
                <a:spcPts val="0"/>
              </a:spcBef>
              <a:spcAft>
                <a:spcPts val="0"/>
              </a:spcAft>
              <a:buNone/>
            </a:pPr>
            <a:r>
              <a:rPr lang="en-US" sz="1400">
                <a:solidFill>
                  <a:schemeClr val="lt1"/>
                </a:solidFill>
                <a:latin typeface="Arial"/>
                <a:ea typeface="Arial"/>
                <a:cs typeface="Arial"/>
                <a:sym typeface="Arial"/>
              </a:rPr>
              <a:t>-- &gt;</a:t>
            </a:r>
            <a:endParaRPr sz="1400">
              <a:solidFill>
                <a:schemeClr val="lt1"/>
              </a:solidFill>
              <a:latin typeface="Arial"/>
              <a:ea typeface="Arial"/>
              <a:cs typeface="Arial"/>
              <a:sym typeface="Arial"/>
            </a:endParaRPr>
          </a:p>
          <a:p>
            <a:pPr indent="0" lvl="0" marL="91440" marR="19050" rtl="0" algn="just">
              <a:lnSpc>
                <a:spcPct val="100000"/>
              </a:lnSpc>
              <a:spcBef>
                <a:spcPts val="0"/>
              </a:spcBef>
              <a:spcAft>
                <a:spcPts val="0"/>
              </a:spcAft>
              <a:buNone/>
            </a:pPr>
            <a:r>
              <a:rPr lang="en-US" sz="1400">
                <a:solidFill>
                  <a:schemeClr val="lt1"/>
                </a:solidFill>
                <a:latin typeface="Arial"/>
                <a:ea typeface="Arial"/>
                <a:cs typeface="Arial"/>
                <a:sym typeface="Arial"/>
              </a:rPr>
              <a:t>la caja flotante </a:t>
            </a:r>
            <a:r>
              <a:rPr b="1" lang="en-US" sz="1400">
                <a:solidFill>
                  <a:schemeClr val="lt1"/>
                </a:solidFill>
                <a:latin typeface="Arial"/>
                <a:ea typeface="Arial"/>
                <a:cs typeface="Arial"/>
                <a:sym typeface="Arial"/>
              </a:rPr>
              <a:t>baja a la línea inferior </a:t>
            </a:r>
            <a:r>
              <a:rPr lang="en-US" sz="1400">
                <a:solidFill>
                  <a:schemeClr val="lt1"/>
                </a:solidFill>
                <a:latin typeface="Arial"/>
                <a:ea typeface="Arial"/>
                <a:cs typeface="Arial"/>
                <a:sym typeface="Arial"/>
              </a:rPr>
              <a:t>hasta que encuentra el sitio necesario para mostrarse lo más a la izquierda o lo más a la derecha posible en esa nueva línea.</a:t>
            </a:r>
            <a:endParaRPr sz="1400">
              <a:solidFill>
                <a:schemeClr val="lt1"/>
              </a:solidFill>
              <a:latin typeface="Arial"/>
              <a:ea typeface="Arial"/>
              <a:cs typeface="Arial"/>
              <a:sym typeface="Arial"/>
            </a:endParaRPr>
          </a:p>
        </p:txBody>
      </p:sp>
      <p:sp>
        <p:nvSpPr>
          <p:cNvPr id="403" name="Google Shape;403;p53"/>
          <p:cNvSpPr txBox="1"/>
          <p:nvPr/>
        </p:nvSpPr>
        <p:spPr>
          <a:xfrm>
            <a:off x="285750" y="5363725"/>
            <a:ext cx="8692500" cy="1012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300">
                <a:solidFill>
                  <a:schemeClr val="lt1"/>
                </a:solidFill>
                <a:latin typeface="Arial"/>
                <a:ea typeface="Arial"/>
                <a:cs typeface="Arial"/>
                <a:sym typeface="Arial"/>
              </a:rPr>
              <a:t>-Las cajas flotantes influyen en la disposición de todas las demás cajas.</a:t>
            </a:r>
            <a:endParaRPr sz="1300">
              <a:solidFill>
                <a:schemeClr val="lt1"/>
              </a:solidFill>
              <a:latin typeface="Arial"/>
              <a:ea typeface="Arial"/>
              <a:cs typeface="Arial"/>
              <a:sym typeface="Arial"/>
            </a:endParaRPr>
          </a:p>
          <a:p>
            <a:pPr indent="0" lvl="0" marL="12700" rtl="0" algn="l">
              <a:lnSpc>
                <a:spcPct val="100000"/>
              </a:lnSpc>
              <a:spcBef>
                <a:spcPts val="0"/>
              </a:spcBef>
              <a:spcAft>
                <a:spcPts val="0"/>
              </a:spcAft>
              <a:buNone/>
            </a:pPr>
            <a:r>
              <a:rPr lang="en-US" sz="1300">
                <a:solidFill>
                  <a:schemeClr val="lt1"/>
                </a:solidFill>
                <a:latin typeface="Arial"/>
                <a:ea typeface="Arial"/>
                <a:cs typeface="Arial"/>
                <a:sym typeface="Arial"/>
              </a:rPr>
              <a:t>-Los elementos en </a:t>
            </a:r>
            <a:r>
              <a:rPr b="1" lang="en-US" sz="1300">
                <a:solidFill>
                  <a:schemeClr val="lt1"/>
                </a:solidFill>
                <a:latin typeface="Arial"/>
                <a:ea typeface="Arial"/>
                <a:cs typeface="Arial"/>
                <a:sym typeface="Arial"/>
              </a:rPr>
              <a:t>línea </a:t>
            </a:r>
            <a:r>
              <a:rPr b="1" i="1" lang="en-US" sz="1300">
                <a:solidFill>
                  <a:schemeClr val="lt1"/>
                </a:solidFill>
                <a:latin typeface="Arial"/>
                <a:ea typeface="Arial"/>
                <a:cs typeface="Arial"/>
                <a:sym typeface="Arial"/>
              </a:rPr>
              <a:t>hacen sitio </a:t>
            </a:r>
            <a:r>
              <a:rPr lang="en-US" sz="1300">
                <a:solidFill>
                  <a:schemeClr val="lt1"/>
                </a:solidFill>
                <a:latin typeface="Arial"/>
                <a:ea typeface="Arial"/>
                <a:cs typeface="Arial"/>
                <a:sym typeface="Arial"/>
              </a:rPr>
              <a:t>a las cajas flotantes adaptando su anchura al espacio libre dejado por la caja</a:t>
            </a:r>
            <a:endParaRPr sz="1300">
              <a:solidFill>
                <a:schemeClr val="lt1"/>
              </a:solidFill>
              <a:latin typeface="Arial"/>
              <a:ea typeface="Arial"/>
              <a:cs typeface="Arial"/>
              <a:sym typeface="Arial"/>
            </a:endParaRPr>
          </a:p>
          <a:p>
            <a:pPr indent="0" lvl="0" marL="12700" rtl="0" algn="l">
              <a:lnSpc>
                <a:spcPct val="100000"/>
              </a:lnSpc>
              <a:spcBef>
                <a:spcPts val="0"/>
              </a:spcBef>
              <a:spcAft>
                <a:spcPts val="0"/>
              </a:spcAft>
              <a:buNone/>
            </a:pPr>
            <a:r>
              <a:rPr lang="en-US" sz="1300">
                <a:solidFill>
                  <a:schemeClr val="lt1"/>
                </a:solidFill>
                <a:latin typeface="Arial"/>
                <a:ea typeface="Arial"/>
                <a:cs typeface="Arial"/>
                <a:sym typeface="Arial"/>
              </a:rPr>
              <a:t>desplazada.</a:t>
            </a:r>
            <a:endParaRPr sz="1300">
              <a:solidFill>
                <a:schemeClr val="lt1"/>
              </a:solidFill>
              <a:latin typeface="Arial"/>
              <a:ea typeface="Arial"/>
              <a:cs typeface="Arial"/>
              <a:sym typeface="Arial"/>
            </a:endParaRPr>
          </a:p>
          <a:p>
            <a:pPr indent="0" lvl="0" marL="12700" marR="5080" rtl="0" algn="l">
              <a:lnSpc>
                <a:spcPct val="100000"/>
              </a:lnSpc>
              <a:spcBef>
                <a:spcPts val="0"/>
              </a:spcBef>
              <a:spcAft>
                <a:spcPts val="0"/>
              </a:spcAft>
              <a:buNone/>
            </a:pPr>
            <a:r>
              <a:rPr lang="en-US" sz="1300">
                <a:solidFill>
                  <a:schemeClr val="lt1"/>
                </a:solidFill>
                <a:latin typeface="Arial"/>
                <a:ea typeface="Arial"/>
                <a:cs typeface="Arial"/>
                <a:sym typeface="Arial"/>
              </a:rPr>
              <a:t>-Los elementos de </a:t>
            </a:r>
            <a:r>
              <a:rPr b="1" lang="en-US" sz="1300">
                <a:solidFill>
                  <a:schemeClr val="lt1"/>
                </a:solidFill>
                <a:latin typeface="Arial"/>
                <a:ea typeface="Arial"/>
                <a:cs typeface="Arial"/>
                <a:sym typeface="Arial"/>
              </a:rPr>
              <a:t>bloque no </a:t>
            </a:r>
            <a:r>
              <a:rPr lang="en-US" sz="1300">
                <a:solidFill>
                  <a:schemeClr val="lt1"/>
                </a:solidFill>
                <a:latin typeface="Arial"/>
                <a:ea typeface="Arial"/>
                <a:cs typeface="Arial"/>
                <a:sym typeface="Arial"/>
              </a:rPr>
              <a:t>les hacen sitio, pero sí que </a:t>
            </a:r>
            <a:r>
              <a:rPr b="1" lang="en-US" sz="1300">
                <a:solidFill>
                  <a:schemeClr val="lt1"/>
                </a:solidFill>
                <a:latin typeface="Arial"/>
                <a:ea typeface="Arial"/>
                <a:cs typeface="Arial"/>
                <a:sym typeface="Arial"/>
              </a:rPr>
              <a:t>adaptan </a:t>
            </a:r>
            <a:r>
              <a:rPr lang="en-US" sz="1300">
                <a:solidFill>
                  <a:schemeClr val="lt1"/>
                </a:solidFill>
                <a:latin typeface="Arial"/>
                <a:ea typeface="Arial"/>
                <a:cs typeface="Arial"/>
                <a:sym typeface="Arial"/>
              </a:rPr>
              <a:t>sus contenidos para que no se </a:t>
            </a:r>
            <a:r>
              <a:rPr b="1" lang="en-US" sz="1300">
                <a:solidFill>
                  <a:schemeClr val="lt1"/>
                </a:solidFill>
                <a:latin typeface="Arial"/>
                <a:ea typeface="Arial"/>
                <a:cs typeface="Arial"/>
                <a:sym typeface="Arial"/>
              </a:rPr>
              <a:t>solapen </a:t>
            </a:r>
            <a:r>
              <a:rPr lang="en-US" sz="1300">
                <a:solidFill>
                  <a:schemeClr val="lt1"/>
                </a:solidFill>
                <a:latin typeface="Arial"/>
                <a:ea typeface="Arial"/>
                <a:cs typeface="Arial"/>
                <a:sym typeface="Arial"/>
              </a:rPr>
              <a:t>con las cajas flotantes.</a:t>
            </a:r>
            <a:endParaRPr sz="1300">
              <a:solidFill>
                <a:schemeClr val="lt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54"/>
          <p:cNvPicPr preferRelativeResize="0"/>
          <p:nvPr/>
        </p:nvPicPr>
        <p:blipFill rotWithShape="1">
          <a:blip r:embed="rId3">
            <a:alphaModFix/>
          </a:blip>
          <a:srcRect b="0" l="0" r="0" t="0"/>
          <a:stretch/>
        </p:blipFill>
        <p:spPr>
          <a:xfrm>
            <a:off x="295655" y="214884"/>
            <a:ext cx="8572500" cy="2229611"/>
          </a:xfrm>
          <a:prstGeom prst="rect">
            <a:avLst/>
          </a:prstGeom>
          <a:noFill/>
          <a:ln>
            <a:noFill/>
          </a:ln>
        </p:spPr>
      </p:pic>
      <p:sp>
        <p:nvSpPr>
          <p:cNvPr id="409" name="Google Shape;409;p54"/>
          <p:cNvSpPr txBox="1"/>
          <p:nvPr/>
        </p:nvSpPr>
        <p:spPr>
          <a:xfrm>
            <a:off x="142443" y="2431542"/>
            <a:ext cx="8786400" cy="4041000"/>
          </a:xfrm>
          <a:prstGeom prst="rect">
            <a:avLst/>
          </a:prstGeom>
          <a:noFill/>
          <a:ln>
            <a:noFill/>
          </a:ln>
        </p:spPr>
        <p:txBody>
          <a:bodyPr anchorCtr="0" anchor="t" bIns="0" lIns="0" spcFirstLastPara="1" rIns="0" wrap="square" tIns="13325">
            <a:spAutoFit/>
          </a:bodyPr>
          <a:lstStyle/>
          <a:p>
            <a:pPr indent="0" lvl="0" marL="12700" marR="12065" rtl="0" algn="just">
              <a:lnSpc>
                <a:spcPct val="100000"/>
              </a:lnSpc>
              <a:spcBef>
                <a:spcPts val="0"/>
              </a:spcBef>
              <a:spcAft>
                <a:spcPts val="0"/>
              </a:spcAft>
              <a:buNone/>
            </a:pPr>
            <a:r>
              <a:rPr lang="en-US" sz="2000">
                <a:solidFill>
                  <a:schemeClr val="lt1"/>
                </a:solidFill>
                <a:latin typeface="Arial"/>
                <a:ea typeface="Arial"/>
                <a:cs typeface="Arial"/>
                <a:sym typeface="Arial"/>
              </a:rPr>
              <a:t>La propiedad CSS que permite posicionar de forma flotante una caja se denomina </a:t>
            </a:r>
            <a:r>
              <a:rPr lang="en-US" sz="2000">
                <a:solidFill>
                  <a:schemeClr val="lt2"/>
                </a:solidFill>
                <a:latin typeface="Arial"/>
                <a:ea typeface="Arial"/>
                <a:cs typeface="Arial"/>
                <a:sym typeface="Arial"/>
              </a:rPr>
              <a:t>float</a:t>
            </a:r>
            <a:r>
              <a:rPr lang="en-US" sz="2000">
                <a:solidFill>
                  <a:schemeClr val="lt1"/>
                </a:solidFill>
                <a:latin typeface="Arial"/>
                <a:ea typeface="Arial"/>
                <a:cs typeface="Arial"/>
                <a:sym typeface="Arial"/>
              </a:rPr>
              <a:t>:</a:t>
            </a:r>
            <a:endParaRPr sz="2000">
              <a:solidFill>
                <a:schemeClr val="lt1"/>
              </a:solidFill>
              <a:latin typeface="Arial"/>
              <a:ea typeface="Arial"/>
              <a:cs typeface="Arial"/>
              <a:sym typeface="Arial"/>
            </a:endParaRPr>
          </a:p>
          <a:p>
            <a:pPr indent="0" lvl="0" marL="12700" marR="9525" rtl="0" algn="just">
              <a:lnSpc>
                <a:spcPct val="100000"/>
              </a:lnSpc>
              <a:spcBef>
                <a:spcPts val="95"/>
              </a:spcBef>
              <a:spcAft>
                <a:spcPts val="0"/>
              </a:spcAft>
              <a:buNone/>
            </a:pPr>
            <a:r>
              <a:rPr lang="en-US" sz="2000">
                <a:solidFill>
                  <a:schemeClr val="lt1"/>
                </a:solidFill>
                <a:latin typeface="Arial"/>
                <a:ea typeface="Arial"/>
                <a:cs typeface="Arial"/>
                <a:sym typeface="Arial"/>
              </a:rPr>
              <a:t>Si se indica un valor </a:t>
            </a:r>
            <a:r>
              <a:rPr b="1" lang="en-US" sz="2000">
                <a:solidFill>
                  <a:schemeClr val="lt2"/>
                </a:solidFill>
                <a:latin typeface="Arial"/>
                <a:ea typeface="Arial"/>
                <a:cs typeface="Arial"/>
                <a:sym typeface="Arial"/>
              </a:rPr>
              <a:t>left</a:t>
            </a:r>
            <a:r>
              <a:rPr lang="en-US" sz="2000">
                <a:solidFill>
                  <a:schemeClr val="lt1"/>
                </a:solidFill>
                <a:latin typeface="Arial"/>
                <a:ea typeface="Arial"/>
                <a:cs typeface="Arial"/>
                <a:sym typeface="Arial"/>
              </a:rPr>
              <a:t>, la caja se desplaza hasta el  </a:t>
            </a:r>
            <a:r>
              <a:rPr b="1" lang="en-US" sz="2000">
                <a:solidFill>
                  <a:schemeClr val="lt1"/>
                </a:solidFill>
                <a:latin typeface="Arial"/>
                <a:ea typeface="Arial"/>
                <a:cs typeface="Arial"/>
                <a:sym typeface="Arial"/>
              </a:rPr>
              <a:t>punto más a la izquierda posible en esa misma línea </a:t>
            </a:r>
            <a:r>
              <a:rPr lang="en-US" sz="2000">
                <a:solidFill>
                  <a:schemeClr val="lt1"/>
                </a:solidFill>
                <a:latin typeface="Arial"/>
                <a:ea typeface="Arial"/>
                <a:cs typeface="Arial"/>
                <a:sym typeface="Arial"/>
              </a:rPr>
              <a:t>(si  no existe sitio en esa línea, la caja baja una línea y se  muestra lo más a la izquierda posible en esa nueva línea).</a:t>
            </a:r>
            <a:endParaRPr sz="2000">
              <a:solidFill>
                <a:schemeClr val="lt1"/>
              </a:solidFill>
              <a:latin typeface="Arial"/>
              <a:ea typeface="Arial"/>
              <a:cs typeface="Arial"/>
              <a:sym typeface="Arial"/>
            </a:endParaRPr>
          </a:p>
          <a:p>
            <a:pPr indent="0" lvl="0" marL="12700" marR="5080" rtl="0" algn="just">
              <a:lnSpc>
                <a:spcPct val="100000"/>
              </a:lnSpc>
              <a:spcBef>
                <a:spcPts val="0"/>
              </a:spcBef>
              <a:spcAft>
                <a:spcPts val="0"/>
              </a:spcAft>
              <a:buNone/>
            </a:pPr>
            <a:r>
              <a:rPr lang="en-US" sz="2000">
                <a:solidFill>
                  <a:schemeClr val="lt1"/>
                </a:solidFill>
                <a:latin typeface="Arial"/>
                <a:ea typeface="Arial"/>
                <a:cs typeface="Arial"/>
                <a:sym typeface="Arial"/>
              </a:rPr>
              <a:t>El resto de </a:t>
            </a:r>
            <a:r>
              <a:rPr b="1" lang="en-US" sz="2000">
                <a:solidFill>
                  <a:schemeClr val="lt1"/>
                </a:solidFill>
                <a:latin typeface="Arial"/>
                <a:ea typeface="Arial"/>
                <a:cs typeface="Arial"/>
                <a:sym typeface="Arial"/>
              </a:rPr>
              <a:t>elementos adyacentes se adaptan y </a:t>
            </a:r>
            <a:r>
              <a:rPr b="1" i="1" lang="en-US" sz="2000">
                <a:solidFill>
                  <a:schemeClr val="lt1"/>
                </a:solidFill>
                <a:latin typeface="Arial"/>
                <a:ea typeface="Arial"/>
                <a:cs typeface="Arial"/>
                <a:sym typeface="Arial"/>
              </a:rPr>
              <a:t>fluyen </a:t>
            </a:r>
            <a:r>
              <a:rPr i="1" lang="en-US" sz="2000">
                <a:solidFill>
                  <a:schemeClr val="lt1"/>
                </a:solidFill>
                <a:latin typeface="Arial"/>
                <a:ea typeface="Arial"/>
                <a:cs typeface="Arial"/>
                <a:sym typeface="Arial"/>
              </a:rPr>
              <a:t>alrededor de la caja flotante.</a:t>
            </a:r>
            <a:endParaRPr sz="2000">
              <a:solidFill>
                <a:schemeClr val="lt1"/>
              </a:solidFill>
              <a:latin typeface="Arial"/>
              <a:ea typeface="Arial"/>
              <a:cs typeface="Arial"/>
              <a:sym typeface="Arial"/>
            </a:endParaRPr>
          </a:p>
          <a:p>
            <a:pPr indent="0" lvl="0" marL="0" rtl="0" algn="just">
              <a:lnSpc>
                <a:spcPct val="100000"/>
              </a:lnSpc>
              <a:spcBef>
                <a:spcPts val="100"/>
              </a:spcBef>
              <a:spcAft>
                <a:spcPts val="0"/>
              </a:spcAft>
              <a:buNone/>
            </a:pPr>
            <a:r>
              <a:t/>
            </a:r>
            <a:endParaRPr sz="2000">
              <a:solidFill>
                <a:schemeClr val="lt1"/>
              </a:solidFill>
              <a:latin typeface="Arial"/>
              <a:ea typeface="Arial"/>
              <a:cs typeface="Arial"/>
              <a:sym typeface="Arial"/>
            </a:endParaRPr>
          </a:p>
          <a:p>
            <a:pPr indent="0" lvl="0" marL="12700" marR="12700" rtl="0" algn="just">
              <a:lnSpc>
                <a:spcPct val="100000"/>
              </a:lnSpc>
              <a:spcBef>
                <a:spcPts val="5"/>
              </a:spcBef>
              <a:spcAft>
                <a:spcPts val="0"/>
              </a:spcAft>
              <a:buNone/>
            </a:pPr>
            <a:r>
              <a:rPr lang="en-US" sz="2000">
                <a:solidFill>
                  <a:schemeClr val="lt1"/>
                </a:solidFill>
                <a:latin typeface="Arial"/>
                <a:ea typeface="Arial"/>
                <a:cs typeface="Arial"/>
                <a:sym typeface="Arial"/>
              </a:rPr>
              <a:t>El valor </a:t>
            </a:r>
            <a:r>
              <a:rPr b="1" lang="en-US" sz="2000">
                <a:solidFill>
                  <a:schemeClr val="lt2"/>
                </a:solidFill>
                <a:latin typeface="Arial"/>
                <a:ea typeface="Arial"/>
                <a:cs typeface="Arial"/>
                <a:sym typeface="Arial"/>
              </a:rPr>
              <a:t>right </a:t>
            </a:r>
            <a:r>
              <a:rPr lang="en-US" sz="2000">
                <a:solidFill>
                  <a:schemeClr val="lt1"/>
                </a:solidFill>
                <a:latin typeface="Arial"/>
                <a:ea typeface="Arial"/>
                <a:cs typeface="Arial"/>
                <a:sym typeface="Arial"/>
              </a:rPr>
              <a:t>tiene un funcionamiento </a:t>
            </a:r>
            <a:r>
              <a:rPr b="1" lang="en-US" sz="2000">
                <a:solidFill>
                  <a:schemeClr val="lt1"/>
                </a:solidFill>
                <a:latin typeface="Arial"/>
                <a:ea typeface="Arial"/>
                <a:cs typeface="Arial"/>
                <a:sym typeface="Arial"/>
              </a:rPr>
              <a:t>idéntico</a:t>
            </a:r>
            <a:r>
              <a:rPr lang="en-US" sz="2000">
                <a:solidFill>
                  <a:schemeClr val="lt1"/>
                </a:solidFill>
                <a:latin typeface="Arial"/>
                <a:ea typeface="Arial"/>
                <a:cs typeface="Arial"/>
                <a:sym typeface="Arial"/>
              </a:rPr>
              <a:t>, salvo que</a:t>
            </a:r>
            <a:r>
              <a:rPr lang="en-US" sz="2000">
                <a:solidFill>
                  <a:schemeClr val="lt1"/>
                </a:solidFill>
              </a:rPr>
              <a:t> </a:t>
            </a:r>
            <a:r>
              <a:rPr lang="en-US" sz="2000">
                <a:solidFill>
                  <a:schemeClr val="lt1"/>
                </a:solidFill>
                <a:latin typeface="Arial"/>
                <a:ea typeface="Arial"/>
                <a:cs typeface="Arial"/>
                <a:sym typeface="Arial"/>
              </a:rPr>
              <a:t>en este caso, la caja se desplaza hacia la derecha.</a:t>
            </a:r>
            <a:endParaRPr sz="2000">
              <a:solidFill>
                <a:schemeClr val="lt1"/>
              </a:solidFill>
              <a:latin typeface="Arial"/>
              <a:ea typeface="Arial"/>
              <a:cs typeface="Arial"/>
              <a:sym typeface="Arial"/>
            </a:endParaRPr>
          </a:p>
          <a:p>
            <a:pPr indent="0" lvl="0" marL="12700" rtl="0" algn="just">
              <a:lnSpc>
                <a:spcPct val="100000"/>
              </a:lnSpc>
              <a:spcBef>
                <a:spcPts val="0"/>
              </a:spcBef>
              <a:spcAft>
                <a:spcPts val="0"/>
              </a:spcAft>
              <a:buNone/>
            </a:pPr>
            <a:r>
              <a:rPr lang="en-US" sz="2000">
                <a:solidFill>
                  <a:schemeClr val="lt1"/>
                </a:solidFill>
                <a:latin typeface="Arial"/>
                <a:ea typeface="Arial"/>
                <a:cs typeface="Arial"/>
                <a:sym typeface="Arial"/>
              </a:rPr>
              <a:t>El valor </a:t>
            </a:r>
            <a:r>
              <a:rPr b="1" lang="en-US" sz="2000">
                <a:solidFill>
                  <a:schemeClr val="lt2"/>
                </a:solidFill>
                <a:latin typeface="Arial"/>
                <a:ea typeface="Arial"/>
                <a:cs typeface="Arial"/>
                <a:sym typeface="Arial"/>
              </a:rPr>
              <a:t>none </a:t>
            </a:r>
            <a:r>
              <a:rPr lang="en-US" sz="2000">
                <a:solidFill>
                  <a:schemeClr val="lt1"/>
                </a:solidFill>
                <a:latin typeface="Arial"/>
                <a:ea typeface="Arial"/>
                <a:cs typeface="Arial"/>
                <a:sym typeface="Arial"/>
              </a:rPr>
              <a:t>permite </a:t>
            </a:r>
            <a:r>
              <a:rPr b="1" lang="en-US" sz="2000">
                <a:solidFill>
                  <a:schemeClr val="lt1"/>
                </a:solidFill>
                <a:latin typeface="Arial"/>
                <a:ea typeface="Arial"/>
                <a:cs typeface="Arial"/>
                <a:sym typeface="Arial"/>
              </a:rPr>
              <a:t>anular </a:t>
            </a:r>
            <a:r>
              <a:rPr lang="en-US" sz="2000">
                <a:solidFill>
                  <a:schemeClr val="lt1"/>
                </a:solidFill>
                <a:latin typeface="Arial"/>
                <a:ea typeface="Arial"/>
                <a:cs typeface="Arial"/>
                <a:sym typeface="Arial"/>
              </a:rPr>
              <a:t>el posicionamiento flotante de	forma que el</a:t>
            </a:r>
            <a:r>
              <a:rPr lang="en-US" sz="2000">
                <a:solidFill>
                  <a:schemeClr val="lt1"/>
                </a:solidFill>
              </a:rPr>
              <a:t> </a:t>
            </a:r>
            <a:r>
              <a:rPr lang="en-US" sz="2000">
                <a:solidFill>
                  <a:schemeClr val="lt1"/>
                </a:solidFill>
                <a:latin typeface="Arial"/>
                <a:ea typeface="Arial"/>
                <a:cs typeface="Arial"/>
                <a:sym typeface="Arial"/>
              </a:rPr>
              <a:t>elemento se muestre en su posición original.</a:t>
            </a:r>
            <a:endParaRPr sz="2000">
              <a:solidFill>
                <a:schemeClr val="lt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5"/>
          <p:cNvSpPr txBox="1"/>
          <p:nvPr/>
        </p:nvSpPr>
        <p:spPr>
          <a:xfrm>
            <a:off x="982975" y="171800"/>
            <a:ext cx="7589400" cy="997800"/>
          </a:xfrm>
          <a:prstGeom prst="rect">
            <a:avLst/>
          </a:prstGeom>
          <a:noFill/>
          <a:ln>
            <a:noFill/>
          </a:ln>
        </p:spPr>
        <p:txBody>
          <a:bodyPr anchorCtr="0" anchor="t" bIns="0" lIns="0" spcFirstLastPara="1" rIns="0" wrap="square" tIns="73650">
            <a:spAutoFit/>
          </a:bodyPr>
          <a:lstStyle/>
          <a:p>
            <a:pPr indent="0" lvl="0" marL="12700" rtl="0" algn="just">
              <a:lnSpc>
                <a:spcPct val="100000"/>
              </a:lnSpc>
              <a:spcBef>
                <a:spcPts val="0"/>
              </a:spcBef>
              <a:spcAft>
                <a:spcPts val="0"/>
              </a:spcAft>
              <a:buNone/>
            </a:pPr>
            <a:r>
              <a:rPr lang="en-US" sz="2000">
                <a:solidFill>
                  <a:schemeClr val="lt1"/>
                </a:solidFill>
                <a:latin typeface="Arial"/>
                <a:ea typeface="Arial"/>
                <a:cs typeface="Arial"/>
                <a:sym typeface="Arial"/>
              </a:rPr>
              <a:t>Los elementos que se encuentran alrededor de una caja</a:t>
            </a:r>
            <a:r>
              <a:rPr lang="en-US" sz="2000">
                <a:solidFill>
                  <a:schemeClr val="lt1"/>
                </a:solidFill>
              </a:rPr>
              <a:t> </a:t>
            </a:r>
            <a:r>
              <a:rPr lang="en-US" sz="2000">
                <a:solidFill>
                  <a:schemeClr val="lt1"/>
                </a:solidFill>
                <a:latin typeface="Arial"/>
                <a:ea typeface="Arial"/>
                <a:cs typeface="Arial"/>
                <a:sym typeface="Arial"/>
              </a:rPr>
              <a:t>flotante</a:t>
            </a:r>
            <a:r>
              <a:rPr lang="en-US" sz="2000">
                <a:solidFill>
                  <a:schemeClr val="lt1"/>
                </a:solidFill>
              </a:rPr>
              <a:t> </a:t>
            </a:r>
            <a:r>
              <a:rPr lang="en-US" sz="2000">
                <a:solidFill>
                  <a:schemeClr val="lt1"/>
                </a:solidFill>
                <a:latin typeface="Arial"/>
                <a:ea typeface="Arial"/>
                <a:cs typeface="Arial"/>
                <a:sym typeface="Arial"/>
              </a:rPr>
              <a:t>adaptan	sus	contenidos	para	que</a:t>
            </a:r>
            <a:r>
              <a:rPr lang="en-US" sz="2000">
                <a:solidFill>
                  <a:schemeClr val="lt1"/>
                </a:solidFill>
              </a:rPr>
              <a:t> </a:t>
            </a:r>
            <a:r>
              <a:rPr lang="en-US" sz="2000">
                <a:solidFill>
                  <a:schemeClr val="lt1"/>
                </a:solidFill>
              </a:rPr>
              <a:t>fluyan </a:t>
            </a:r>
            <a:r>
              <a:rPr lang="en-US" sz="2000">
                <a:solidFill>
                  <a:schemeClr val="lt1"/>
                </a:solidFill>
                <a:latin typeface="Arial"/>
                <a:ea typeface="Arial"/>
                <a:cs typeface="Arial"/>
                <a:sym typeface="Arial"/>
              </a:rPr>
              <a:t>alrededor del elemento posicionado:</a:t>
            </a:r>
            <a:endParaRPr sz="2000">
              <a:solidFill>
                <a:schemeClr val="lt1"/>
              </a:solidFill>
              <a:latin typeface="Arial"/>
              <a:ea typeface="Arial"/>
              <a:cs typeface="Arial"/>
              <a:sym typeface="Arial"/>
            </a:endParaRPr>
          </a:p>
        </p:txBody>
      </p:sp>
      <p:grpSp>
        <p:nvGrpSpPr>
          <p:cNvPr id="415" name="Google Shape;415;p55"/>
          <p:cNvGrpSpPr/>
          <p:nvPr/>
        </p:nvGrpSpPr>
        <p:grpSpPr>
          <a:xfrm>
            <a:off x="1133094" y="1322010"/>
            <a:ext cx="7589520" cy="3982212"/>
            <a:chOff x="733044" y="1242060"/>
            <a:chExt cx="7589520" cy="3982212"/>
          </a:xfrm>
        </p:grpSpPr>
        <p:pic>
          <p:nvPicPr>
            <p:cNvPr id="416" name="Google Shape;416;p55"/>
            <p:cNvPicPr preferRelativeResize="0"/>
            <p:nvPr/>
          </p:nvPicPr>
          <p:blipFill rotWithShape="1">
            <a:blip r:embed="rId3">
              <a:alphaModFix/>
            </a:blip>
            <a:srcRect b="0" l="0" r="0" t="0"/>
            <a:stretch/>
          </p:blipFill>
          <p:spPr>
            <a:xfrm>
              <a:off x="733044" y="1304544"/>
              <a:ext cx="7589520" cy="3919728"/>
            </a:xfrm>
            <a:prstGeom prst="rect">
              <a:avLst/>
            </a:prstGeom>
            <a:noFill/>
            <a:ln>
              <a:noFill/>
            </a:ln>
          </p:spPr>
        </p:pic>
        <p:pic>
          <p:nvPicPr>
            <p:cNvPr id="417" name="Google Shape;417;p55"/>
            <p:cNvPicPr preferRelativeResize="0"/>
            <p:nvPr/>
          </p:nvPicPr>
          <p:blipFill rotWithShape="1">
            <a:blip r:embed="rId4">
              <a:alphaModFix/>
            </a:blip>
            <a:srcRect b="0" l="0" r="0" t="0"/>
            <a:stretch/>
          </p:blipFill>
          <p:spPr>
            <a:xfrm>
              <a:off x="928116" y="1242060"/>
              <a:ext cx="7001256" cy="3329940"/>
            </a:xfrm>
            <a:prstGeom prst="rect">
              <a:avLst/>
            </a:prstGeom>
            <a:noFill/>
            <a:ln>
              <a:noFill/>
            </a:ln>
          </p:spPr>
        </p:pic>
      </p:grpSp>
      <p:sp>
        <p:nvSpPr>
          <p:cNvPr id="418" name="Google Shape;418;p55"/>
          <p:cNvSpPr txBox="1"/>
          <p:nvPr/>
        </p:nvSpPr>
        <p:spPr>
          <a:xfrm>
            <a:off x="567944" y="4771135"/>
            <a:ext cx="7318500" cy="1860600"/>
          </a:xfrm>
          <a:prstGeom prst="rect">
            <a:avLst/>
          </a:prstGeom>
          <a:noFill/>
          <a:ln>
            <a:noFill/>
          </a:ln>
        </p:spPr>
        <p:txBody>
          <a:bodyPr anchorCtr="0" anchor="t" bIns="0" lIns="0" spcFirstLastPara="1" rIns="0" wrap="square" tIns="12700">
            <a:spAutoFit/>
          </a:bodyPr>
          <a:lstStyle/>
          <a:p>
            <a:pPr indent="0" lvl="0" marL="12700" marR="0" rtl="0" algn="just">
              <a:lnSpc>
                <a:spcPct val="100000"/>
              </a:lnSpc>
              <a:spcBef>
                <a:spcPts val="0"/>
              </a:spcBef>
              <a:spcAft>
                <a:spcPts val="0"/>
              </a:spcAft>
              <a:buNone/>
            </a:pPr>
            <a:r>
              <a:rPr lang="en-US" sz="2000">
                <a:solidFill>
                  <a:schemeClr val="lt1"/>
                </a:solidFill>
                <a:latin typeface="Arial"/>
                <a:ea typeface="Arial"/>
                <a:cs typeface="Arial"/>
                <a:sym typeface="Arial"/>
              </a:rPr>
              <a:t>La regla CSS que se aplica en la imagen del ejemplo anterior es: </a:t>
            </a:r>
            <a:r>
              <a:rPr lang="en-US" sz="2000">
                <a:solidFill>
                  <a:schemeClr val="lt2"/>
                </a:solidFill>
                <a:latin typeface="Arial"/>
                <a:ea typeface="Arial"/>
                <a:cs typeface="Arial"/>
                <a:sym typeface="Arial"/>
              </a:rPr>
              <a:t>img {</a:t>
            </a:r>
            <a:endParaRPr sz="2000">
              <a:solidFill>
                <a:schemeClr val="lt2"/>
              </a:solidFill>
              <a:latin typeface="Arial"/>
              <a:ea typeface="Arial"/>
              <a:cs typeface="Arial"/>
              <a:sym typeface="Arial"/>
            </a:endParaRPr>
          </a:p>
          <a:p>
            <a:pPr indent="444500" lvl="0" marL="12700" marR="0" rtl="0" algn="just">
              <a:lnSpc>
                <a:spcPct val="100000"/>
              </a:lnSpc>
              <a:spcBef>
                <a:spcPts val="0"/>
              </a:spcBef>
              <a:spcAft>
                <a:spcPts val="0"/>
              </a:spcAft>
              <a:buNone/>
            </a:pPr>
            <a:r>
              <a:rPr lang="en-US" sz="2000">
                <a:solidFill>
                  <a:schemeClr val="lt2"/>
                </a:solidFill>
                <a:latin typeface="Arial"/>
                <a:ea typeface="Arial"/>
                <a:cs typeface="Arial"/>
                <a:sym typeface="Arial"/>
              </a:rPr>
              <a:t>float: left;</a:t>
            </a:r>
            <a:endParaRPr sz="2000">
              <a:solidFill>
                <a:schemeClr val="lt2"/>
              </a:solidFill>
              <a:latin typeface="Arial"/>
              <a:ea typeface="Arial"/>
              <a:cs typeface="Arial"/>
              <a:sym typeface="Arial"/>
            </a:endParaRPr>
          </a:p>
          <a:p>
            <a:pPr indent="0" lvl="0" marL="12700" marR="0" rtl="0" algn="just">
              <a:lnSpc>
                <a:spcPct val="100000"/>
              </a:lnSpc>
              <a:spcBef>
                <a:spcPts val="5"/>
              </a:spcBef>
              <a:spcAft>
                <a:spcPts val="0"/>
              </a:spcAft>
              <a:buNone/>
            </a:pPr>
            <a:r>
              <a:rPr lang="en-US" sz="2000">
                <a:solidFill>
                  <a:schemeClr val="lt2"/>
                </a:solidFill>
                <a:latin typeface="Arial"/>
                <a:ea typeface="Arial"/>
                <a:cs typeface="Arial"/>
                <a:sym typeface="Arial"/>
              </a:rPr>
              <a:t>}</a:t>
            </a:r>
            <a:endParaRPr sz="2000">
              <a:solidFill>
                <a:schemeClr val="lt2"/>
              </a:solidFill>
              <a:latin typeface="Arial"/>
              <a:ea typeface="Arial"/>
              <a:cs typeface="Arial"/>
              <a:sym typeface="Arial"/>
            </a:endParaRPr>
          </a:p>
          <a:p>
            <a:pPr indent="0" lvl="0" marL="12700" marR="0" rtl="0" algn="just">
              <a:lnSpc>
                <a:spcPct val="100000"/>
              </a:lnSpc>
              <a:spcBef>
                <a:spcPts val="0"/>
              </a:spcBef>
              <a:spcAft>
                <a:spcPts val="0"/>
              </a:spcAft>
              <a:buNone/>
            </a:pPr>
            <a:r>
              <a:rPr lang="en-US" sz="2000">
                <a:solidFill>
                  <a:schemeClr val="lt1"/>
                </a:solidFill>
                <a:latin typeface="Arial"/>
                <a:ea typeface="Arial"/>
                <a:cs typeface="Arial"/>
                <a:sym typeface="Arial"/>
              </a:rPr>
              <a:t>Creación del posicionamiento float f -- &gt; posibilidad de colocar imágenes alrededor de las cuales fluye el </a:t>
            </a:r>
            <a:r>
              <a:rPr b="1" lang="en-US" sz="2000">
                <a:solidFill>
                  <a:schemeClr val="lt1"/>
                </a:solidFill>
                <a:latin typeface="Arial"/>
                <a:ea typeface="Arial"/>
                <a:cs typeface="Arial"/>
                <a:sym typeface="Arial"/>
              </a:rPr>
              <a:t>texto</a:t>
            </a:r>
            <a:r>
              <a:rPr lang="en-US" sz="2000">
                <a:solidFill>
                  <a:schemeClr val="lt1"/>
                </a:solidFill>
                <a:latin typeface="Arial"/>
                <a:ea typeface="Arial"/>
                <a:cs typeface="Arial"/>
                <a:sym typeface="Arial"/>
              </a:rPr>
              <a:t>.</a:t>
            </a:r>
            <a:endParaRPr sz="2000">
              <a:solidFill>
                <a:schemeClr val="lt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6"/>
          <p:cNvSpPr txBox="1"/>
          <p:nvPr>
            <p:ph type="title"/>
          </p:nvPr>
        </p:nvSpPr>
        <p:spPr>
          <a:xfrm>
            <a:off x="1297500" y="525000"/>
            <a:ext cx="7541700" cy="1932600"/>
          </a:xfrm>
          <a:prstGeom prst="rect">
            <a:avLst/>
          </a:prstGeom>
          <a:noFill/>
          <a:ln>
            <a:noFill/>
          </a:ln>
        </p:spPr>
        <p:txBody>
          <a:bodyPr anchorCtr="0" anchor="t" bIns="0" lIns="0" spcFirstLastPara="1" rIns="0" wrap="square" tIns="13325">
            <a:spAutoFit/>
          </a:bodyPr>
          <a:lstStyle/>
          <a:p>
            <a:pPr indent="0" lvl="0" marL="12700" rtl="0" algn="just">
              <a:lnSpc>
                <a:spcPct val="100000"/>
              </a:lnSpc>
              <a:spcBef>
                <a:spcPts val="0"/>
              </a:spcBef>
              <a:spcAft>
                <a:spcPts val="0"/>
              </a:spcAft>
              <a:buNone/>
            </a:pPr>
            <a:r>
              <a:rPr b="0" lang="en-US" sz="1900">
                <a:latin typeface="Arial"/>
                <a:ea typeface="Arial"/>
                <a:cs typeface="Arial"/>
                <a:sym typeface="Arial"/>
              </a:rPr>
              <a:t>CSS permite controlar la forma en la que los contenidos</a:t>
            </a:r>
            <a:r>
              <a:rPr lang="en-US" sz="1900">
                <a:latin typeface="Arial"/>
                <a:ea typeface="Arial"/>
                <a:cs typeface="Arial"/>
                <a:sym typeface="Arial"/>
              </a:rPr>
              <a:t> </a:t>
            </a:r>
            <a:r>
              <a:rPr b="0" lang="en-US" sz="1900">
                <a:latin typeface="Arial"/>
                <a:ea typeface="Arial"/>
                <a:cs typeface="Arial"/>
                <a:sym typeface="Arial"/>
              </a:rPr>
              <a:t>fluyen</a:t>
            </a:r>
            <a:r>
              <a:rPr lang="en-US" sz="1900">
                <a:latin typeface="Arial"/>
                <a:ea typeface="Arial"/>
                <a:cs typeface="Arial"/>
                <a:sym typeface="Arial"/>
              </a:rPr>
              <a:t> </a:t>
            </a:r>
            <a:r>
              <a:rPr b="0" lang="en-US" sz="1900">
                <a:latin typeface="Arial"/>
                <a:ea typeface="Arial"/>
                <a:cs typeface="Arial"/>
                <a:sym typeface="Arial"/>
              </a:rPr>
              <a:t>alrededor de los contenidos posicionados mediante</a:t>
            </a:r>
            <a:r>
              <a:rPr lang="en-US" sz="1900">
                <a:latin typeface="Arial"/>
                <a:ea typeface="Arial"/>
                <a:cs typeface="Arial"/>
                <a:sym typeface="Arial"/>
              </a:rPr>
              <a:t> </a:t>
            </a:r>
            <a:r>
              <a:rPr b="0" lang="en-US" sz="1900">
                <a:latin typeface="Arial"/>
                <a:ea typeface="Arial"/>
                <a:cs typeface="Arial"/>
                <a:sym typeface="Arial"/>
              </a:rPr>
              <a:t>float.</a:t>
            </a:r>
            <a:endParaRPr b="0" sz="1900">
              <a:latin typeface="Arial"/>
              <a:ea typeface="Arial"/>
              <a:cs typeface="Arial"/>
              <a:sym typeface="Arial"/>
            </a:endParaRPr>
          </a:p>
          <a:p>
            <a:pPr indent="0" lvl="0" marL="12700" rtl="0" algn="just">
              <a:lnSpc>
                <a:spcPct val="118750"/>
              </a:lnSpc>
              <a:spcBef>
                <a:spcPts val="0"/>
              </a:spcBef>
              <a:spcAft>
                <a:spcPts val="0"/>
              </a:spcAft>
              <a:buNone/>
            </a:pPr>
            <a:r>
              <a:rPr lang="en-US" sz="1900">
                <a:latin typeface="Arial"/>
                <a:ea typeface="Arial"/>
                <a:cs typeface="Arial"/>
                <a:sym typeface="Arial"/>
              </a:rPr>
              <a:t>De hecho, en muchas ocasiones es admisible que algunos contenidos fluyan alrededor de una imagen, pero el resto de contenidos deben mostrarse en su totalidad sin fluir alrededor de la imagen:</a:t>
            </a:r>
            <a:endParaRPr sz="1900">
              <a:latin typeface="Arial"/>
              <a:ea typeface="Arial"/>
              <a:cs typeface="Arial"/>
              <a:sym typeface="Arial"/>
            </a:endParaRPr>
          </a:p>
          <a:p>
            <a:pPr indent="0" lvl="0" marL="12700" rtl="0" algn="l">
              <a:lnSpc>
                <a:spcPct val="100000"/>
              </a:lnSpc>
              <a:spcBef>
                <a:spcPts val="0"/>
              </a:spcBef>
              <a:spcAft>
                <a:spcPts val="0"/>
              </a:spcAft>
              <a:buNone/>
            </a:pPr>
            <a:r>
              <a:t/>
            </a:r>
            <a:endParaRPr sz="1900">
              <a:latin typeface="Arial"/>
              <a:ea typeface="Arial"/>
              <a:cs typeface="Arial"/>
              <a:sym typeface="Arial"/>
            </a:endParaRPr>
          </a:p>
        </p:txBody>
      </p:sp>
      <p:pic>
        <p:nvPicPr>
          <p:cNvPr id="424" name="Google Shape;424;p56"/>
          <p:cNvPicPr preferRelativeResize="0"/>
          <p:nvPr/>
        </p:nvPicPr>
        <p:blipFill rotWithShape="1">
          <a:blip r:embed="rId3">
            <a:alphaModFix/>
          </a:blip>
          <a:srcRect b="0" l="0" r="0" t="0"/>
          <a:stretch/>
        </p:blipFill>
        <p:spPr>
          <a:xfrm>
            <a:off x="1600200" y="2209800"/>
            <a:ext cx="6429756" cy="2695956"/>
          </a:xfrm>
          <a:prstGeom prst="rect">
            <a:avLst/>
          </a:prstGeom>
          <a:noFill/>
          <a:ln>
            <a:noFill/>
          </a:ln>
        </p:spPr>
      </p:pic>
      <p:sp>
        <p:nvSpPr>
          <p:cNvPr id="425" name="Google Shape;425;p56"/>
          <p:cNvSpPr txBox="1"/>
          <p:nvPr/>
        </p:nvSpPr>
        <p:spPr>
          <a:xfrm>
            <a:off x="1146046" y="5062473"/>
            <a:ext cx="7338000" cy="5670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solidFill>
                  <a:schemeClr val="lt1"/>
                </a:solidFill>
                <a:latin typeface="Arial"/>
                <a:ea typeface="Arial"/>
                <a:cs typeface="Arial"/>
                <a:sym typeface="Arial"/>
              </a:rPr>
              <a:t>La regla CSS que se aplica al segundo párrafo del ejemplo anterior es la siguiente: </a:t>
            </a:r>
            <a:r>
              <a:rPr lang="en-US" sz="1800">
                <a:solidFill>
                  <a:schemeClr val="lt2"/>
                </a:solidFill>
                <a:latin typeface="Arial"/>
                <a:ea typeface="Arial"/>
                <a:cs typeface="Arial"/>
                <a:sym typeface="Arial"/>
              </a:rPr>
              <a:t>clear left</a:t>
            </a:r>
            <a:endParaRPr sz="1800">
              <a:solidFill>
                <a:schemeClr val="lt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pic>
        <p:nvPicPr>
          <p:cNvPr id="430" name="Google Shape;430;p57"/>
          <p:cNvPicPr preferRelativeResize="0"/>
          <p:nvPr/>
        </p:nvPicPr>
        <p:blipFill rotWithShape="1">
          <a:blip r:embed="rId3">
            <a:alphaModFix/>
          </a:blip>
          <a:srcRect b="0" l="0" r="0" t="0"/>
          <a:stretch/>
        </p:blipFill>
        <p:spPr>
          <a:xfrm>
            <a:off x="71627" y="214884"/>
            <a:ext cx="9000744" cy="2333244"/>
          </a:xfrm>
          <a:prstGeom prst="rect">
            <a:avLst/>
          </a:prstGeom>
          <a:noFill/>
          <a:ln>
            <a:noFill/>
          </a:ln>
        </p:spPr>
      </p:pic>
      <p:sp>
        <p:nvSpPr>
          <p:cNvPr id="431" name="Google Shape;431;p57"/>
          <p:cNvSpPr txBox="1"/>
          <p:nvPr/>
        </p:nvSpPr>
        <p:spPr>
          <a:xfrm>
            <a:off x="418206" y="2904744"/>
            <a:ext cx="8307600" cy="3104700"/>
          </a:xfrm>
          <a:prstGeom prst="rect">
            <a:avLst/>
          </a:prstGeom>
          <a:noFill/>
          <a:ln>
            <a:noFill/>
          </a:ln>
        </p:spPr>
        <p:txBody>
          <a:bodyPr anchorCtr="0" anchor="t" bIns="0" lIns="0" spcFirstLastPara="1" rIns="0" wrap="square" tIns="13325">
            <a:spAutoFit/>
          </a:bodyPr>
          <a:lstStyle/>
          <a:p>
            <a:pPr indent="0" lvl="0" marL="12700" marR="19050" rtl="0" algn="just">
              <a:lnSpc>
                <a:spcPct val="100000"/>
              </a:lnSpc>
              <a:spcBef>
                <a:spcPts val="0"/>
              </a:spcBef>
              <a:spcAft>
                <a:spcPts val="0"/>
              </a:spcAft>
              <a:buNone/>
            </a:pPr>
            <a:r>
              <a:rPr lang="en-US" sz="2000">
                <a:solidFill>
                  <a:schemeClr val="lt1"/>
                </a:solidFill>
                <a:latin typeface="Arial"/>
                <a:ea typeface="Arial"/>
                <a:cs typeface="Arial"/>
                <a:sym typeface="Arial"/>
              </a:rPr>
              <a:t>La</a:t>
            </a:r>
            <a:r>
              <a:rPr lang="en-US" sz="2000">
                <a:solidFill>
                  <a:schemeClr val="lt1"/>
                </a:solidFill>
              </a:rPr>
              <a:t> </a:t>
            </a:r>
            <a:r>
              <a:rPr lang="en-US" sz="2000">
                <a:solidFill>
                  <a:schemeClr val="lt1"/>
                </a:solidFill>
                <a:latin typeface="Arial"/>
                <a:ea typeface="Arial"/>
                <a:cs typeface="Arial"/>
                <a:sym typeface="Arial"/>
              </a:rPr>
              <a:t>propiedad</a:t>
            </a:r>
            <a:r>
              <a:rPr lang="en-US" sz="2000">
                <a:solidFill>
                  <a:schemeClr val="lt1"/>
                </a:solidFill>
              </a:rPr>
              <a:t> </a:t>
            </a:r>
            <a:r>
              <a:rPr lang="en-US" sz="2000">
                <a:solidFill>
                  <a:schemeClr val="lt2"/>
                </a:solidFill>
                <a:latin typeface="Arial"/>
                <a:ea typeface="Arial"/>
                <a:cs typeface="Arial"/>
                <a:sym typeface="Arial"/>
              </a:rPr>
              <a:t>clear</a:t>
            </a:r>
            <a:r>
              <a:rPr lang="en-US" sz="2000">
                <a:solidFill>
                  <a:schemeClr val="lt2"/>
                </a:solidFill>
              </a:rPr>
              <a:t> </a:t>
            </a:r>
            <a:r>
              <a:rPr lang="en-US" sz="2000">
                <a:solidFill>
                  <a:schemeClr val="lt1"/>
                </a:solidFill>
                <a:latin typeface="Arial"/>
                <a:ea typeface="Arial"/>
                <a:cs typeface="Arial"/>
                <a:sym typeface="Arial"/>
              </a:rPr>
              <a:t>indica</a:t>
            </a:r>
            <a:r>
              <a:rPr lang="en-US" sz="2000">
                <a:solidFill>
                  <a:schemeClr val="lt1"/>
                </a:solidFill>
              </a:rPr>
              <a:t> </a:t>
            </a:r>
            <a:r>
              <a:rPr lang="en-US" sz="2000">
                <a:solidFill>
                  <a:schemeClr val="lt1"/>
                </a:solidFill>
                <a:latin typeface="Arial"/>
                <a:ea typeface="Arial"/>
                <a:cs typeface="Arial"/>
                <a:sym typeface="Arial"/>
              </a:rPr>
              <a:t>el</a:t>
            </a:r>
            <a:r>
              <a:rPr lang="en-US" sz="2000">
                <a:solidFill>
                  <a:schemeClr val="lt1"/>
                </a:solidFill>
              </a:rPr>
              <a:t> </a:t>
            </a:r>
            <a:r>
              <a:rPr lang="en-US" sz="2000">
                <a:solidFill>
                  <a:schemeClr val="lt1"/>
                </a:solidFill>
                <a:latin typeface="Arial"/>
                <a:ea typeface="Arial"/>
                <a:cs typeface="Arial"/>
                <a:sym typeface="Arial"/>
              </a:rPr>
              <a:t>lado</a:t>
            </a:r>
            <a:r>
              <a:rPr lang="en-US" sz="2000">
                <a:solidFill>
                  <a:schemeClr val="lt1"/>
                </a:solidFill>
              </a:rPr>
              <a:t> </a:t>
            </a:r>
            <a:r>
              <a:rPr lang="en-US" sz="2000">
                <a:solidFill>
                  <a:schemeClr val="lt1"/>
                </a:solidFill>
                <a:latin typeface="Arial"/>
                <a:ea typeface="Arial"/>
                <a:cs typeface="Arial"/>
                <a:sym typeface="Arial"/>
              </a:rPr>
              <a:t>del</a:t>
            </a:r>
            <a:r>
              <a:rPr lang="en-US" sz="2000">
                <a:solidFill>
                  <a:schemeClr val="lt1"/>
                </a:solidFill>
              </a:rPr>
              <a:t> </a:t>
            </a:r>
            <a:r>
              <a:rPr lang="en-US" sz="2000">
                <a:solidFill>
                  <a:schemeClr val="lt1"/>
                </a:solidFill>
                <a:latin typeface="Arial"/>
                <a:ea typeface="Arial"/>
                <a:cs typeface="Arial"/>
                <a:sym typeface="Arial"/>
              </a:rPr>
              <a:t>elemento</a:t>
            </a:r>
            <a:r>
              <a:rPr lang="en-US" sz="2000">
                <a:solidFill>
                  <a:schemeClr val="lt1"/>
                </a:solidFill>
              </a:rPr>
              <a:t> </a:t>
            </a:r>
            <a:r>
              <a:rPr lang="en-US" sz="2000">
                <a:solidFill>
                  <a:schemeClr val="lt1"/>
                </a:solidFill>
                <a:latin typeface="Arial"/>
                <a:ea typeface="Arial"/>
                <a:cs typeface="Arial"/>
                <a:sym typeface="Arial"/>
              </a:rPr>
              <a:t>HTML</a:t>
            </a:r>
            <a:r>
              <a:rPr lang="en-US" sz="2000">
                <a:solidFill>
                  <a:schemeClr val="lt1"/>
                </a:solidFill>
              </a:rPr>
              <a:t> </a:t>
            </a:r>
            <a:r>
              <a:rPr lang="en-US" sz="2000">
                <a:solidFill>
                  <a:schemeClr val="lt1"/>
                </a:solidFill>
                <a:latin typeface="Arial"/>
                <a:ea typeface="Arial"/>
                <a:cs typeface="Arial"/>
                <a:sym typeface="Arial"/>
              </a:rPr>
              <a:t>que</a:t>
            </a:r>
            <a:r>
              <a:rPr lang="en-US" sz="2000">
                <a:solidFill>
                  <a:schemeClr val="lt1"/>
                </a:solidFill>
              </a:rPr>
              <a:t> </a:t>
            </a:r>
            <a:r>
              <a:rPr b="1" lang="en-US" sz="2000">
                <a:solidFill>
                  <a:schemeClr val="lt2"/>
                </a:solidFill>
                <a:latin typeface="Arial"/>
                <a:ea typeface="Arial"/>
                <a:cs typeface="Arial"/>
                <a:sym typeface="Arial"/>
              </a:rPr>
              <a:t>no</a:t>
            </a:r>
            <a:r>
              <a:rPr b="1" lang="en-US" sz="2000">
                <a:solidFill>
                  <a:schemeClr val="lt2"/>
                </a:solidFill>
              </a:rPr>
              <a:t> </a:t>
            </a:r>
            <a:r>
              <a:rPr b="1" lang="en-US" sz="2000">
                <a:solidFill>
                  <a:schemeClr val="lt2"/>
                </a:solidFill>
                <a:latin typeface="Arial"/>
                <a:ea typeface="Arial"/>
                <a:cs typeface="Arial"/>
                <a:sym typeface="Arial"/>
              </a:rPr>
              <a:t>deb</a:t>
            </a:r>
            <a:r>
              <a:rPr b="1" lang="en-US" sz="2000">
                <a:solidFill>
                  <a:schemeClr val="lt2"/>
                </a:solidFill>
                <a:latin typeface="Arial"/>
                <a:ea typeface="Arial"/>
                <a:cs typeface="Arial"/>
                <a:sym typeface="Arial"/>
              </a:rPr>
              <a:t>e</a:t>
            </a:r>
            <a:r>
              <a:rPr b="1" lang="en-US" sz="2000">
                <a:solidFill>
                  <a:schemeClr val="lt2"/>
                </a:solidFill>
              </a:rPr>
              <a:t> </a:t>
            </a:r>
            <a:r>
              <a:rPr lang="en-US" sz="2000">
                <a:solidFill>
                  <a:schemeClr val="lt2"/>
                </a:solidFill>
                <a:latin typeface="Arial"/>
                <a:ea typeface="Arial"/>
                <a:cs typeface="Arial"/>
                <a:sym typeface="Arial"/>
              </a:rPr>
              <a:t>ser</a:t>
            </a:r>
            <a:r>
              <a:rPr lang="en-US" sz="2000">
                <a:solidFill>
                  <a:schemeClr val="lt2"/>
                </a:solidFill>
              </a:rPr>
              <a:t> </a:t>
            </a:r>
            <a:r>
              <a:rPr b="1" lang="en-US" sz="2000">
                <a:solidFill>
                  <a:schemeClr val="lt2"/>
                </a:solidFill>
                <a:latin typeface="Arial"/>
                <a:ea typeface="Arial"/>
                <a:cs typeface="Arial"/>
                <a:sym typeface="Arial"/>
              </a:rPr>
              <a:t>adyacente</a:t>
            </a:r>
            <a:r>
              <a:rPr b="1" lang="en-US" sz="2000">
                <a:solidFill>
                  <a:schemeClr val="lt1"/>
                </a:solidFill>
              </a:rPr>
              <a:t> </a:t>
            </a:r>
            <a:r>
              <a:rPr lang="en-US" sz="2000">
                <a:solidFill>
                  <a:schemeClr val="lt1"/>
                </a:solidFill>
                <a:latin typeface="Arial"/>
                <a:ea typeface="Arial"/>
                <a:cs typeface="Arial"/>
                <a:sym typeface="Arial"/>
              </a:rPr>
              <a:t>a</a:t>
            </a:r>
            <a:r>
              <a:rPr lang="en-US" sz="2000">
                <a:solidFill>
                  <a:schemeClr val="lt1"/>
                </a:solidFill>
              </a:rPr>
              <a:t> </a:t>
            </a:r>
            <a:r>
              <a:rPr lang="en-US" sz="2000">
                <a:solidFill>
                  <a:schemeClr val="lt1"/>
                </a:solidFill>
                <a:latin typeface="Arial"/>
                <a:ea typeface="Arial"/>
                <a:cs typeface="Arial"/>
                <a:sym typeface="Arial"/>
              </a:rPr>
              <a:t>ninguna</a:t>
            </a:r>
            <a:r>
              <a:rPr lang="en-US" sz="2000">
                <a:solidFill>
                  <a:schemeClr val="lt1"/>
                </a:solidFill>
              </a:rPr>
              <a:t> </a:t>
            </a:r>
            <a:r>
              <a:rPr lang="en-US" sz="2000">
                <a:solidFill>
                  <a:schemeClr val="lt1"/>
                </a:solidFill>
                <a:latin typeface="Arial"/>
                <a:ea typeface="Arial"/>
                <a:cs typeface="Arial"/>
                <a:sym typeface="Arial"/>
              </a:rPr>
              <a:t>caja</a:t>
            </a:r>
            <a:r>
              <a:rPr lang="en-US" sz="2000">
                <a:solidFill>
                  <a:schemeClr val="lt1"/>
                </a:solidFill>
              </a:rPr>
              <a:t> </a:t>
            </a:r>
            <a:r>
              <a:rPr lang="en-US" sz="2000">
                <a:solidFill>
                  <a:schemeClr val="lt1"/>
                </a:solidFill>
                <a:latin typeface="Arial"/>
                <a:ea typeface="Arial"/>
                <a:cs typeface="Arial"/>
                <a:sym typeface="Arial"/>
              </a:rPr>
              <a:t>posicionada</a:t>
            </a:r>
            <a:r>
              <a:rPr lang="en-US" sz="2000">
                <a:solidFill>
                  <a:schemeClr val="lt1"/>
                </a:solidFill>
              </a:rPr>
              <a:t> </a:t>
            </a:r>
            <a:r>
              <a:rPr lang="en-US" sz="2000">
                <a:solidFill>
                  <a:schemeClr val="lt1"/>
                </a:solidFill>
                <a:latin typeface="Arial"/>
                <a:ea typeface="Arial"/>
                <a:cs typeface="Arial"/>
                <a:sym typeface="Arial"/>
              </a:rPr>
              <a:t>de</a:t>
            </a:r>
            <a:r>
              <a:rPr lang="en-US" sz="2000">
                <a:solidFill>
                  <a:schemeClr val="lt1"/>
                </a:solidFill>
              </a:rPr>
              <a:t> </a:t>
            </a:r>
            <a:r>
              <a:rPr b="1" lang="en-US" sz="2000">
                <a:solidFill>
                  <a:schemeClr val="lt2"/>
                </a:solidFill>
                <a:latin typeface="Arial"/>
                <a:ea typeface="Arial"/>
                <a:cs typeface="Arial"/>
                <a:sym typeface="Arial"/>
              </a:rPr>
              <a:t>forma</a:t>
            </a:r>
            <a:r>
              <a:rPr b="1" lang="en-US" sz="2000">
                <a:solidFill>
                  <a:schemeClr val="lt2"/>
                </a:solidFill>
              </a:rPr>
              <a:t> </a:t>
            </a:r>
            <a:r>
              <a:rPr b="1" lang="en-US" sz="2000">
                <a:solidFill>
                  <a:schemeClr val="lt2"/>
                </a:solidFill>
                <a:latin typeface="Arial"/>
                <a:ea typeface="Arial"/>
                <a:cs typeface="Arial"/>
                <a:sym typeface="Arial"/>
              </a:rPr>
              <a:t>flotant</a:t>
            </a:r>
            <a:r>
              <a:rPr b="1" lang="en-US" sz="2000">
                <a:solidFill>
                  <a:schemeClr val="lt2"/>
                </a:solidFill>
              </a:rPr>
              <a:t>e</a:t>
            </a:r>
            <a:r>
              <a:rPr lang="en-US" sz="2000">
                <a:solidFill>
                  <a:schemeClr val="lt1"/>
                </a:solidFill>
                <a:latin typeface="Arial"/>
                <a:ea typeface="Arial"/>
                <a:cs typeface="Arial"/>
                <a:sym typeface="Arial"/>
              </a:rPr>
              <a:t>.</a:t>
            </a:r>
            <a:r>
              <a:rPr lang="en-US" sz="2000">
                <a:solidFill>
                  <a:schemeClr val="lt1"/>
                </a:solidFill>
              </a:rPr>
              <a:t> </a:t>
            </a:r>
            <a:r>
              <a:rPr lang="en-US" sz="2000">
                <a:solidFill>
                  <a:schemeClr val="lt1"/>
                </a:solidFill>
                <a:latin typeface="Arial"/>
                <a:ea typeface="Arial"/>
                <a:cs typeface="Arial"/>
                <a:sym typeface="Arial"/>
              </a:rPr>
              <a:t>Si</a:t>
            </a:r>
            <a:r>
              <a:rPr lang="en-US" sz="2000">
                <a:solidFill>
                  <a:schemeClr val="lt1"/>
                </a:solidFill>
              </a:rPr>
              <a:t> </a:t>
            </a:r>
            <a:r>
              <a:rPr lang="en-US" sz="2000">
                <a:solidFill>
                  <a:schemeClr val="lt1"/>
                </a:solidFill>
                <a:latin typeface="Arial"/>
                <a:ea typeface="Arial"/>
                <a:cs typeface="Arial"/>
                <a:sym typeface="Arial"/>
              </a:rPr>
              <a:t>se</a:t>
            </a:r>
            <a:r>
              <a:rPr lang="en-US" sz="2000">
                <a:solidFill>
                  <a:schemeClr val="lt1"/>
                </a:solidFill>
              </a:rPr>
              <a:t> </a:t>
            </a:r>
            <a:r>
              <a:rPr lang="en-US" sz="2000">
                <a:solidFill>
                  <a:schemeClr val="lt1"/>
                </a:solidFill>
                <a:latin typeface="Arial"/>
                <a:ea typeface="Arial"/>
                <a:cs typeface="Arial"/>
                <a:sym typeface="Arial"/>
              </a:rPr>
              <a:t>indica</a:t>
            </a:r>
            <a:r>
              <a:rPr lang="en-US" sz="2000">
                <a:solidFill>
                  <a:schemeClr val="lt1"/>
                </a:solidFill>
              </a:rPr>
              <a:t> </a:t>
            </a:r>
            <a:r>
              <a:rPr lang="en-US" sz="2000">
                <a:solidFill>
                  <a:schemeClr val="lt1"/>
                </a:solidFill>
                <a:latin typeface="Arial"/>
                <a:ea typeface="Arial"/>
                <a:cs typeface="Arial"/>
                <a:sym typeface="Arial"/>
              </a:rPr>
              <a:t>el</a:t>
            </a:r>
            <a:r>
              <a:rPr lang="en-US" sz="2000">
                <a:solidFill>
                  <a:schemeClr val="lt1"/>
                </a:solidFill>
              </a:rPr>
              <a:t> </a:t>
            </a:r>
            <a:r>
              <a:rPr lang="en-US" sz="2000">
                <a:solidFill>
                  <a:schemeClr val="lt1"/>
                </a:solidFill>
                <a:latin typeface="Arial"/>
                <a:ea typeface="Arial"/>
                <a:cs typeface="Arial"/>
                <a:sym typeface="Arial"/>
              </a:rPr>
              <a:t>valor</a:t>
            </a:r>
            <a:r>
              <a:rPr lang="en-US" sz="2000">
                <a:solidFill>
                  <a:schemeClr val="lt1"/>
                </a:solidFill>
              </a:rPr>
              <a:t> </a:t>
            </a:r>
            <a:r>
              <a:rPr b="1" lang="en-US" sz="2000">
                <a:solidFill>
                  <a:schemeClr val="lt2"/>
                </a:solidFill>
                <a:latin typeface="Arial"/>
                <a:ea typeface="Arial"/>
                <a:cs typeface="Arial"/>
                <a:sym typeface="Arial"/>
              </a:rPr>
              <a:t>left</a:t>
            </a:r>
            <a:r>
              <a:rPr lang="en-US" sz="2000">
                <a:solidFill>
                  <a:schemeClr val="lt1"/>
                </a:solidFill>
                <a:latin typeface="Arial"/>
                <a:ea typeface="Arial"/>
                <a:cs typeface="Arial"/>
                <a:sym typeface="Arial"/>
              </a:rPr>
              <a:t>,</a:t>
            </a:r>
            <a:r>
              <a:rPr lang="en-US" sz="2000">
                <a:solidFill>
                  <a:schemeClr val="lt1"/>
                </a:solidFill>
              </a:rPr>
              <a:t> </a:t>
            </a:r>
            <a:r>
              <a:rPr lang="en-US" sz="2000">
                <a:solidFill>
                  <a:schemeClr val="lt1"/>
                </a:solidFill>
                <a:latin typeface="Arial"/>
                <a:ea typeface="Arial"/>
                <a:cs typeface="Arial"/>
                <a:sym typeface="Arial"/>
              </a:rPr>
              <a:t>el</a:t>
            </a:r>
            <a:r>
              <a:rPr lang="en-US" sz="2000">
                <a:solidFill>
                  <a:schemeClr val="lt1"/>
                </a:solidFill>
              </a:rPr>
              <a:t> </a:t>
            </a:r>
            <a:r>
              <a:rPr lang="en-US" sz="2000">
                <a:solidFill>
                  <a:schemeClr val="lt1"/>
                </a:solidFill>
                <a:latin typeface="Arial"/>
                <a:ea typeface="Arial"/>
                <a:cs typeface="Arial"/>
                <a:sym typeface="Arial"/>
              </a:rPr>
              <a:t>elemento</a:t>
            </a:r>
            <a:r>
              <a:rPr lang="en-US" sz="2000">
                <a:solidFill>
                  <a:schemeClr val="lt1"/>
                </a:solidFill>
              </a:rPr>
              <a:t> </a:t>
            </a:r>
            <a:r>
              <a:rPr lang="en-US" sz="2000">
                <a:solidFill>
                  <a:schemeClr val="lt1"/>
                </a:solidFill>
                <a:latin typeface="Arial"/>
                <a:ea typeface="Arial"/>
                <a:cs typeface="Arial"/>
                <a:sym typeface="Arial"/>
              </a:rPr>
              <a:t>se</a:t>
            </a:r>
            <a:r>
              <a:rPr lang="en-US" sz="2000">
                <a:solidFill>
                  <a:schemeClr val="lt1"/>
                </a:solidFill>
              </a:rPr>
              <a:t> </a:t>
            </a:r>
            <a:r>
              <a:rPr lang="en-US" sz="2000">
                <a:solidFill>
                  <a:schemeClr val="lt1"/>
                </a:solidFill>
                <a:latin typeface="Arial"/>
                <a:ea typeface="Arial"/>
                <a:cs typeface="Arial"/>
                <a:sym typeface="Arial"/>
              </a:rPr>
              <a:t>desplaza</a:t>
            </a:r>
            <a:r>
              <a:rPr lang="en-US" sz="2000">
                <a:solidFill>
                  <a:schemeClr val="lt1"/>
                </a:solidFill>
              </a:rPr>
              <a:t> </a:t>
            </a:r>
            <a:r>
              <a:rPr lang="en-US" sz="2000">
                <a:solidFill>
                  <a:schemeClr val="lt1"/>
                </a:solidFill>
                <a:latin typeface="Arial"/>
                <a:ea typeface="Arial"/>
                <a:cs typeface="Arial"/>
                <a:sym typeface="Arial"/>
              </a:rPr>
              <a:t>de</a:t>
            </a:r>
            <a:r>
              <a:rPr lang="en-US" sz="2000">
                <a:solidFill>
                  <a:schemeClr val="lt1"/>
                </a:solidFill>
              </a:rPr>
              <a:t> </a:t>
            </a:r>
            <a:r>
              <a:rPr lang="en-US" sz="2000">
                <a:solidFill>
                  <a:schemeClr val="lt1"/>
                </a:solidFill>
                <a:latin typeface="Arial"/>
                <a:ea typeface="Arial"/>
                <a:cs typeface="Arial"/>
                <a:sym typeface="Arial"/>
              </a:rPr>
              <a:t>forma</a:t>
            </a:r>
            <a:r>
              <a:rPr lang="en-US" sz="2000">
                <a:solidFill>
                  <a:schemeClr val="lt1"/>
                </a:solidFill>
              </a:rPr>
              <a:t> </a:t>
            </a:r>
            <a:r>
              <a:rPr b="1" lang="en-US" sz="2000">
                <a:solidFill>
                  <a:schemeClr val="lt2"/>
                </a:solidFill>
                <a:latin typeface="Arial"/>
                <a:ea typeface="Arial"/>
                <a:cs typeface="Arial"/>
                <a:sym typeface="Arial"/>
              </a:rPr>
              <a:t>descendent</a:t>
            </a:r>
            <a:r>
              <a:rPr b="1" lang="en-US" sz="2000">
                <a:solidFill>
                  <a:schemeClr val="lt2"/>
                </a:solidFill>
                <a:latin typeface="Arial"/>
                <a:ea typeface="Arial"/>
                <a:cs typeface="Arial"/>
                <a:sym typeface="Arial"/>
              </a:rPr>
              <a:t>e</a:t>
            </a:r>
            <a:r>
              <a:rPr b="1" lang="en-US" sz="2000">
                <a:solidFill>
                  <a:schemeClr val="lt2"/>
                </a:solidFill>
              </a:rPr>
              <a:t> </a:t>
            </a:r>
            <a:r>
              <a:rPr lang="en-US" sz="2000">
                <a:solidFill>
                  <a:schemeClr val="lt1"/>
                </a:solidFill>
                <a:latin typeface="Arial"/>
                <a:ea typeface="Arial"/>
                <a:cs typeface="Arial"/>
                <a:sym typeface="Arial"/>
              </a:rPr>
              <a:t>hasta que pueda colocarse </a:t>
            </a:r>
            <a:r>
              <a:rPr b="1" lang="en-US" sz="2000">
                <a:solidFill>
                  <a:schemeClr val="lt1"/>
                </a:solidFill>
                <a:latin typeface="Arial"/>
                <a:ea typeface="Arial"/>
                <a:cs typeface="Arial"/>
                <a:sym typeface="Arial"/>
              </a:rPr>
              <a:t>en una línea </a:t>
            </a:r>
            <a:r>
              <a:rPr b="1" lang="en-US" sz="2000">
                <a:solidFill>
                  <a:schemeClr val="lt2"/>
                </a:solidFill>
                <a:latin typeface="Arial"/>
                <a:ea typeface="Arial"/>
                <a:cs typeface="Arial"/>
                <a:sym typeface="Arial"/>
              </a:rPr>
              <a:t>en la que no haya</a:t>
            </a:r>
            <a:r>
              <a:rPr b="1" lang="en-US" sz="2000">
                <a:solidFill>
                  <a:schemeClr val="lt2"/>
                </a:solidFill>
              </a:rPr>
              <a:t> </a:t>
            </a:r>
            <a:r>
              <a:rPr b="1" lang="en-US" sz="2000">
                <a:solidFill>
                  <a:schemeClr val="lt2"/>
                </a:solidFill>
                <a:latin typeface="Arial"/>
                <a:ea typeface="Arial"/>
                <a:cs typeface="Arial"/>
                <a:sym typeface="Arial"/>
              </a:rPr>
              <a:t>ninguna</a:t>
            </a:r>
            <a:r>
              <a:rPr b="1" lang="en-US" sz="2000">
                <a:solidFill>
                  <a:schemeClr val="lt2"/>
                </a:solidFill>
              </a:rPr>
              <a:t> </a:t>
            </a:r>
            <a:r>
              <a:rPr b="1" lang="en-US" sz="2000">
                <a:solidFill>
                  <a:schemeClr val="lt2"/>
                </a:solidFill>
                <a:latin typeface="Arial"/>
                <a:ea typeface="Arial"/>
                <a:cs typeface="Arial"/>
                <a:sym typeface="Arial"/>
              </a:rPr>
              <a:t>caja flotante en el lado izquierdo.</a:t>
            </a:r>
            <a:endParaRPr sz="2000">
              <a:solidFill>
                <a:schemeClr val="lt2"/>
              </a:solidFill>
              <a:latin typeface="Arial"/>
              <a:ea typeface="Arial"/>
              <a:cs typeface="Arial"/>
              <a:sym typeface="Arial"/>
            </a:endParaRPr>
          </a:p>
          <a:p>
            <a:pPr indent="0" lvl="0" marL="0" marR="19050" rtl="0" algn="just">
              <a:lnSpc>
                <a:spcPct val="100000"/>
              </a:lnSpc>
              <a:spcBef>
                <a:spcPts val="100"/>
              </a:spcBef>
              <a:spcAft>
                <a:spcPts val="0"/>
              </a:spcAft>
              <a:buNone/>
            </a:pPr>
            <a:r>
              <a:t/>
            </a:r>
            <a:endParaRPr sz="2000">
              <a:solidFill>
                <a:schemeClr val="lt1"/>
              </a:solidFill>
              <a:latin typeface="Arial"/>
              <a:ea typeface="Arial"/>
              <a:cs typeface="Arial"/>
              <a:sym typeface="Arial"/>
            </a:endParaRPr>
          </a:p>
          <a:p>
            <a:pPr indent="0" lvl="0" marL="12700" marR="19050" rtl="0" algn="just">
              <a:lnSpc>
                <a:spcPct val="100000"/>
              </a:lnSpc>
              <a:spcBef>
                <a:spcPts val="0"/>
              </a:spcBef>
              <a:spcAft>
                <a:spcPts val="0"/>
              </a:spcAft>
              <a:buNone/>
            </a:pPr>
            <a:r>
              <a:rPr lang="en-US" sz="2000">
                <a:solidFill>
                  <a:schemeClr val="lt1"/>
                </a:solidFill>
                <a:latin typeface="Arial"/>
                <a:ea typeface="Arial"/>
                <a:cs typeface="Arial"/>
                <a:sym typeface="Arial"/>
              </a:rPr>
              <a:t>La especificación oficial de CSS explica este comportamiento</a:t>
            </a:r>
            <a:r>
              <a:rPr lang="en-US" sz="2000">
                <a:solidFill>
                  <a:schemeClr val="lt1"/>
                </a:solidFill>
              </a:rPr>
              <a:t> </a:t>
            </a:r>
            <a:r>
              <a:rPr lang="en-US" sz="2000">
                <a:solidFill>
                  <a:schemeClr val="lt1"/>
                </a:solidFill>
                <a:latin typeface="Arial"/>
                <a:ea typeface="Arial"/>
                <a:cs typeface="Arial"/>
                <a:sym typeface="Arial"/>
              </a:rPr>
              <a:t>como</a:t>
            </a:r>
            <a:r>
              <a:rPr lang="en-US" sz="2000">
                <a:solidFill>
                  <a:schemeClr val="lt1"/>
                </a:solidFill>
              </a:rPr>
              <a:t> </a:t>
            </a:r>
            <a:r>
              <a:rPr i="1" lang="en-US" sz="2000">
                <a:solidFill>
                  <a:schemeClr val="lt1"/>
                </a:solidFill>
                <a:latin typeface="Arial"/>
                <a:ea typeface="Arial"/>
                <a:cs typeface="Arial"/>
                <a:sym typeface="Arial"/>
              </a:rPr>
              <a:t>"un desplazamiento descendente hasta que el borde</a:t>
            </a:r>
            <a:r>
              <a:rPr i="1" lang="en-US" sz="2000">
                <a:solidFill>
                  <a:schemeClr val="lt1"/>
                </a:solidFill>
              </a:rPr>
              <a:t> </a:t>
            </a:r>
            <a:r>
              <a:rPr i="1" lang="en-US" sz="2000">
                <a:solidFill>
                  <a:schemeClr val="lt1"/>
                </a:solidFill>
                <a:latin typeface="Arial"/>
                <a:ea typeface="Arial"/>
                <a:cs typeface="Arial"/>
                <a:sym typeface="Arial"/>
              </a:rPr>
              <a:t>superior del elemento esté por debajo del borde inferior de	cualquier elemento flotante hacia la izquierda".</a:t>
            </a:r>
            <a:endParaRPr sz="2000">
              <a:solidFill>
                <a:schemeClr val="lt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8"/>
          <p:cNvSpPr txBox="1"/>
          <p:nvPr/>
        </p:nvSpPr>
        <p:spPr>
          <a:xfrm>
            <a:off x="1297500" y="1743900"/>
            <a:ext cx="6705600" cy="40464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2800">
                <a:solidFill>
                  <a:schemeClr val="lt1"/>
                </a:solidFill>
                <a:latin typeface="Calibri"/>
                <a:ea typeface="Calibri"/>
                <a:cs typeface="Calibri"/>
                <a:sym typeface="Calibri"/>
              </a:rPr>
              <a:t>Además de las propiedades que controlan el posicionamiento de los elementos, CSS define otras cuatro propiedades para controlar su visualización:</a:t>
            </a:r>
            <a:endParaRPr sz="2800">
              <a:solidFill>
                <a:schemeClr val="lt1"/>
              </a:solidFill>
              <a:latin typeface="Calibri"/>
              <a:ea typeface="Calibri"/>
              <a:cs typeface="Calibri"/>
              <a:sym typeface="Calibri"/>
            </a:endParaRPr>
          </a:p>
          <a:p>
            <a:pPr indent="0" lvl="0" marL="12700" marR="5080" rtl="0" algn="l">
              <a:lnSpc>
                <a:spcPct val="100000"/>
              </a:lnSpc>
              <a:spcBef>
                <a:spcPts val="0"/>
              </a:spcBef>
              <a:spcAft>
                <a:spcPts val="0"/>
              </a:spcAft>
              <a:buNone/>
            </a:pPr>
            <a:r>
              <a:t/>
            </a:r>
            <a:endParaRPr sz="2800">
              <a:solidFill>
                <a:schemeClr val="lt1"/>
              </a:solidFill>
              <a:latin typeface="Calibri"/>
              <a:ea typeface="Calibri"/>
              <a:cs typeface="Calibri"/>
              <a:sym typeface="Calibri"/>
            </a:endParaRPr>
          </a:p>
          <a:p>
            <a:pPr indent="-456565" lvl="0" marL="925830" rtl="0" algn="l">
              <a:lnSpc>
                <a:spcPct val="100000"/>
              </a:lnSpc>
              <a:spcBef>
                <a:spcPts val="305"/>
              </a:spcBef>
              <a:spcAft>
                <a:spcPts val="0"/>
              </a:spcAft>
              <a:buClr>
                <a:schemeClr val="lt1"/>
              </a:buClr>
              <a:buSzPts val="2800"/>
              <a:buFont typeface="Calibri"/>
              <a:buAutoNum type="arabicPeriod"/>
            </a:pPr>
            <a:r>
              <a:rPr b="1" lang="en-US" sz="2800">
                <a:solidFill>
                  <a:schemeClr val="lt1"/>
                </a:solidFill>
                <a:latin typeface="Calibri"/>
                <a:ea typeface="Calibri"/>
                <a:cs typeface="Calibri"/>
                <a:sym typeface="Calibri"/>
              </a:rPr>
              <a:t>display,</a:t>
            </a:r>
            <a:endParaRPr sz="2800">
              <a:solidFill>
                <a:schemeClr val="lt1"/>
              </a:solidFill>
              <a:latin typeface="Calibri"/>
              <a:ea typeface="Calibri"/>
              <a:cs typeface="Calibri"/>
              <a:sym typeface="Calibri"/>
            </a:endParaRPr>
          </a:p>
          <a:p>
            <a:pPr indent="-456565" lvl="0" marL="925830" rtl="0" algn="l">
              <a:lnSpc>
                <a:spcPct val="100000"/>
              </a:lnSpc>
              <a:spcBef>
                <a:spcPts val="300"/>
              </a:spcBef>
              <a:spcAft>
                <a:spcPts val="0"/>
              </a:spcAft>
              <a:buClr>
                <a:schemeClr val="lt1"/>
              </a:buClr>
              <a:buSzPts val="2800"/>
              <a:buFont typeface="Calibri"/>
              <a:buAutoNum type="arabicPeriod"/>
            </a:pPr>
            <a:r>
              <a:rPr b="1" lang="en-US" sz="2800">
                <a:solidFill>
                  <a:schemeClr val="lt1"/>
                </a:solidFill>
                <a:latin typeface="Calibri"/>
                <a:ea typeface="Calibri"/>
                <a:cs typeface="Calibri"/>
                <a:sym typeface="Calibri"/>
              </a:rPr>
              <a:t>visibility,</a:t>
            </a:r>
            <a:endParaRPr sz="2800">
              <a:solidFill>
                <a:schemeClr val="lt1"/>
              </a:solidFill>
              <a:latin typeface="Calibri"/>
              <a:ea typeface="Calibri"/>
              <a:cs typeface="Calibri"/>
              <a:sym typeface="Calibri"/>
            </a:endParaRPr>
          </a:p>
          <a:p>
            <a:pPr indent="-456565" lvl="0" marL="925830" rtl="0" algn="l">
              <a:lnSpc>
                <a:spcPct val="100000"/>
              </a:lnSpc>
              <a:spcBef>
                <a:spcPts val="300"/>
              </a:spcBef>
              <a:spcAft>
                <a:spcPts val="0"/>
              </a:spcAft>
              <a:buClr>
                <a:schemeClr val="lt1"/>
              </a:buClr>
              <a:buSzPts val="2800"/>
              <a:buFont typeface="Calibri"/>
              <a:buAutoNum type="arabicPeriod"/>
            </a:pPr>
            <a:r>
              <a:rPr b="1" lang="en-US" sz="2800">
                <a:solidFill>
                  <a:schemeClr val="lt1"/>
                </a:solidFill>
                <a:latin typeface="Calibri"/>
                <a:ea typeface="Calibri"/>
                <a:cs typeface="Calibri"/>
                <a:sym typeface="Calibri"/>
              </a:rPr>
              <a:t>overflow</a:t>
            </a:r>
            <a:endParaRPr sz="2800">
              <a:solidFill>
                <a:schemeClr val="lt1"/>
              </a:solidFill>
              <a:latin typeface="Calibri"/>
              <a:ea typeface="Calibri"/>
              <a:cs typeface="Calibri"/>
              <a:sym typeface="Calibri"/>
            </a:endParaRPr>
          </a:p>
          <a:p>
            <a:pPr indent="-456565" lvl="0" marL="925830" rtl="0" algn="l">
              <a:lnSpc>
                <a:spcPct val="100000"/>
              </a:lnSpc>
              <a:spcBef>
                <a:spcPts val="305"/>
              </a:spcBef>
              <a:spcAft>
                <a:spcPts val="0"/>
              </a:spcAft>
              <a:buClr>
                <a:schemeClr val="lt1"/>
              </a:buClr>
              <a:buSzPts val="2800"/>
              <a:buFont typeface="Calibri"/>
              <a:buAutoNum type="arabicPeriod"/>
            </a:pPr>
            <a:r>
              <a:rPr b="1" lang="en-US" sz="2800">
                <a:solidFill>
                  <a:schemeClr val="lt1"/>
                </a:solidFill>
                <a:latin typeface="Calibri"/>
                <a:ea typeface="Calibri"/>
                <a:cs typeface="Calibri"/>
                <a:sym typeface="Calibri"/>
              </a:rPr>
              <a:t>y z-index.</a:t>
            </a:r>
            <a:endParaRPr sz="2800">
              <a:solidFill>
                <a:schemeClr val="lt1"/>
              </a:solidFill>
              <a:latin typeface="Calibri"/>
              <a:ea typeface="Calibri"/>
              <a:cs typeface="Calibri"/>
              <a:sym typeface="Calibri"/>
            </a:endParaRPr>
          </a:p>
        </p:txBody>
      </p:sp>
      <p:sp>
        <p:nvSpPr>
          <p:cNvPr id="437" name="Google Shape;437;p58"/>
          <p:cNvSpPr txBox="1"/>
          <p:nvPr>
            <p:ph type="title"/>
          </p:nvPr>
        </p:nvSpPr>
        <p:spPr>
          <a:xfrm>
            <a:off x="1297500" y="525000"/>
            <a:ext cx="7038900" cy="121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sz="4000"/>
              <a:t>Visualización</a:t>
            </a:r>
            <a:endParaRPr sz="40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9"/>
          <p:cNvSpPr txBox="1"/>
          <p:nvPr/>
        </p:nvSpPr>
        <p:spPr>
          <a:xfrm>
            <a:off x="1253100" y="2593600"/>
            <a:ext cx="6990600" cy="2977200"/>
          </a:xfrm>
          <a:prstGeom prst="rect">
            <a:avLst/>
          </a:prstGeom>
          <a:noFill/>
          <a:ln>
            <a:noFill/>
          </a:ln>
        </p:spPr>
        <p:txBody>
          <a:bodyPr anchorCtr="0" anchor="t" bIns="0" lIns="0" spcFirstLastPara="1" rIns="0" wrap="square" tIns="12700">
            <a:spAutoFit/>
          </a:bodyPr>
          <a:lstStyle/>
          <a:p>
            <a:pPr indent="0" lvl="0" marL="12700" rtl="0" algn="just">
              <a:lnSpc>
                <a:spcPct val="100000"/>
              </a:lnSpc>
              <a:spcBef>
                <a:spcPts val="0"/>
              </a:spcBef>
              <a:spcAft>
                <a:spcPts val="0"/>
              </a:spcAft>
              <a:buNone/>
            </a:pPr>
            <a:r>
              <a:rPr lang="en-US" sz="2400">
                <a:solidFill>
                  <a:schemeClr val="lt1"/>
                </a:solidFill>
                <a:latin typeface="Calibri"/>
                <a:ea typeface="Calibri"/>
                <a:cs typeface="Calibri"/>
                <a:sym typeface="Calibri"/>
              </a:rPr>
              <a:t>Controlan la visualización de los elementos.</a:t>
            </a:r>
            <a:endParaRPr sz="2400">
              <a:solidFill>
                <a:schemeClr val="lt1"/>
              </a:solidFill>
              <a:latin typeface="Calibri"/>
              <a:ea typeface="Calibri"/>
              <a:cs typeface="Calibri"/>
              <a:sym typeface="Calibri"/>
            </a:endParaRPr>
          </a:p>
          <a:p>
            <a:pPr indent="0" lvl="0" marL="12700" marR="5080" rtl="0" algn="just">
              <a:lnSpc>
                <a:spcPct val="100000"/>
              </a:lnSpc>
              <a:spcBef>
                <a:spcPts val="0"/>
              </a:spcBef>
              <a:spcAft>
                <a:spcPts val="0"/>
              </a:spcAft>
              <a:buNone/>
            </a:pPr>
            <a:r>
              <a:rPr lang="en-US" sz="2400">
                <a:solidFill>
                  <a:schemeClr val="lt1"/>
                </a:solidFill>
                <a:latin typeface="Calibri"/>
                <a:ea typeface="Calibri"/>
                <a:cs typeface="Calibri"/>
                <a:sym typeface="Calibri"/>
              </a:rPr>
              <a:t>Las dos propiedades permiten </a:t>
            </a:r>
            <a:r>
              <a:rPr b="1" lang="en-US" sz="2400">
                <a:solidFill>
                  <a:schemeClr val="lt1"/>
                </a:solidFill>
                <a:latin typeface="Calibri"/>
                <a:ea typeface="Calibri"/>
                <a:cs typeface="Calibri"/>
                <a:sym typeface="Calibri"/>
              </a:rPr>
              <a:t>ocultar </a:t>
            </a:r>
            <a:r>
              <a:rPr lang="en-US" sz="2400">
                <a:solidFill>
                  <a:schemeClr val="lt1"/>
                </a:solidFill>
                <a:latin typeface="Calibri"/>
                <a:ea typeface="Calibri"/>
                <a:cs typeface="Calibri"/>
                <a:sym typeface="Calibri"/>
              </a:rPr>
              <a:t>cualquier elemento de la página.</a:t>
            </a:r>
            <a:endParaRPr sz="2400">
              <a:solidFill>
                <a:schemeClr val="lt1"/>
              </a:solidFill>
              <a:latin typeface="Calibri"/>
              <a:ea typeface="Calibri"/>
              <a:cs typeface="Calibri"/>
              <a:sym typeface="Calibri"/>
            </a:endParaRPr>
          </a:p>
          <a:p>
            <a:pPr indent="0" lvl="0" marL="0" rtl="0" algn="just">
              <a:lnSpc>
                <a:spcPct val="100000"/>
              </a:lnSpc>
              <a:spcBef>
                <a:spcPts val="70"/>
              </a:spcBef>
              <a:spcAft>
                <a:spcPts val="0"/>
              </a:spcAft>
              <a:buNone/>
            </a:pPr>
            <a:r>
              <a:t/>
            </a:r>
            <a:endParaRPr sz="2400">
              <a:solidFill>
                <a:schemeClr val="lt1"/>
              </a:solidFill>
              <a:latin typeface="Calibri"/>
              <a:ea typeface="Calibri"/>
              <a:cs typeface="Calibri"/>
              <a:sym typeface="Calibri"/>
            </a:endParaRPr>
          </a:p>
          <a:p>
            <a:pPr indent="0" lvl="0" marL="12700" marR="819150" rtl="0" algn="just">
              <a:lnSpc>
                <a:spcPct val="100000"/>
              </a:lnSpc>
              <a:spcBef>
                <a:spcPts val="0"/>
              </a:spcBef>
              <a:spcAft>
                <a:spcPts val="0"/>
              </a:spcAft>
              <a:buNone/>
            </a:pPr>
            <a:r>
              <a:rPr lang="en-US" sz="2400">
                <a:solidFill>
                  <a:schemeClr val="lt1"/>
                </a:solidFill>
                <a:latin typeface="Calibri"/>
                <a:ea typeface="Calibri"/>
                <a:cs typeface="Calibri"/>
                <a:sym typeface="Calibri"/>
              </a:rPr>
              <a:t>Habitualmente se utilizan junto con </a:t>
            </a:r>
            <a:r>
              <a:rPr b="1" lang="en-US" sz="2400">
                <a:solidFill>
                  <a:schemeClr val="lt1"/>
                </a:solidFill>
                <a:latin typeface="Calibri"/>
                <a:ea typeface="Calibri"/>
                <a:cs typeface="Calibri"/>
                <a:sym typeface="Calibri"/>
              </a:rPr>
              <a:t>JavaScript </a:t>
            </a:r>
            <a:r>
              <a:rPr lang="en-US" sz="2400">
                <a:solidFill>
                  <a:schemeClr val="lt1"/>
                </a:solidFill>
                <a:latin typeface="Calibri"/>
                <a:ea typeface="Calibri"/>
                <a:cs typeface="Calibri"/>
                <a:sym typeface="Calibri"/>
              </a:rPr>
              <a:t>para crear efectos </a:t>
            </a:r>
            <a:r>
              <a:rPr b="1" lang="en-US" sz="2400">
                <a:solidFill>
                  <a:schemeClr val="lt1"/>
                </a:solidFill>
                <a:latin typeface="Calibri"/>
                <a:ea typeface="Calibri"/>
                <a:cs typeface="Calibri"/>
                <a:sym typeface="Calibri"/>
              </a:rPr>
              <a:t>dinámicos </a:t>
            </a:r>
            <a:r>
              <a:rPr lang="en-US" sz="2400">
                <a:solidFill>
                  <a:schemeClr val="lt1"/>
                </a:solidFill>
                <a:latin typeface="Calibri"/>
                <a:ea typeface="Calibri"/>
                <a:cs typeface="Calibri"/>
                <a:sym typeface="Calibri"/>
              </a:rPr>
              <a:t>como mostrar y ocultar </a:t>
            </a:r>
            <a:r>
              <a:rPr b="1" lang="en-US" sz="2400">
                <a:solidFill>
                  <a:schemeClr val="lt1"/>
                </a:solidFill>
                <a:latin typeface="Calibri"/>
                <a:ea typeface="Calibri"/>
                <a:cs typeface="Calibri"/>
                <a:sym typeface="Calibri"/>
              </a:rPr>
              <a:t>determinados textos o imágenes </a:t>
            </a:r>
            <a:r>
              <a:rPr lang="en-US" sz="2400">
                <a:solidFill>
                  <a:schemeClr val="lt1"/>
                </a:solidFill>
                <a:latin typeface="Calibri"/>
                <a:ea typeface="Calibri"/>
                <a:cs typeface="Calibri"/>
                <a:sym typeface="Calibri"/>
              </a:rPr>
              <a:t>cuando el usuario pincha sobre ellos.</a:t>
            </a:r>
            <a:endParaRPr sz="2400">
              <a:solidFill>
                <a:schemeClr val="lt1"/>
              </a:solidFill>
              <a:latin typeface="Calibri"/>
              <a:ea typeface="Calibri"/>
              <a:cs typeface="Calibri"/>
              <a:sym typeface="Calibri"/>
            </a:endParaRPr>
          </a:p>
        </p:txBody>
      </p:sp>
      <p:sp>
        <p:nvSpPr>
          <p:cNvPr id="443" name="Google Shape;443;p59"/>
          <p:cNvSpPr txBox="1"/>
          <p:nvPr>
            <p:ph type="title"/>
          </p:nvPr>
        </p:nvSpPr>
        <p:spPr>
          <a:xfrm>
            <a:off x="1297500" y="525000"/>
            <a:ext cx="7038900" cy="121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4000"/>
              <a:t>Visualización mediante Display y Visibility</a:t>
            </a:r>
            <a:endParaRPr sz="40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0"/>
          <p:cNvSpPr txBox="1"/>
          <p:nvPr/>
        </p:nvSpPr>
        <p:spPr>
          <a:xfrm>
            <a:off x="1297500" y="2321625"/>
            <a:ext cx="6988500" cy="1879800"/>
          </a:xfrm>
          <a:prstGeom prst="rect">
            <a:avLst/>
          </a:prstGeom>
          <a:noFill/>
          <a:ln>
            <a:noFill/>
          </a:ln>
        </p:spPr>
        <p:txBody>
          <a:bodyPr anchorCtr="0" anchor="t" bIns="0" lIns="0" spcFirstLastPara="1" rIns="0" wrap="square" tIns="12700">
            <a:spAutoFit/>
          </a:bodyPr>
          <a:lstStyle/>
          <a:p>
            <a:pPr indent="0" lvl="0" marL="12700" marR="0" rtl="0" algn="just">
              <a:lnSpc>
                <a:spcPct val="100000"/>
              </a:lnSpc>
              <a:spcBef>
                <a:spcPts val="0"/>
              </a:spcBef>
              <a:spcAft>
                <a:spcPts val="0"/>
              </a:spcAft>
              <a:buNone/>
            </a:pPr>
            <a:r>
              <a:rPr lang="en-US" sz="2400">
                <a:solidFill>
                  <a:schemeClr val="lt1"/>
                </a:solidFill>
                <a:latin typeface="Calibri"/>
                <a:ea typeface="Calibri"/>
                <a:cs typeface="Calibri"/>
                <a:sym typeface="Calibri"/>
              </a:rPr>
              <a:t>Permite ocultar </a:t>
            </a:r>
            <a:r>
              <a:rPr b="1" lang="en-US" sz="2400">
                <a:solidFill>
                  <a:schemeClr val="lt1"/>
                </a:solidFill>
                <a:latin typeface="Calibri"/>
                <a:ea typeface="Calibri"/>
                <a:cs typeface="Calibri"/>
                <a:sym typeface="Calibri"/>
              </a:rPr>
              <a:t>completamente </a:t>
            </a:r>
            <a:r>
              <a:rPr lang="en-US" sz="2400">
                <a:solidFill>
                  <a:schemeClr val="lt1"/>
                </a:solidFill>
                <a:latin typeface="Calibri"/>
                <a:ea typeface="Calibri"/>
                <a:cs typeface="Calibri"/>
                <a:sym typeface="Calibri"/>
              </a:rPr>
              <a:t>un elemento haciendo que desaparezca de la página.</a:t>
            </a:r>
            <a:endParaRPr sz="2400">
              <a:solidFill>
                <a:schemeClr val="lt1"/>
              </a:solidFill>
              <a:latin typeface="Calibri"/>
              <a:ea typeface="Calibri"/>
              <a:cs typeface="Calibri"/>
              <a:sym typeface="Calibri"/>
            </a:endParaRPr>
          </a:p>
          <a:p>
            <a:pPr indent="0" lvl="0" marL="0" marR="0" rtl="0" algn="just">
              <a:lnSpc>
                <a:spcPct val="100000"/>
              </a:lnSpc>
              <a:spcBef>
                <a:spcPts val="150"/>
              </a:spcBef>
              <a:spcAft>
                <a:spcPts val="0"/>
              </a:spcAft>
              <a:buNone/>
            </a:pPr>
            <a:r>
              <a:t/>
            </a:r>
            <a:endParaRPr sz="2400">
              <a:solidFill>
                <a:schemeClr val="lt1"/>
              </a:solidFill>
              <a:latin typeface="Calibri"/>
              <a:ea typeface="Calibri"/>
              <a:cs typeface="Calibri"/>
              <a:sym typeface="Calibri"/>
            </a:endParaRPr>
          </a:p>
          <a:p>
            <a:pPr indent="0" lvl="0" marL="12700" marR="0" rtl="0" algn="just">
              <a:lnSpc>
                <a:spcPct val="100000"/>
              </a:lnSpc>
              <a:spcBef>
                <a:spcPts val="5"/>
              </a:spcBef>
              <a:spcAft>
                <a:spcPts val="0"/>
              </a:spcAft>
              <a:buNone/>
            </a:pPr>
            <a:r>
              <a:rPr lang="en-US" sz="2400">
                <a:solidFill>
                  <a:schemeClr val="lt1"/>
                </a:solidFill>
                <a:latin typeface="Calibri"/>
                <a:ea typeface="Calibri"/>
                <a:cs typeface="Calibri"/>
                <a:sym typeface="Calibri"/>
              </a:rPr>
              <a:t>Como el elemento oculto no se muestra, </a:t>
            </a:r>
            <a:r>
              <a:rPr lang="en-US" sz="2400">
                <a:solidFill>
                  <a:schemeClr val="lt2"/>
                </a:solidFill>
                <a:latin typeface="Calibri"/>
                <a:ea typeface="Calibri"/>
                <a:cs typeface="Calibri"/>
                <a:sym typeface="Calibri"/>
              </a:rPr>
              <a:t>el resto de elementos de la página se mueven para ocupar su lugar</a:t>
            </a:r>
            <a:r>
              <a:rPr lang="en-US" sz="2400">
                <a:solidFill>
                  <a:schemeClr val="lt1"/>
                </a:solidFill>
                <a:latin typeface="Calibri"/>
                <a:ea typeface="Calibri"/>
                <a:cs typeface="Calibri"/>
                <a:sym typeface="Calibri"/>
              </a:rPr>
              <a:t>.</a:t>
            </a:r>
            <a:endParaRPr sz="2400">
              <a:solidFill>
                <a:schemeClr val="lt1"/>
              </a:solidFill>
              <a:latin typeface="Calibri"/>
              <a:ea typeface="Calibri"/>
              <a:cs typeface="Calibri"/>
              <a:sym typeface="Calibri"/>
            </a:endParaRPr>
          </a:p>
        </p:txBody>
      </p:sp>
      <p:sp>
        <p:nvSpPr>
          <p:cNvPr id="449" name="Google Shape;449;p60"/>
          <p:cNvSpPr txBox="1"/>
          <p:nvPr>
            <p:ph type="title"/>
          </p:nvPr>
        </p:nvSpPr>
        <p:spPr>
          <a:xfrm>
            <a:off x="1297500" y="525000"/>
            <a:ext cx="7038900" cy="121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sz="4000"/>
              <a:t>Display</a:t>
            </a:r>
            <a:endParaRPr sz="40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1"/>
          <p:cNvSpPr txBox="1"/>
          <p:nvPr/>
        </p:nvSpPr>
        <p:spPr>
          <a:xfrm>
            <a:off x="1297500" y="1865075"/>
            <a:ext cx="7320300" cy="22377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400">
                <a:solidFill>
                  <a:schemeClr val="lt1"/>
                </a:solidFill>
                <a:latin typeface="Calibri"/>
                <a:ea typeface="Calibri"/>
                <a:cs typeface="Calibri"/>
                <a:sym typeface="Calibri"/>
              </a:rPr>
              <a:t>Permite hacer invisible un elemento, lo que significa que el navegador crea la caja del elemento pero no la muestra.</a:t>
            </a:r>
            <a:endParaRPr sz="2400">
              <a:solidFill>
                <a:schemeClr val="lt1"/>
              </a:solidFill>
              <a:latin typeface="Calibri"/>
              <a:ea typeface="Calibri"/>
              <a:cs typeface="Calibri"/>
              <a:sym typeface="Calibri"/>
            </a:endParaRPr>
          </a:p>
          <a:p>
            <a:pPr indent="0" lvl="0" marL="0" marR="0" rtl="0" algn="l">
              <a:lnSpc>
                <a:spcPct val="100000"/>
              </a:lnSpc>
              <a:spcBef>
                <a:spcPts val="60"/>
              </a:spcBef>
              <a:spcAft>
                <a:spcPts val="0"/>
              </a:spcAft>
              <a:buNone/>
            </a:pPr>
            <a:r>
              <a:t/>
            </a:r>
            <a:endParaRPr sz="2400">
              <a:solidFill>
                <a:schemeClr val="lt1"/>
              </a:solidFill>
              <a:latin typeface="Calibri"/>
              <a:ea typeface="Calibri"/>
              <a:cs typeface="Calibri"/>
              <a:sym typeface="Calibri"/>
            </a:endParaRPr>
          </a:p>
          <a:p>
            <a:pPr indent="0" lvl="0" marL="12700" marR="0" rtl="0" algn="just">
              <a:lnSpc>
                <a:spcPct val="100000"/>
              </a:lnSpc>
              <a:spcBef>
                <a:spcPts val="0"/>
              </a:spcBef>
              <a:spcAft>
                <a:spcPts val="0"/>
              </a:spcAft>
              <a:buNone/>
            </a:pPr>
            <a:r>
              <a:rPr lang="en-US" sz="2400">
                <a:solidFill>
                  <a:schemeClr val="lt1"/>
                </a:solidFill>
                <a:latin typeface="Calibri"/>
                <a:ea typeface="Calibri"/>
                <a:cs typeface="Calibri"/>
                <a:sym typeface="Calibri"/>
              </a:rPr>
              <a:t>En este caso, </a:t>
            </a:r>
            <a:r>
              <a:rPr lang="en-US" sz="2400">
                <a:solidFill>
                  <a:schemeClr val="lt2"/>
                </a:solidFill>
                <a:latin typeface="Calibri"/>
                <a:ea typeface="Calibri"/>
                <a:cs typeface="Calibri"/>
                <a:sym typeface="Calibri"/>
              </a:rPr>
              <a:t>el resto de elementos de la página no modifican su posición</a:t>
            </a:r>
            <a:r>
              <a:rPr lang="en-US" sz="2400">
                <a:solidFill>
                  <a:schemeClr val="lt1"/>
                </a:solidFill>
                <a:latin typeface="Calibri"/>
                <a:ea typeface="Calibri"/>
                <a:cs typeface="Calibri"/>
                <a:sym typeface="Calibri"/>
              </a:rPr>
              <a:t>, ya que aunque la caja no se ve, sigue ocupando sitio.</a:t>
            </a:r>
            <a:endParaRPr sz="2400">
              <a:solidFill>
                <a:schemeClr val="lt1"/>
              </a:solidFill>
              <a:latin typeface="Calibri"/>
              <a:ea typeface="Calibri"/>
              <a:cs typeface="Calibri"/>
              <a:sym typeface="Calibri"/>
            </a:endParaRPr>
          </a:p>
        </p:txBody>
      </p:sp>
      <p:sp>
        <p:nvSpPr>
          <p:cNvPr id="455" name="Google Shape;455;p61"/>
          <p:cNvSpPr txBox="1"/>
          <p:nvPr>
            <p:ph type="title"/>
          </p:nvPr>
        </p:nvSpPr>
        <p:spPr>
          <a:xfrm>
            <a:off x="1297500" y="525000"/>
            <a:ext cx="7038900" cy="121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sz="4000"/>
              <a:t>Visibility</a:t>
            </a:r>
            <a:endParaRPr sz="40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id="460" name="Google Shape;460;p62"/>
          <p:cNvPicPr preferRelativeResize="0"/>
          <p:nvPr/>
        </p:nvPicPr>
        <p:blipFill rotWithShape="1">
          <a:blip r:embed="rId3">
            <a:alphaModFix/>
          </a:blip>
          <a:srcRect b="0" l="0" r="0" t="0"/>
          <a:stretch/>
        </p:blipFill>
        <p:spPr>
          <a:xfrm>
            <a:off x="2001011" y="3124200"/>
            <a:ext cx="5237988" cy="3182112"/>
          </a:xfrm>
          <a:prstGeom prst="rect">
            <a:avLst/>
          </a:prstGeom>
          <a:noFill/>
          <a:ln>
            <a:noFill/>
          </a:ln>
        </p:spPr>
      </p:pic>
      <p:sp>
        <p:nvSpPr>
          <p:cNvPr id="461" name="Google Shape;461;p62"/>
          <p:cNvSpPr txBox="1"/>
          <p:nvPr>
            <p:ph type="title"/>
          </p:nvPr>
        </p:nvSpPr>
        <p:spPr>
          <a:xfrm>
            <a:off x="1297500" y="525000"/>
            <a:ext cx="7038900" cy="6285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4000">
                <a:latin typeface="Calibri"/>
                <a:ea typeface="Calibri"/>
                <a:cs typeface="Calibri"/>
                <a:sym typeface="Calibri"/>
              </a:rPr>
              <a:t>Ejemplo</a:t>
            </a:r>
            <a:endParaRPr sz="4000">
              <a:latin typeface="Calibri"/>
              <a:ea typeface="Calibri"/>
              <a:cs typeface="Calibri"/>
              <a:sym typeface="Calibri"/>
            </a:endParaRPr>
          </a:p>
        </p:txBody>
      </p:sp>
      <p:sp>
        <p:nvSpPr>
          <p:cNvPr id="462" name="Google Shape;462;p62"/>
          <p:cNvSpPr txBox="1"/>
          <p:nvPr>
            <p:ph idx="1" type="body"/>
          </p:nvPr>
        </p:nvSpPr>
        <p:spPr>
          <a:xfrm>
            <a:off x="1297500" y="1544075"/>
            <a:ext cx="7038900" cy="1379700"/>
          </a:xfrm>
          <a:prstGeom prst="rect">
            <a:avLst/>
          </a:prstGeom>
        </p:spPr>
        <p:txBody>
          <a:bodyPr anchorCtr="0" anchor="t" bIns="91425" lIns="91425" spcFirstLastPara="1" rIns="91425" wrap="square" tIns="91425">
            <a:normAutofit lnSpcReduction="20000"/>
          </a:bodyPr>
          <a:lstStyle/>
          <a:p>
            <a:pPr indent="0" lvl="0" marL="12700" marR="5080" rtl="0" algn="l">
              <a:lnSpc>
                <a:spcPct val="100000"/>
              </a:lnSpc>
              <a:spcBef>
                <a:spcPts val="0"/>
              </a:spcBef>
              <a:spcAft>
                <a:spcPts val="0"/>
              </a:spcAft>
              <a:buClr>
                <a:srgbClr val="000000"/>
              </a:buClr>
              <a:buFont typeface="Arial"/>
              <a:buNone/>
            </a:pPr>
            <a:r>
              <a:rPr lang="en-US" sz="2400">
                <a:latin typeface="Calibri"/>
                <a:ea typeface="Calibri"/>
                <a:cs typeface="Calibri"/>
                <a:sym typeface="Calibri"/>
              </a:rPr>
              <a:t>En general, cuando se oculta un elemento no es deseable que siga	ocupando sitio en la página, por lo que la propiedad display se	utiliza mucho más que la propiedad visibility.</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63"/>
          <p:cNvSpPr txBox="1"/>
          <p:nvPr/>
        </p:nvSpPr>
        <p:spPr>
          <a:xfrm>
            <a:off x="1297501" y="1275975"/>
            <a:ext cx="7691700" cy="5316300"/>
          </a:xfrm>
          <a:prstGeom prst="rect">
            <a:avLst/>
          </a:prstGeom>
          <a:noFill/>
          <a:ln>
            <a:noFill/>
          </a:ln>
        </p:spPr>
        <p:txBody>
          <a:bodyPr anchorCtr="0" anchor="t" bIns="0" lIns="0" spcFirstLastPara="1" rIns="0" wrap="square" tIns="12700">
            <a:spAutoFit/>
          </a:bodyPr>
          <a:lstStyle/>
          <a:p>
            <a:pPr indent="0" lvl="0" marL="12700" marR="25580" rtl="0" algn="just">
              <a:lnSpc>
                <a:spcPct val="100000"/>
              </a:lnSpc>
              <a:spcBef>
                <a:spcPts val="0"/>
              </a:spcBef>
              <a:spcAft>
                <a:spcPts val="0"/>
              </a:spcAft>
              <a:buNone/>
            </a:pPr>
            <a:r>
              <a:rPr lang="en-US" sz="2200">
                <a:solidFill>
                  <a:schemeClr val="lt1"/>
                </a:solidFill>
                <a:latin typeface="Calibri"/>
                <a:ea typeface="Calibri"/>
                <a:cs typeface="Calibri"/>
                <a:sym typeface="Calibri"/>
              </a:rPr>
              <a:t>visible | hidden | collapse | inherit</a:t>
            </a:r>
            <a:endParaRPr sz="2200">
              <a:solidFill>
                <a:schemeClr val="lt1"/>
              </a:solidFill>
              <a:latin typeface="Calibri"/>
              <a:ea typeface="Calibri"/>
              <a:cs typeface="Calibri"/>
              <a:sym typeface="Calibri"/>
            </a:endParaRPr>
          </a:p>
          <a:p>
            <a:pPr indent="0" lvl="0" marL="12700" marR="25580" rtl="0" algn="just">
              <a:lnSpc>
                <a:spcPct val="100000"/>
              </a:lnSpc>
              <a:spcBef>
                <a:spcPts val="2880"/>
              </a:spcBef>
              <a:spcAft>
                <a:spcPts val="0"/>
              </a:spcAft>
              <a:buNone/>
            </a:pPr>
            <a:r>
              <a:rPr lang="en-US" sz="2100">
                <a:solidFill>
                  <a:schemeClr val="lt1"/>
                </a:solidFill>
                <a:latin typeface="Calibri"/>
                <a:ea typeface="Calibri"/>
                <a:cs typeface="Calibri"/>
                <a:sym typeface="Calibri"/>
              </a:rPr>
              <a:t>Inicialmente todas las cajas que componen la página son visibles.</a:t>
            </a:r>
            <a:endParaRPr sz="2100">
              <a:solidFill>
                <a:schemeClr val="lt1"/>
              </a:solidFill>
              <a:latin typeface="Calibri"/>
              <a:ea typeface="Calibri"/>
              <a:cs typeface="Calibri"/>
              <a:sym typeface="Calibri"/>
            </a:endParaRPr>
          </a:p>
          <a:p>
            <a:pPr indent="0" lvl="0" marL="12700" marR="25580" rtl="0" algn="just">
              <a:lnSpc>
                <a:spcPct val="100000"/>
              </a:lnSpc>
              <a:spcBef>
                <a:spcPts val="2880"/>
              </a:spcBef>
              <a:spcAft>
                <a:spcPts val="0"/>
              </a:spcAft>
              <a:buNone/>
            </a:pPr>
            <a:r>
              <a:rPr lang="en-US" sz="1300">
                <a:solidFill>
                  <a:schemeClr val="lt1"/>
                </a:solidFill>
                <a:latin typeface="Calibri"/>
                <a:ea typeface="Calibri"/>
                <a:cs typeface="Calibri"/>
                <a:sym typeface="Calibri"/>
              </a:rPr>
              <a:t>hidden </a:t>
            </a:r>
            <a:r>
              <a:rPr lang="en-US" sz="2100">
                <a:solidFill>
                  <a:schemeClr val="lt1"/>
                </a:solidFill>
                <a:latin typeface="Calibri"/>
                <a:ea typeface="Calibri"/>
                <a:cs typeface="Calibri"/>
                <a:sym typeface="Calibri"/>
              </a:rPr>
              <a:t>→</a:t>
            </a:r>
            <a:r>
              <a:rPr lang="en-US" sz="2100">
                <a:solidFill>
                  <a:schemeClr val="lt1"/>
                </a:solidFill>
                <a:latin typeface="Calibri"/>
                <a:ea typeface="Calibri"/>
                <a:cs typeface="Calibri"/>
                <a:sym typeface="Calibri"/>
              </a:rPr>
              <a:t> caja </a:t>
            </a:r>
            <a:r>
              <a:rPr b="1" lang="en-US" sz="2100">
                <a:solidFill>
                  <a:schemeClr val="lt1"/>
                </a:solidFill>
                <a:latin typeface="Calibri"/>
                <a:ea typeface="Calibri"/>
                <a:cs typeface="Calibri"/>
                <a:sym typeface="Calibri"/>
              </a:rPr>
              <a:t>invisible </a:t>
            </a:r>
            <a:r>
              <a:rPr lang="en-US" sz="2100">
                <a:solidFill>
                  <a:schemeClr val="lt1"/>
                </a:solidFill>
                <a:latin typeface="Calibri"/>
                <a:ea typeface="Calibri"/>
                <a:cs typeface="Calibri"/>
                <a:sym typeface="Calibri"/>
              </a:rPr>
              <a:t>para que no muestre sus contenidos.</a:t>
            </a:r>
            <a:endParaRPr sz="2100">
              <a:solidFill>
                <a:schemeClr val="lt1"/>
              </a:solidFill>
              <a:latin typeface="Calibri"/>
              <a:ea typeface="Calibri"/>
              <a:cs typeface="Calibri"/>
              <a:sym typeface="Calibri"/>
            </a:endParaRPr>
          </a:p>
          <a:p>
            <a:pPr indent="0" lvl="0" marL="12700" marR="25580" rtl="0" algn="just">
              <a:lnSpc>
                <a:spcPct val="100000"/>
              </a:lnSpc>
              <a:spcBef>
                <a:spcPts val="0"/>
              </a:spcBef>
              <a:spcAft>
                <a:spcPts val="0"/>
              </a:spcAft>
              <a:buNone/>
            </a:pPr>
            <a:r>
              <a:rPr lang="en-US" sz="2100">
                <a:solidFill>
                  <a:schemeClr val="lt1"/>
                </a:solidFill>
                <a:latin typeface="Calibri"/>
                <a:ea typeface="Calibri"/>
                <a:cs typeface="Calibri"/>
                <a:sym typeface="Calibri"/>
              </a:rPr>
              <a:t>El resto de elementos de la página se muestran como si la caja todavía fuera visible, por lo que en el lugar donde originalmente se mostraba la caja invisible, ahora se muestra un hueco vacío.</a:t>
            </a:r>
            <a:endParaRPr sz="2100">
              <a:solidFill>
                <a:schemeClr val="lt1"/>
              </a:solidFill>
              <a:latin typeface="Calibri"/>
              <a:ea typeface="Calibri"/>
              <a:cs typeface="Calibri"/>
              <a:sym typeface="Calibri"/>
            </a:endParaRPr>
          </a:p>
          <a:p>
            <a:pPr indent="0" lvl="0" marL="12700" marR="25580" rtl="0" algn="just">
              <a:lnSpc>
                <a:spcPct val="100000"/>
              </a:lnSpc>
              <a:spcBef>
                <a:spcPts val="0"/>
              </a:spcBef>
              <a:spcAft>
                <a:spcPts val="0"/>
              </a:spcAft>
              <a:buNone/>
            </a:pPr>
            <a:r>
              <a:t/>
            </a:r>
            <a:endParaRPr sz="2100">
              <a:solidFill>
                <a:schemeClr val="lt1"/>
              </a:solidFill>
              <a:latin typeface="Calibri"/>
              <a:ea typeface="Calibri"/>
              <a:cs typeface="Calibri"/>
              <a:sym typeface="Calibri"/>
            </a:endParaRPr>
          </a:p>
          <a:p>
            <a:pPr indent="0" lvl="0" marL="12700" marR="25580" rtl="0" algn="just">
              <a:lnSpc>
                <a:spcPct val="120000"/>
              </a:lnSpc>
              <a:spcBef>
                <a:spcPts val="85"/>
              </a:spcBef>
              <a:spcAft>
                <a:spcPts val="0"/>
              </a:spcAft>
              <a:buNone/>
            </a:pPr>
            <a:r>
              <a:rPr lang="en-US" sz="1300">
                <a:solidFill>
                  <a:schemeClr val="lt1"/>
                </a:solidFill>
                <a:latin typeface="Calibri"/>
                <a:ea typeface="Calibri"/>
                <a:cs typeface="Calibri"/>
                <a:sym typeface="Calibri"/>
              </a:rPr>
              <a:t>collapse </a:t>
            </a:r>
            <a:r>
              <a:rPr lang="en-US" sz="2100">
                <a:solidFill>
                  <a:schemeClr val="lt1"/>
                </a:solidFill>
                <a:latin typeface="Calibri"/>
                <a:ea typeface="Calibri"/>
                <a:cs typeface="Calibri"/>
                <a:sym typeface="Calibri"/>
              </a:rPr>
              <a:t>→</a:t>
            </a:r>
            <a:r>
              <a:rPr lang="en-US" sz="2100">
                <a:solidFill>
                  <a:schemeClr val="lt1"/>
                </a:solidFill>
                <a:latin typeface="Calibri"/>
                <a:ea typeface="Calibri"/>
                <a:cs typeface="Calibri"/>
                <a:sym typeface="Calibri"/>
              </a:rPr>
              <a:t> sólo se puede utilizar en las filas, grupos de filas, columnas y grupos de columnas de una </a:t>
            </a:r>
            <a:r>
              <a:rPr b="1" lang="en-US" sz="2100">
                <a:solidFill>
                  <a:schemeClr val="lt1"/>
                </a:solidFill>
                <a:latin typeface="Calibri"/>
                <a:ea typeface="Calibri"/>
                <a:cs typeface="Calibri"/>
                <a:sym typeface="Calibri"/>
              </a:rPr>
              <a:t>tabla</a:t>
            </a:r>
            <a:r>
              <a:rPr lang="en-US" sz="2100">
                <a:solidFill>
                  <a:schemeClr val="lt1"/>
                </a:solidFill>
                <a:latin typeface="Calibri"/>
                <a:ea typeface="Calibri"/>
                <a:cs typeface="Calibri"/>
                <a:sym typeface="Calibri"/>
              </a:rPr>
              <a:t>. Su efecto es similar al de la propiedad </a:t>
            </a:r>
            <a:r>
              <a:rPr lang="en-US" sz="1300">
                <a:solidFill>
                  <a:schemeClr val="lt1"/>
                </a:solidFill>
                <a:latin typeface="Calibri"/>
                <a:ea typeface="Calibri"/>
                <a:cs typeface="Calibri"/>
                <a:sym typeface="Calibri"/>
              </a:rPr>
              <a:t>display</a:t>
            </a:r>
            <a:r>
              <a:rPr lang="en-US" sz="2100">
                <a:solidFill>
                  <a:schemeClr val="lt1"/>
                </a:solidFill>
                <a:latin typeface="Calibri"/>
                <a:ea typeface="Calibri"/>
                <a:cs typeface="Calibri"/>
                <a:sym typeface="Calibri"/>
              </a:rPr>
              <a:t>, ya que oculta completamente la fila y/o columna y se pueden mostrar otros contenidos en ese lugar.</a:t>
            </a:r>
            <a:endParaRPr sz="2100">
              <a:solidFill>
                <a:schemeClr val="lt1"/>
              </a:solidFill>
              <a:latin typeface="Calibri"/>
              <a:ea typeface="Calibri"/>
              <a:cs typeface="Calibri"/>
              <a:sym typeface="Calibri"/>
            </a:endParaRPr>
          </a:p>
          <a:p>
            <a:pPr indent="0" lvl="0" marL="12700" marR="25580" rtl="0" algn="just">
              <a:lnSpc>
                <a:spcPct val="120833"/>
              </a:lnSpc>
              <a:spcBef>
                <a:spcPts val="80"/>
              </a:spcBef>
              <a:spcAft>
                <a:spcPts val="0"/>
              </a:spcAft>
              <a:buNone/>
            </a:pPr>
            <a:r>
              <a:rPr lang="en-US" sz="2100">
                <a:solidFill>
                  <a:schemeClr val="lt1"/>
                </a:solidFill>
                <a:latin typeface="Calibri"/>
                <a:ea typeface="Calibri"/>
                <a:cs typeface="Calibri"/>
                <a:sym typeface="Calibri"/>
              </a:rPr>
              <a:t>Si se utiliza el valor </a:t>
            </a:r>
            <a:r>
              <a:rPr lang="en-US" sz="1300">
                <a:solidFill>
                  <a:schemeClr val="lt1"/>
                </a:solidFill>
                <a:latin typeface="Calibri"/>
                <a:ea typeface="Calibri"/>
                <a:cs typeface="Calibri"/>
                <a:sym typeface="Calibri"/>
              </a:rPr>
              <a:t>collapse </a:t>
            </a:r>
            <a:r>
              <a:rPr lang="en-US" sz="2100">
                <a:solidFill>
                  <a:schemeClr val="lt1"/>
                </a:solidFill>
                <a:latin typeface="Calibri"/>
                <a:ea typeface="Calibri"/>
                <a:cs typeface="Calibri"/>
                <a:sym typeface="Calibri"/>
              </a:rPr>
              <a:t>sobre cualquier otro tipo de elemento, su efecto es idéntico al valor </a:t>
            </a:r>
            <a:r>
              <a:rPr lang="en-US" sz="1300">
                <a:solidFill>
                  <a:schemeClr val="lt1"/>
                </a:solidFill>
                <a:latin typeface="Calibri"/>
                <a:ea typeface="Calibri"/>
                <a:cs typeface="Calibri"/>
                <a:sym typeface="Calibri"/>
              </a:rPr>
              <a:t>hidden</a:t>
            </a:r>
            <a:r>
              <a:rPr lang="en-US" sz="2100">
                <a:solidFill>
                  <a:schemeClr val="lt1"/>
                </a:solidFill>
                <a:latin typeface="Calibri"/>
                <a:ea typeface="Calibri"/>
                <a:cs typeface="Calibri"/>
                <a:sym typeface="Calibri"/>
              </a:rPr>
              <a:t>.</a:t>
            </a:r>
            <a:endParaRPr sz="2100">
              <a:solidFill>
                <a:schemeClr val="lt1"/>
              </a:solidFill>
              <a:latin typeface="Calibri"/>
              <a:ea typeface="Calibri"/>
              <a:cs typeface="Calibri"/>
              <a:sym typeface="Calibri"/>
            </a:endParaRPr>
          </a:p>
        </p:txBody>
      </p:sp>
      <p:sp>
        <p:nvSpPr>
          <p:cNvPr id="468" name="Google Shape;468;p63"/>
          <p:cNvSpPr txBox="1"/>
          <p:nvPr>
            <p:ph type="title"/>
          </p:nvPr>
        </p:nvSpPr>
        <p:spPr>
          <a:xfrm>
            <a:off x="1297500" y="525000"/>
            <a:ext cx="7038900" cy="121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sz="4000"/>
              <a:t>Valores visibility</a:t>
            </a:r>
            <a:endParaRPr sz="40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4"/>
          <p:cNvSpPr txBox="1"/>
          <p:nvPr/>
        </p:nvSpPr>
        <p:spPr>
          <a:xfrm>
            <a:off x="1297500" y="1981625"/>
            <a:ext cx="7434900" cy="3737100"/>
          </a:xfrm>
          <a:prstGeom prst="rect">
            <a:avLst/>
          </a:prstGeom>
          <a:noFill/>
          <a:ln>
            <a:noFill/>
          </a:ln>
        </p:spPr>
        <p:txBody>
          <a:bodyPr anchorCtr="0" anchor="t" bIns="0" lIns="0" spcFirstLastPara="1" rIns="0" wrap="square" tIns="12050">
            <a:spAutoFit/>
          </a:bodyPr>
          <a:lstStyle/>
          <a:p>
            <a:pPr indent="0" lvl="0" marL="12700" marR="1619" rtl="0" algn="just">
              <a:lnSpc>
                <a:spcPct val="100000"/>
              </a:lnSpc>
              <a:spcBef>
                <a:spcPts val="0"/>
              </a:spcBef>
              <a:spcAft>
                <a:spcPts val="0"/>
              </a:spcAft>
              <a:buNone/>
            </a:pPr>
            <a:r>
              <a:rPr lang="en-US" sz="2200">
                <a:solidFill>
                  <a:schemeClr val="lt1"/>
                </a:solidFill>
                <a:latin typeface="Calibri"/>
                <a:ea typeface="Calibri"/>
                <a:cs typeface="Calibri"/>
                <a:sym typeface="Calibri"/>
              </a:rPr>
              <a:t>Normalmente, los contenidos de un elemento se pueden mostrar en	el espacio reservado para ese elemento. Sin embargo, en algunas ocasiones el contenido de un elemento </a:t>
            </a:r>
            <a:r>
              <a:rPr b="1" lang="en-US" sz="2200">
                <a:solidFill>
                  <a:schemeClr val="lt1"/>
                </a:solidFill>
                <a:latin typeface="Calibri"/>
                <a:ea typeface="Calibri"/>
                <a:cs typeface="Calibri"/>
                <a:sym typeface="Calibri"/>
              </a:rPr>
              <a:t>no cabe en el espacio </a:t>
            </a:r>
            <a:r>
              <a:rPr lang="en-US" sz="2200">
                <a:solidFill>
                  <a:schemeClr val="lt1"/>
                </a:solidFill>
                <a:latin typeface="Calibri"/>
                <a:ea typeface="Calibri"/>
                <a:cs typeface="Calibri"/>
                <a:sym typeface="Calibri"/>
              </a:rPr>
              <a:t>reservado para ese elemento y se </a:t>
            </a:r>
            <a:r>
              <a:rPr b="1" lang="en-US" sz="2200">
                <a:solidFill>
                  <a:schemeClr val="lt1"/>
                </a:solidFill>
                <a:latin typeface="Calibri"/>
                <a:ea typeface="Calibri"/>
                <a:cs typeface="Calibri"/>
                <a:sym typeface="Calibri"/>
              </a:rPr>
              <a:t>desborda</a:t>
            </a:r>
            <a:r>
              <a:rPr lang="en-US" sz="2200">
                <a:solidFill>
                  <a:schemeClr val="lt1"/>
                </a:solidFill>
                <a:latin typeface="Calibri"/>
                <a:ea typeface="Calibri"/>
                <a:cs typeface="Calibri"/>
                <a:sym typeface="Calibri"/>
              </a:rPr>
              <a:t>. </a:t>
            </a:r>
            <a:endParaRPr sz="2200">
              <a:solidFill>
                <a:schemeClr val="lt1"/>
              </a:solidFill>
              <a:latin typeface="Calibri"/>
              <a:ea typeface="Calibri"/>
              <a:cs typeface="Calibri"/>
              <a:sym typeface="Calibri"/>
            </a:endParaRPr>
          </a:p>
          <a:p>
            <a:pPr indent="0" lvl="0" marL="12700" marR="1619" rtl="0" algn="just">
              <a:lnSpc>
                <a:spcPct val="100000"/>
              </a:lnSpc>
              <a:spcBef>
                <a:spcPts val="0"/>
              </a:spcBef>
              <a:spcAft>
                <a:spcPts val="0"/>
              </a:spcAft>
              <a:buNone/>
            </a:pPr>
            <a:r>
              <a:t/>
            </a:r>
            <a:endParaRPr sz="2200">
              <a:solidFill>
                <a:schemeClr val="lt1"/>
              </a:solidFill>
              <a:latin typeface="Noto Sans Symbols"/>
              <a:ea typeface="Noto Sans Symbols"/>
              <a:cs typeface="Noto Sans Symbols"/>
              <a:sym typeface="Noto Sans Symbols"/>
            </a:endParaRPr>
          </a:p>
          <a:p>
            <a:pPr indent="0" lvl="0" marL="12700" marR="1619" rtl="0" algn="just">
              <a:lnSpc>
                <a:spcPct val="100000"/>
              </a:lnSpc>
              <a:spcBef>
                <a:spcPts val="0"/>
              </a:spcBef>
              <a:spcAft>
                <a:spcPts val="0"/>
              </a:spcAft>
              <a:buNone/>
            </a:pPr>
            <a:r>
              <a:rPr lang="en-US" sz="2200">
                <a:solidFill>
                  <a:schemeClr val="lt2"/>
                </a:solidFill>
                <a:latin typeface="Calibri"/>
                <a:ea typeface="Calibri"/>
                <a:cs typeface="Calibri"/>
                <a:sym typeface="Calibri"/>
              </a:rPr>
              <a:t>Overflow</a:t>
            </a:r>
            <a:r>
              <a:rPr lang="en-US" sz="2200">
                <a:solidFill>
                  <a:schemeClr val="lt2"/>
                </a:solidFill>
                <a:latin typeface="Calibri"/>
                <a:ea typeface="Calibri"/>
                <a:cs typeface="Calibri"/>
                <a:sym typeface="Calibri"/>
              </a:rPr>
              <a:t> </a:t>
            </a:r>
            <a:r>
              <a:rPr lang="en-US" sz="2200">
                <a:solidFill>
                  <a:schemeClr val="lt1"/>
                </a:solidFill>
                <a:latin typeface="Calibri"/>
                <a:ea typeface="Calibri"/>
                <a:cs typeface="Calibri"/>
                <a:sym typeface="Calibri"/>
              </a:rPr>
              <a:t>controla la forma en la que se visualizan los contenidos que sobresalen de sus elementos.</a:t>
            </a:r>
            <a:endParaRPr sz="2200">
              <a:solidFill>
                <a:schemeClr val="lt1"/>
              </a:solidFill>
              <a:latin typeface="Calibri"/>
              <a:ea typeface="Calibri"/>
              <a:cs typeface="Calibri"/>
              <a:sym typeface="Calibri"/>
            </a:endParaRPr>
          </a:p>
          <a:p>
            <a:pPr indent="0" lvl="0" marL="12700" marR="1619" rtl="0" algn="just">
              <a:lnSpc>
                <a:spcPct val="100000"/>
              </a:lnSpc>
              <a:spcBef>
                <a:spcPts val="2640"/>
              </a:spcBef>
              <a:spcAft>
                <a:spcPts val="0"/>
              </a:spcAft>
              <a:buNone/>
            </a:pPr>
            <a:r>
              <a:rPr lang="en-US" sz="2200">
                <a:solidFill>
                  <a:schemeClr val="lt1"/>
                </a:solidFill>
                <a:latin typeface="Calibri"/>
                <a:ea typeface="Calibri"/>
                <a:cs typeface="Calibri"/>
                <a:sym typeface="Calibri"/>
              </a:rPr>
              <a:t>La situación más habitual en la que el contenido sobresale de su espacio reservado es cuando se </a:t>
            </a:r>
            <a:r>
              <a:rPr b="1" lang="en-US" sz="2200">
                <a:solidFill>
                  <a:schemeClr val="lt1"/>
                </a:solidFill>
                <a:latin typeface="Calibri"/>
                <a:ea typeface="Calibri"/>
                <a:cs typeface="Calibri"/>
                <a:sym typeface="Calibri"/>
              </a:rPr>
              <a:t>establece </a:t>
            </a:r>
            <a:r>
              <a:rPr lang="en-US" sz="2200">
                <a:solidFill>
                  <a:schemeClr val="lt1"/>
                </a:solidFill>
                <a:latin typeface="Calibri"/>
                <a:ea typeface="Calibri"/>
                <a:cs typeface="Calibri"/>
                <a:sym typeface="Calibri"/>
              </a:rPr>
              <a:t>la anchura y/o altura de un elemento mediante la propiedad </a:t>
            </a:r>
            <a:r>
              <a:rPr b="1" lang="en-US" sz="2200">
                <a:solidFill>
                  <a:schemeClr val="lt1"/>
                </a:solidFill>
                <a:latin typeface="Calibri"/>
                <a:ea typeface="Calibri"/>
                <a:cs typeface="Calibri"/>
                <a:sym typeface="Calibri"/>
              </a:rPr>
              <a:t>width y/o height.</a:t>
            </a:r>
            <a:endParaRPr sz="2200">
              <a:solidFill>
                <a:schemeClr val="lt1"/>
              </a:solidFill>
              <a:latin typeface="Calibri"/>
              <a:ea typeface="Calibri"/>
              <a:cs typeface="Calibri"/>
              <a:sym typeface="Calibri"/>
            </a:endParaRPr>
          </a:p>
        </p:txBody>
      </p:sp>
      <p:sp>
        <p:nvSpPr>
          <p:cNvPr id="474" name="Google Shape;474;p64"/>
          <p:cNvSpPr txBox="1"/>
          <p:nvPr>
            <p:ph type="title"/>
          </p:nvPr>
        </p:nvSpPr>
        <p:spPr>
          <a:xfrm>
            <a:off x="1297500" y="525000"/>
            <a:ext cx="7038900" cy="121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sz="4000"/>
              <a:t>Overflow</a:t>
            </a:r>
            <a:endParaRPr sz="40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5"/>
          <p:cNvSpPr txBox="1"/>
          <p:nvPr/>
        </p:nvSpPr>
        <p:spPr>
          <a:xfrm>
            <a:off x="1185100" y="1495950"/>
            <a:ext cx="7223700" cy="4816500"/>
          </a:xfrm>
          <a:prstGeom prst="rect">
            <a:avLst/>
          </a:prstGeom>
          <a:noFill/>
          <a:ln>
            <a:noFill/>
          </a:ln>
        </p:spPr>
        <p:txBody>
          <a:bodyPr anchorCtr="0" anchor="t" bIns="0" lIns="0" spcFirstLastPara="1" rIns="0" wrap="square" tIns="12700">
            <a:spAutoFit/>
          </a:bodyPr>
          <a:lstStyle/>
          <a:p>
            <a:pPr indent="-139699" lvl="0" marL="0" marR="26228" rtl="0" algn="just">
              <a:lnSpc>
                <a:spcPct val="100000"/>
              </a:lnSpc>
              <a:spcBef>
                <a:spcPts val="0"/>
              </a:spcBef>
              <a:spcAft>
                <a:spcPts val="0"/>
              </a:spcAft>
              <a:buClr>
                <a:schemeClr val="lt1"/>
              </a:buClr>
              <a:buSzPts val="2200"/>
              <a:buFont typeface="Arial"/>
              <a:buChar char="•"/>
            </a:pPr>
            <a:r>
              <a:rPr lang="en-US" sz="2400">
                <a:solidFill>
                  <a:schemeClr val="lt1"/>
                </a:solidFill>
                <a:latin typeface="Calibri"/>
                <a:ea typeface="Calibri"/>
                <a:cs typeface="Calibri"/>
                <a:sym typeface="Calibri"/>
              </a:rPr>
              <a:t>	</a:t>
            </a:r>
            <a:r>
              <a:rPr lang="en-US" sz="2400">
                <a:solidFill>
                  <a:schemeClr val="lt2"/>
                </a:solidFill>
                <a:latin typeface="Calibri"/>
                <a:ea typeface="Calibri"/>
                <a:cs typeface="Calibri"/>
                <a:sym typeface="Calibri"/>
              </a:rPr>
              <a:t>visible</a:t>
            </a:r>
            <a:r>
              <a:rPr lang="en-US" sz="2400">
                <a:solidFill>
                  <a:schemeClr val="lt1"/>
                </a:solidFill>
                <a:latin typeface="Calibri"/>
                <a:ea typeface="Calibri"/>
                <a:cs typeface="Calibri"/>
                <a:sym typeface="Calibri"/>
              </a:rPr>
              <a:t>: el contenido </a:t>
            </a:r>
            <a:r>
              <a:rPr b="1" lang="en-US" sz="2400">
                <a:solidFill>
                  <a:schemeClr val="lt1"/>
                </a:solidFill>
                <a:latin typeface="Calibri"/>
                <a:ea typeface="Calibri"/>
                <a:cs typeface="Calibri"/>
                <a:sym typeface="Calibri"/>
              </a:rPr>
              <a:t>no se corta </a:t>
            </a:r>
            <a:r>
              <a:rPr lang="en-US" sz="2400">
                <a:solidFill>
                  <a:schemeClr val="lt1"/>
                </a:solidFill>
                <a:latin typeface="Calibri"/>
                <a:ea typeface="Calibri"/>
                <a:cs typeface="Calibri"/>
                <a:sym typeface="Calibri"/>
              </a:rPr>
              <a:t>y se muestra sobresaliendo la zona reservada para visualizar el elemento. Este es el comportamiento por defecto.</a:t>
            </a:r>
            <a:endParaRPr sz="2400">
              <a:solidFill>
                <a:schemeClr val="lt1"/>
              </a:solidFill>
              <a:latin typeface="Calibri"/>
              <a:ea typeface="Calibri"/>
              <a:cs typeface="Calibri"/>
              <a:sym typeface="Calibri"/>
            </a:endParaRPr>
          </a:p>
          <a:p>
            <a:pPr indent="-146049" lvl="0" marL="0" marR="26228" rtl="0" algn="just">
              <a:lnSpc>
                <a:spcPct val="100000"/>
              </a:lnSpc>
              <a:spcBef>
                <a:spcPts val="0"/>
              </a:spcBef>
              <a:spcAft>
                <a:spcPts val="0"/>
              </a:spcAft>
              <a:buClr>
                <a:schemeClr val="lt1"/>
              </a:buClr>
              <a:buSzPts val="2300"/>
              <a:buFont typeface="Calibri"/>
              <a:buChar char="▪"/>
            </a:pPr>
            <a:r>
              <a:rPr lang="en-US" sz="2400">
                <a:solidFill>
                  <a:schemeClr val="lt1"/>
                </a:solidFill>
                <a:latin typeface="Calibri"/>
                <a:ea typeface="Calibri"/>
                <a:cs typeface="Calibri"/>
                <a:sym typeface="Calibri"/>
              </a:rPr>
              <a:t>	</a:t>
            </a:r>
            <a:r>
              <a:rPr lang="en-US" sz="2400">
                <a:solidFill>
                  <a:schemeClr val="lt2"/>
                </a:solidFill>
                <a:latin typeface="Calibri"/>
                <a:ea typeface="Calibri"/>
                <a:cs typeface="Calibri"/>
                <a:sym typeface="Calibri"/>
              </a:rPr>
              <a:t>hidden</a:t>
            </a:r>
            <a:r>
              <a:rPr lang="en-US" sz="2400">
                <a:solidFill>
                  <a:schemeClr val="lt1"/>
                </a:solidFill>
                <a:latin typeface="Calibri"/>
                <a:ea typeface="Calibri"/>
                <a:cs typeface="Calibri"/>
                <a:sym typeface="Calibri"/>
              </a:rPr>
              <a:t>: el contenido </a:t>
            </a:r>
            <a:r>
              <a:rPr b="1" lang="en-US" sz="2400">
                <a:solidFill>
                  <a:schemeClr val="lt1"/>
                </a:solidFill>
                <a:latin typeface="Calibri"/>
                <a:ea typeface="Calibri"/>
                <a:cs typeface="Calibri"/>
                <a:sym typeface="Calibri"/>
              </a:rPr>
              <a:t>sobrante se oculta </a:t>
            </a:r>
            <a:r>
              <a:rPr lang="en-US" sz="2400">
                <a:solidFill>
                  <a:schemeClr val="lt1"/>
                </a:solidFill>
                <a:latin typeface="Calibri"/>
                <a:ea typeface="Calibri"/>
                <a:cs typeface="Calibri"/>
                <a:sym typeface="Calibri"/>
              </a:rPr>
              <a:t>y sólo se visualiza la parte del contenido que </a:t>
            </a:r>
            <a:r>
              <a:rPr b="1" lang="en-US" sz="2400">
                <a:solidFill>
                  <a:schemeClr val="lt1"/>
                </a:solidFill>
                <a:latin typeface="Calibri"/>
                <a:ea typeface="Calibri"/>
                <a:cs typeface="Calibri"/>
                <a:sym typeface="Calibri"/>
              </a:rPr>
              <a:t>cabe </a:t>
            </a:r>
            <a:r>
              <a:rPr lang="en-US" sz="2400">
                <a:solidFill>
                  <a:schemeClr val="lt1"/>
                </a:solidFill>
                <a:latin typeface="Calibri"/>
                <a:ea typeface="Calibri"/>
                <a:cs typeface="Calibri"/>
                <a:sym typeface="Calibri"/>
              </a:rPr>
              <a:t>dentro de la zona reservada para el elemento.</a:t>
            </a:r>
            <a:endParaRPr sz="2400">
              <a:solidFill>
                <a:schemeClr val="lt1"/>
              </a:solidFill>
              <a:latin typeface="Calibri"/>
              <a:ea typeface="Calibri"/>
              <a:cs typeface="Calibri"/>
              <a:sym typeface="Calibri"/>
            </a:endParaRPr>
          </a:p>
          <a:p>
            <a:pPr indent="-146049" lvl="0" marL="0" marR="26228" rtl="0" algn="just">
              <a:lnSpc>
                <a:spcPct val="100000"/>
              </a:lnSpc>
              <a:spcBef>
                <a:spcPts val="5"/>
              </a:spcBef>
              <a:spcAft>
                <a:spcPts val="0"/>
              </a:spcAft>
              <a:buClr>
                <a:schemeClr val="lt1"/>
              </a:buClr>
              <a:buSzPts val="2300"/>
              <a:buFont typeface="Calibri"/>
              <a:buChar char="▪"/>
            </a:pPr>
            <a:r>
              <a:rPr lang="en-US" sz="2400">
                <a:solidFill>
                  <a:schemeClr val="lt1"/>
                </a:solidFill>
                <a:latin typeface="Calibri"/>
                <a:ea typeface="Calibri"/>
                <a:cs typeface="Calibri"/>
                <a:sym typeface="Calibri"/>
              </a:rPr>
              <a:t>	</a:t>
            </a:r>
            <a:r>
              <a:rPr lang="en-US" sz="2400">
                <a:solidFill>
                  <a:schemeClr val="lt2"/>
                </a:solidFill>
                <a:latin typeface="Calibri"/>
                <a:ea typeface="Calibri"/>
                <a:cs typeface="Calibri"/>
                <a:sym typeface="Calibri"/>
              </a:rPr>
              <a:t>scroll</a:t>
            </a:r>
            <a:r>
              <a:rPr lang="en-US" sz="2400">
                <a:solidFill>
                  <a:schemeClr val="lt1"/>
                </a:solidFill>
                <a:latin typeface="Calibri"/>
                <a:ea typeface="Calibri"/>
                <a:cs typeface="Calibri"/>
                <a:sym typeface="Calibri"/>
              </a:rPr>
              <a:t>: solamente se visualiza el contenido que cabe dentro de la zona reservada para el elemento, pero también se muestran </a:t>
            </a:r>
            <a:r>
              <a:rPr b="1" lang="en-US" sz="2400">
                <a:solidFill>
                  <a:schemeClr val="lt1"/>
                </a:solidFill>
                <a:latin typeface="Calibri"/>
                <a:ea typeface="Calibri"/>
                <a:cs typeface="Calibri"/>
                <a:sym typeface="Calibri"/>
              </a:rPr>
              <a:t>barras de </a:t>
            </a:r>
            <a:r>
              <a:rPr b="1" i="1" lang="en-US" sz="2400">
                <a:solidFill>
                  <a:schemeClr val="lt1"/>
                </a:solidFill>
                <a:latin typeface="Calibri"/>
                <a:ea typeface="Calibri"/>
                <a:cs typeface="Calibri"/>
                <a:sym typeface="Calibri"/>
              </a:rPr>
              <a:t>scroll </a:t>
            </a:r>
            <a:r>
              <a:rPr i="1" lang="en-US" sz="2400">
                <a:solidFill>
                  <a:schemeClr val="lt1"/>
                </a:solidFill>
                <a:latin typeface="Calibri"/>
                <a:ea typeface="Calibri"/>
                <a:cs typeface="Calibri"/>
                <a:sym typeface="Calibri"/>
              </a:rPr>
              <a:t>que permiten </a:t>
            </a:r>
            <a:r>
              <a:rPr lang="en-US" sz="2400">
                <a:solidFill>
                  <a:schemeClr val="lt1"/>
                </a:solidFill>
                <a:latin typeface="Calibri"/>
                <a:ea typeface="Calibri"/>
                <a:cs typeface="Calibri"/>
                <a:sym typeface="Calibri"/>
              </a:rPr>
              <a:t>visualizar el resto del contenido.</a:t>
            </a:r>
            <a:endParaRPr sz="2400">
              <a:solidFill>
                <a:schemeClr val="lt1"/>
              </a:solidFill>
              <a:latin typeface="Calibri"/>
              <a:ea typeface="Calibri"/>
              <a:cs typeface="Calibri"/>
              <a:sym typeface="Calibri"/>
            </a:endParaRPr>
          </a:p>
          <a:p>
            <a:pPr indent="-146049" lvl="0" marL="0" marR="26228" rtl="0" algn="just">
              <a:lnSpc>
                <a:spcPct val="100000"/>
              </a:lnSpc>
              <a:spcBef>
                <a:spcPts val="5"/>
              </a:spcBef>
              <a:spcAft>
                <a:spcPts val="0"/>
              </a:spcAft>
              <a:buClr>
                <a:schemeClr val="lt1"/>
              </a:buClr>
              <a:buSzPts val="2300"/>
              <a:buFont typeface="Calibri"/>
              <a:buChar char="▪"/>
            </a:pPr>
            <a:r>
              <a:rPr lang="en-US" sz="2400">
                <a:solidFill>
                  <a:schemeClr val="lt1"/>
                </a:solidFill>
                <a:latin typeface="Calibri"/>
                <a:ea typeface="Calibri"/>
                <a:cs typeface="Calibri"/>
                <a:sym typeface="Calibri"/>
              </a:rPr>
              <a:t>  </a:t>
            </a:r>
            <a:r>
              <a:rPr lang="en-US" sz="2400">
                <a:solidFill>
                  <a:schemeClr val="lt2"/>
                </a:solidFill>
                <a:latin typeface="Calibri"/>
                <a:ea typeface="Calibri"/>
                <a:cs typeface="Calibri"/>
                <a:sym typeface="Calibri"/>
              </a:rPr>
              <a:t>auto</a:t>
            </a:r>
            <a:r>
              <a:rPr lang="en-US" sz="2400">
                <a:solidFill>
                  <a:schemeClr val="lt1"/>
                </a:solidFill>
                <a:latin typeface="Calibri"/>
                <a:ea typeface="Calibri"/>
                <a:cs typeface="Calibri"/>
                <a:sym typeface="Calibri"/>
              </a:rPr>
              <a:t>: el comportamiento depende del </a:t>
            </a:r>
            <a:r>
              <a:rPr b="1" lang="en-US" sz="2400">
                <a:solidFill>
                  <a:schemeClr val="lt1"/>
                </a:solidFill>
                <a:latin typeface="Calibri"/>
                <a:ea typeface="Calibri"/>
                <a:cs typeface="Calibri"/>
                <a:sym typeface="Calibri"/>
              </a:rPr>
              <a:t>navegador</a:t>
            </a:r>
            <a:r>
              <a:rPr lang="en-US" sz="2400">
                <a:solidFill>
                  <a:schemeClr val="lt1"/>
                </a:solidFill>
                <a:latin typeface="Calibri"/>
                <a:ea typeface="Calibri"/>
                <a:cs typeface="Calibri"/>
                <a:sym typeface="Calibri"/>
              </a:rPr>
              <a:t>, aunque </a:t>
            </a:r>
            <a:r>
              <a:rPr b="1" lang="en-US" sz="2400">
                <a:solidFill>
                  <a:schemeClr val="lt1"/>
                </a:solidFill>
                <a:latin typeface="Calibri"/>
                <a:ea typeface="Calibri"/>
                <a:cs typeface="Calibri"/>
                <a:sym typeface="Calibri"/>
              </a:rPr>
              <a:t>normalmente </a:t>
            </a:r>
            <a:r>
              <a:rPr lang="en-US" sz="2400">
                <a:solidFill>
                  <a:schemeClr val="lt1"/>
                </a:solidFill>
                <a:latin typeface="Calibri"/>
                <a:ea typeface="Calibri"/>
                <a:cs typeface="Calibri"/>
                <a:sym typeface="Calibri"/>
              </a:rPr>
              <a:t>es el mismo que la propiedad </a:t>
            </a:r>
            <a:r>
              <a:rPr b="1" lang="en-US" sz="2400">
                <a:solidFill>
                  <a:schemeClr val="lt1"/>
                </a:solidFill>
                <a:latin typeface="Calibri"/>
                <a:ea typeface="Calibri"/>
                <a:cs typeface="Calibri"/>
                <a:sym typeface="Calibri"/>
              </a:rPr>
              <a:t>scroll</a:t>
            </a:r>
            <a:r>
              <a:rPr lang="en-US" sz="2400">
                <a:solidFill>
                  <a:schemeClr val="lt1"/>
                </a:solidFill>
                <a:latin typeface="Calibri"/>
                <a:ea typeface="Calibri"/>
                <a:cs typeface="Calibri"/>
                <a:sym typeface="Calibri"/>
              </a:rPr>
              <a:t>.</a:t>
            </a:r>
            <a:endParaRPr sz="2400">
              <a:solidFill>
                <a:schemeClr val="lt1"/>
              </a:solidFill>
              <a:latin typeface="Calibri"/>
              <a:ea typeface="Calibri"/>
              <a:cs typeface="Calibri"/>
              <a:sym typeface="Calibri"/>
            </a:endParaRPr>
          </a:p>
        </p:txBody>
      </p:sp>
      <p:sp>
        <p:nvSpPr>
          <p:cNvPr id="480" name="Google Shape;480;p65"/>
          <p:cNvSpPr txBox="1"/>
          <p:nvPr>
            <p:ph type="title"/>
          </p:nvPr>
        </p:nvSpPr>
        <p:spPr>
          <a:xfrm>
            <a:off x="1297500" y="525000"/>
            <a:ext cx="7038900" cy="80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sz="4000"/>
              <a:t>Valores overflow</a:t>
            </a:r>
            <a:endParaRPr sz="40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id="485" name="Google Shape;485;p66"/>
          <p:cNvPicPr preferRelativeResize="0"/>
          <p:nvPr/>
        </p:nvPicPr>
        <p:blipFill rotWithShape="1">
          <a:blip r:embed="rId3">
            <a:alphaModFix/>
          </a:blip>
          <a:srcRect b="0" l="0" r="0" t="0"/>
          <a:stretch/>
        </p:blipFill>
        <p:spPr>
          <a:xfrm>
            <a:off x="380999" y="3186684"/>
            <a:ext cx="4486657" cy="3305555"/>
          </a:xfrm>
          <a:prstGeom prst="rect">
            <a:avLst/>
          </a:prstGeom>
          <a:noFill/>
          <a:ln>
            <a:noFill/>
          </a:ln>
        </p:spPr>
      </p:pic>
      <p:sp>
        <p:nvSpPr>
          <p:cNvPr id="486" name="Google Shape;486;p66"/>
          <p:cNvSpPr txBox="1"/>
          <p:nvPr/>
        </p:nvSpPr>
        <p:spPr>
          <a:xfrm>
            <a:off x="5376775" y="401525"/>
            <a:ext cx="3435900" cy="6199500"/>
          </a:xfrm>
          <a:prstGeom prst="rect">
            <a:avLst/>
          </a:prstGeom>
          <a:noFill/>
          <a:ln>
            <a:noFill/>
          </a:ln>
        </p:spPr>
        <p:txBody>
          <a:bodyPr anchorCtr="0" anchor="t" bIns="0" lIns="0" spcFirstLastPara="1" rIns="0" wrap="square" tIns="12050">
            <a:spAutoFit/>
          </a:bodyPr>
          <a:lstStyle/>
          <a:p>
            <a:pPr indent="0" lvl="0" marL="469900" rtl="0" algn="l">
              <a:lnSpc>
                <a:spcPct val="100000"/>
              </a:lnSpc>
              <a:spcBef>
                <a:spcPts val="0"/>
              </a:spcBef>
              <a:spcAft>
                <a:spcPts val="0"/>
              </a:spcAft>
              <a:buNone/>
            </a:pPr>
            <a:r>
              <a:rPr lang="en-US" sz="1600">
                <a:solidFill>
                  <a:schemeClr val="lt1"/>
                </a:solidFill>
                <a:latin typeface="Calibri"/>
                <a:ea typeface="Calibri"/>
                <a:cs typeface="Calibri"/>
                <a:sym typeface="Calibri"/>
              </a:rPr>
              <a:t>div {</a:t>
            </a:r>
            <a:endParaRPr sz="1600">
              <a:solidFill>
                <a:schemeClr val="lt1"/>
              </a:solidFill>
              <a:latin typeface="Calibri"/>
              <a:ea typeface="Calibri"/>
              <a:cs typeface="Calibri"/>
              <a:sym typeface="Calibri"/>
            </a:endParaRPr>
          </a:p>
          <a:p>
            <a:pPr indent="0" lvl="0" marL="927100" marR="1130935" rtl="0" algn="l">
              <a:lnSpc>
                <a:spcPct val="100000"/>
              </a:lnSpc>
              <a:spcBef>
                <a:spcPts val="5"/>
              </a:spcBef>
              <a:spcAft>
                <a:spcPts val="0"/>
              </a:spcAft>
              <a:buNone/>
            </a:pPr>
            <a:r>
              <a:rPr lang="en-US" sz="1600">
                <a:solidFill>
                  <a:schemeClr val="lt1"/>
                </a:solidFill>
                <a:latin typeface="Calibri"/>
                <a:ea typeface="Calibri"/>
                <a:cs typeface="Calibri"/>
                <a:sym typeface="Calibri"/>
              </a:rPr>
              <a:t>display: inline; float: left; margin: 1em; padding: .3em;</a:t>
            </a:r>
            <a:endParaRPr sz="1600">
              <a:solidFill>
                <a:schemeClr val="lt1"/>
              </a:solidFill>
              <a:latin typeface="Calibri"/>
              <a:ea typeface="Calibri"/>
              <a:cs typeface="Calibri"/>
              <a:sym typeface="Calibri"/>
            </a:endParaRPr>
          </a:p>
          <a:p>
            <a:pPr indent="0" lvl="0" marL="927100" rtl="0" algn="l">
              <a:lnSpc>
                <a:spcPct val="100000"/>
              </a:lnSpc>
              <a:spcBef>
                <a:spcPts val="0"/>
              </a:spcBef>
              <a:spcAft>
                <a:spcPts val="0"/>
              </a:spcAft>
              <a:buNone/>
            </a:pPr>
            <a:r>
              <a:rPr lang="en-US" sz="1600">
                <a:solidFill>
                  <a:schemeClr val="lt1"/>
                </a:solidFill>
                <a:latin typeface="Calibri"/>
                <a:ea typeface="Calibri"/>
                <a:cs typeface="Calibri"/>
                <a:sym typeface="Calibri"/>
              </a:rPr>
              <a:t>border: 2px solid #555;</a:t>
            </a:r>
            <a:endParaRPr sz="1600">
              <a:solidFill>
                <a:schemeClr val="lt1"/>
              </a:solidFill>
              <a:latin typeface="Calibri"/>
              <a:ea typeface="Calibri"/>
              <a:cs typeface="Calibri"/>
              <a:sym typeface="Calibri"/>
            </a:endParaRPr>
          </a:p>
          <a:p>
            <a:pPr indent="0" lvl="0" marL="927100" marR="1191895" rtl="0" algn="l">
              <a:lnSpc>
                <a:spcPct val="100000"/>
              </a:lnSpc>
              <a:spcBef>
                <a:spcPts val="0"/>
              </a:spcBef>
              <a:spcAft>
                <a:spcPts val="0"/>
              </a:spcAft>
              <a:buNone/>
            </a:pPr>
            <a:r>
              <a:rPr lang="en-US" sz="1600">
                <a:solidFill>
                  <a:schemeClr val="lt1"/>
                </a:solidFill>
                <a:latin typeface="Calibri"/>
                <a:ea typeface="Calibri"/>
                <a:cs typeface="Calibri"/>
                <a:sym typeface="Calibri"/>
              </a:rPr>
              <a:t>width: 100px; height: 150px;</a:t>
            </a:r>
            <a:endParaRPr sz="1600">
              <a:solidFill>
                <a:schemeClr val="lt1"/>
              </a:solidFill>
              <a:latin typeface="Calibri"/>
              <a:ea typeface="Calibri"/>
              <a:cs typeface="Calibri"/>
              <a:sym typeface="Calibri"/>
            </a:endParaRPr>
          </a:p>
          <a:p>
            <a:pPr indent="0" lvl="0" marL="927100" marR="227965" rtl="0" algn="l">
              <a:lnSpc>
                <a:spcPct val="100000"/>
              </a:lnSpc>
              <a:spcBef>
                <a:spcPts val="0"/>
              </a:spcBef>
              <a:spcAft>
                <a:spcPts val="0"/>
              </a:spcAft>
              <a:buNone/>
            </a:pPr>
            <a:r>
              <a:rPr lang="en-US" sz="1600">
                <a:solidFill>
                  <a:schemeClr val="lt1"/>
                </a:solidFill>
                <a:latin typeface="Calibri"/>
                <a:ea typeface="Calibri"/>
                <a:cs typeface="Calibri"/>
                <a:sym typeface="Calibri"/>
              </a:rPr>
              <a:t>font: 1em Arial, Helvetica, sans-serif; }</a:t>
            </a:r>
            <a:endParaRPr sz="1600">
              <a:solidFill>
                <a:schemeClr val="lt1"/>
              </a:solidFill>
              <a:latin typeface="Calibri"/>
              <a:ea typeface="Calibri"/>
              <a:cs typeface="Calibri"/>
              <a:sym typeface="Calibri"/>
            </a:endParaRPr>
          </a:p>
          <a:p>
            <a:pPr indent="0" lvl="0" marL="0" rtl="0" algn="l">
              <a:lnSpc>
                <a:spcPct val="100000"/>
              </a:lnSpc>
              <a:spcBef>
                <a:spcPts val="150"/>
              </a:spcBef>
              <a:spcAft>
                <a:spcPts val="0"/>
              </a:spcAft>
              <a:buNone/>
            </a:pPr>
            <a:r>
              <a:t/>
            </a:r>
            <a:endParaRPr sz="1600">
              <a:solidFill>
                <a:schemeClr val="lt1"/>
              </a:solidFill>
              <a:latin typeface="Calibri"/>
              <a:ea typeface="Calibri"/>
              <a:cs typeface="Calibri"/>
              <a:sym typeface="Calibri"/>
            </a:endParaRPr>
          </a:p>
          <a:p>
            <a:pPr indent="45720" lvl="0" marL="12700" marR="5080" rtl="0" algn="l">
              <a:lnSpc>
                <a:spcPct val="101000"/>
              </a:lnSpc>
              <a:spcBef>
                <a:spcPts val="0"/>
              </a:spcBef>
              <a:spcAft>
                <a:spcPts val="0"/>
              </a:spcAft>
              <a:buNone/>
            </a:pPr>
            <a:r>
              <a:rPr lang="en-US" sz="1400">
                <a:solidFill>
                  <a:schemeClr val="lt1"/>
                </a:solidFill>
                <a:latin typeface="Calibri"/>
                <a:ea typeface="Calibri"/>
                <a:cs typeface="Calibri"/>
                <a:sym typeface="Calibri"/>
              </a:rPr>
              <a:t>&lt;div&gt;&lt;h1&gt;overflow: visible&lt;/h1&gt; Lorem ipsum dolor sit amet, consectetuer adipiscing elit. Cras vitae dolor eu enim dignissim lacinia. Maecenas blandit. Morbi mi.&lt;/div&gt;</a:t>
            </a:r>
            <a:endParaRPr sz="1400">
              <a:solidFill>
                <a:schemeClr val="lt1"/>
              </a:solidFill>
              <a:latin typeface="Calibri"/>
              <a:ea typeface="Calibri"/>
              <a:cs typeface="Calibri"/>
              <a:sym typeface="Calibri"/>
            </a:endParaRPr>
          </a:p>
          <a:p>
            <a:pPr indent="0" lvl="0" marL="12700" marR="34290" rtl="0" algn="l">
              <a:lnSpc>
                <a:spcPct val="100000"/>
              </a:lnSpc>
              <a:spcBef>
                <a:spcPts val="1680"/>
              </a:spcBef>
              <a:spcAft>
                <a:spcPts val="0"/>
              </a:spcAft>
              <a:buNone/>
            </a:pPr>
            <a:r>
              <a:rPr lang="en-US" sz="1400">
                <a:solidFill>
                  <a:schemeClr val="lt1"/>
                </a:solidFill>
                <a:latin typeface="Calibri"/>
                <a:ea typeface="Calibri"/>
                <a:cs typeface="Calibri"/>
                <a:sym typeface="Calibri"/>
              </a:rPr>
              <a:t>&lt;div style="overflow:hidden"&gt;&lt;h1&gt;overflow: hidden&lt;/h1&gt; Lorem ipsum dolor sit amet, consectetuer adipiscing elit. Cras vitae dolor eu enim dignissim lacinia. Maecenas blandit. Morbi mi.&lt;/div&gt;</a:t>
            </a:r>
            <a:endParaRPr sz="1400">
              <a:solidFill>
                <a:schemeClr val="lt1"/>
              </a:solidFill>
              <a:latin typeface="Calibri"/>
              <a:ea typeface="Calibri"/>
              <a:cs typeface="Calibri"/>
              <a:sym typeface="Calibri"/>
            </a:endParaRPr>
          </a:p>
          <a:p>
            <a:pPr indent="0" lvl="0" marL="12700" marR="57785" rtl="0" algn="l">
              <a:lnSpc>
                <a:spcPct val="100200"/>
              </a:lnSpc>
              <a:spcBef>
                <a:spcPts val="1680"/>
              </a:spcBef>
              <a:spcAft>
                <a:spcPts val="0"/>
              </a:spcAft>
              <a:buNone/>
            </a:pPr>
            <a:r>
              <a:rPr lang="en-US" sz="1400">
                <a:solidFill>
                  <a:schemeClr val="lt1"/>
                </a:solidFill>
                <a:latin typeface="Calibri"/>
                <a:ea typeface="Calibri"/>
                <a:cs typeface="Calibri"/>
                <a:sym typeface="Calibri"/>
              </a:rPr>
              <a:t>&lt;div style="overflow:scroll"&gt;&lt;h1&gt;overflow: scroll&lt;/h1&gt; Lorem ipsum dolor sit amet, consectetuer adipiscing elit. Cras vitae dolor eu enim dignissim lacinia. Maecenas blandit. Morbi mi.&lt;/div&gt;</a:t>
            </a:r>
            <a:endParaRPr sz="1400">
              <a:solidFill>
                <a:schemeClr val="lt1"/>
              </a:solidFill>
              <a:latin typeface="Calibri"/>
              <a:ea typeface="Calibri"/>
              <a:cs typeface="Calibri"/>
              <a:sym typeface="Calibri"/>
            </a:endParaRPr>
          </a:p>
        </p:txBody>
      </p:sp>
      <p:sp>
        <p:nvSpPr>
          <p:cNvPr id="487" name="Google Shape;487;p66"/>
          <p:cNvSpPr txBox="1"/>
          <p:nvPr>
            <p:ph type="title"/>
          </p:nvPr>
        </p:nvSpPr>
        <p:spPr>
          <a:xfrm>
            <a:off x="1297500" y="525000"/>
            <a:ext cx="7038900" cy="121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sz="4000"/>
              <a:t>Ejemplo</a:t>
            </a:r>
            <a:endParaRPr sz="40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7"/>
          <p:cNvSpPr txBox="1"/>
          <p:nvPr/>
        </p:nvSpPr>
        <p:spPr>
          <a:xfrm>
            <a:off x="1297500" y="1743900"/>
            <a:ext cx="7175700" cy="4086000"/>
          </a:xfrm>
          <a:prstGeom prst="rect">
            <a:avLst/>
          </a:prstGeom>
          <a:noFill/>
          <a:ln>
            <a:noFill/>
          </a:ln>
        </p:spPr>
        <p:txBody>
          <a:bodyPr anchorCtr="0" anchor="t" bIns="0" lIns="0" spcFirstLastPara="1" rIns="0" wrap="square" tIns="12700">
            <a:spAutoFit/>
          </a:bodyPr>
          <a:lstStyle/>
          <a:p>
            <a:pPr indent="0" lvl="0" marL="12700" marR="125730" rtl="0" algn="just">
              <a:lnSpc>
                <a:spcPct val="100000"/>
              </a:lnSpc>
              <a:spcBef>
                <a:spcPts val="0"/>
              </a:spcBef>
              <a:spcAft>
                <a:spcPts val="0"/>
              </a:spcAft>
              <a:buNone/>
            </a:pPr>
            <a:r>
              <a:rPr lang="en-US" sz="2400">
                <a:solidFill>
                  <a:schemeClr val="lt1"/>
                </a:solidFill>
                <a:latin typeface="Calibri"/>
                <a:ea typeface="Calibri"/>
                <a:cs typeface="Calibri"/>
                <a:sym typeface="Calibri"/>
              </a:rPr>
              <a:t>Además de posicionar una caja de forma horizontal y vertical, CSS permite controlar la posición </a:t>
            </a:r>
            <a:r>
              <a:rPr b="1" lang="en-US" sz="2400">
                <a:solidFill>
                  <a:schemeClr val="lt1"/>
                </a:solidFill>
                <a:latin typeface="Calibri"/>
                <a:ea typeface="Calibri"/>
                <a:cs typeface="Calibri"/>
                <a:sym typeface="Calibri"/>
              </a:rPr>
              <a:t>tridimensional </a:t>
            </a:r>
            <a:r>
              <a:rPr lang="en-US" sz="2400">
                <a:solidFill>
                  <a:schemeClr val="lt1"/>
                </a:solidFill>
                <a:latin typeface="Calibri"/>
                <a:ea typeface="Calibri"/>
                <a:cs typeface="Calibri"/>
                <a:sym typeface="Calibri"/>
              </a:rPr>
              <a:t>de las cajas posicionadas. De esta forma, es posible indicar las cajas que se muestran </a:t>
            </a:r>
            <a:r>
              <a:rPr b="1" lang="en-US" sz="2400">
                <a:solidFill>
                  <a:schemeClr val="lt2"/>
                </a:solidFill>
                <a:latin typeface="Calibri"/>
                <a:ea typeface="Calibri"/>
                <a:cs typeface="Calibri"/>
                <a:sym typeface="Calibri"/>
              </a:rPr>
              <a:t>delante o detrás</a:t>
            </a:r>
            <a:r>
              <a:rPr b="1" lang="en-US" sz="2400">
                <a:solidFill>
                  <a:schemeClr val="lt1"/>
                </a:solidFill>
                <a:latin typeface="Calibri"/>
                <a:ea typeface="Calibri"/>
                <a:cs typeface="Calibri"/>
                <a:sym typeface="Calibri"/>
              </a:rPr>
              <a:t> de otras cajas </a:t>
            </a:r>
            <a:r>
              <a:rPr lang="en-US" sz="2400">
                <a:solidFill>
                  <a:schemeClr val="lt1"/>
                </a:solidFill>
                <a:latin typeface="Calibri"/>
                <a:ea typeface="Calibri"/>
                <a:cs typeface="Calibri"/>
                <a:sym typeface="Calibri"/>
              </a:rPr>
              <a:t>cuando se	producen </a:t>
            </a:r>
            <a:r>
              <a:rPr b="1" lang="en-US" sz="2400">
                <a:solidFill>
                  <a:schemeClr val="lt1"/>
                </a:solidFill>
                <a:latin typeface="Calibri"/>
                <a:ea typeface="Calibri"/>
                <a:cs typeface="Calibri"/>
                <a:sym typeface="Calibri"/>
              </a:rPr>
              <a:t>solapamientos</a:t>
            </a:r>
            <a:r>
              <a:rPr lang="en-US" sz="2400">
                <a:solidFill>
                  <a:schemeClr val="lt1"/>
                </a:solidFill>
                <a:latin typeface="Calibri"/>
                <a:ea typeface="Calibri"/>
                <a:cs typeface="Calibri"/>
                <a:sym typeface="Calibri"/>
              </a:rPr>
              <a:t>.</a:t>
            </a:r>
            <a:endParaRPr sz="2400">
              <a:solidFill>
                <a:schemeClr val="lt1"/>
              </a:solidFill>
              <a:latin typeface="Calibri"/>
              <a:ea typeface="Calibri"/>
              <a:cs typeface="Calibri"/>
              <a:sym typeface="Calibri"/>
            </a:endParaRPr>
          </a:p>
          <a:p>
            <a:pPr indent="0" lvl="0" marL="0" rtl="0" algn="just">
              <a:lnSpc>
                <a:spcPct val="100000"/>
              </a:lnSpc>
              <a:spcBef>
                <a:spcPts val="70"/>
              </a:spcBef>
              <a:spcAft>
                <a:spcPts val="0"/>
              </a:spcAft>
              <a:buNone/>
            </a:pPr>
            <a:r>
              <a:t/>
            </a:r>
            <a:endParaRPr sz="2400">
              <a:solidFill>
                <a:schemeClr val="lt1"/>
              </a:solidFill>
              <a:latin typeface="Calibri"/>
              <a:ea typeface="Calibri"/>
              <a:cs typeface="Calibri"/>
              <a:sym typeface="Calibri"/>
            </a:endParaRPr>
          </a:p>
          <a:p>
            <a:pPr indent="0" lvl="0" marL="12700" marR="5715" rtl="0" algn="just">
              <a:lnSpc>
                <a:spcPct val="100000"/>
              </a:lnSpc>
              <a:spcBef>
                <a:spcPts val="0"/>
              </a:spcBef>
              <a:spcAft>
                <a:spcPts val="0"/>
              </a:spcAft>
              <a:buNone/>
            </a:pPr>
            <a:r>
              <a:rPr lang="en-US" sz="2400">
                <a:solidFill>
                  <a:schemeClr val="lt1"/>
                </a:solidFill>
                <a:latin typeface="Calibri"/>
                <a:ea typeface="Calibri"/>
                <a:cs typeface="Calibri"/>
                <a:sym typeface="Calibri"/>
              </a:rPr>
              <a:t>La posición tridimensional de un elemento se establece sobre un </a:t>
            </a:r>
            <a:r>
              <a:rPr b="1" lang="en-US" sz="2400">
                <a:solidFill>
                  <a:schemeClr val="lt1"/>
                </a:solidFill>
                <a:latin typeface="Calibri"/>
                <a:ea typeface="Calibri"/>
                <a:cs typeface="Calibri"/>
                <a:sym typeface="Calibri"/>
              </a:rPr>
              <a:t>tercer eje llamado Z </a:t>
            </a:r>
            <a:r>
              <a:rPr lang="en-US" sz="2400">
                <a:solidFill>
                  <a:schemeClr val="lt1"/>
                </a:solidFill>
                <a:latin typeface="Calibri"/>
                <a:ea typeface="Calibri"/>
                <a:cs typeface="Calibri"/>
                <a:sym typeface="Calibri"/>
              </a:rPr>
              <a:t>y se controla mediante la propiedad z- index.</a:t>
            </a:r>
            <a:endParaRPr sz="2400">
              <a:solidFill>
                <a:schemeClr val="lt1"/>
              </a:solidFill>
              <a:latin typeface="Calibri"/>
              <a:ea typeface="Calibri"/>
              <a:cs typeface="Calibri"/>
              <a:sym typeface="Calibri"/>
            </a:endParaRPr>
          </a:p>
          <a:p>
            <a:pPr indent="0" lvl="0" marL="12700" marR="5080" rtl="0" algn="just">
              <a:lnSpc>
                <a:spcPct val="100000"/>
              </a:lnSpc>
              <a:spcBef>
                <a:spcPts val="5"/>
              </a:spcBef>
              <a:spcAft>
                <a:spcPts val="0"/>
              </a:spcAft>
              <a:buNone/>
            </a:pPr>
            <a:r>
              <a:rPr lang="en-US" sz="2400">
                <a:solidFill>
                  <a:schemeClr val="lt1"/>
                </a:solidFill>
                <a:latin typeface="Calibri"/>
                <a:ea typeface="Calibri"/>
                <a:cs typeface="Calibri"/>
                <a:sym typeface="Calibri"/>
              </a:rPr>
              <a:t>Utilizando esta propiedad es posible crear páginas complejas con varios niveles o capas.</a:t>
            </a:r>
            <a:endParaRPr sz="2400">
              <a:solidFill>
                <a:schemeClr val="lt1"/>
              </a:solidFill>
              <a:latin typeface="Calibri"/>
              <a:ea typeface="Calibri"/>
              <a:cs typeface="Calibri"/>
              <a:sym typeface="Calibri"/>
            </a:endParaRPr>
          </a:p>
        </p:txBody>
      </p:sp>
      <p:sp>
        <p:nvSpPr>
          <p:cNvPr id="493" name="Google Shape;493;p67"/>
          <p:cNvSpPr txBox="1"/>
          <p:nvPr>
            <p:ph type="title"/>
          </p:nvPr>
        </p:nvSpPr>
        <p:spPr>
          <a:xfrm>
            <a:off x="1297500" y="525000"/>
            <a:ext cx="7038900" cy="121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sz="4000"/>
              <a:t>z-index</a:t>
            </a:r>
            <a:endParaRPr sz="40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8"/>
          <p:cNvSpPr txBox="1"/>
          <p:nvPr/>
        </p:nvSpPr>
        <p:spPr>
          <a:xfrm>
            <a:off x="1297500" y="1582825"/>
            <a:ext cx="7637700" cy="5263500"/>
          </a:xfrm>
          <a:prstGeom prst="rect">
            <a:avLst/>
          </a:prstGeom>
          <a:noFill/>
          <a:ln>
            <a:noFill/>
          </a:ln>
        </p:spPr>
        <p:txBody>
          <a:bodyPr anchorCtr="0" anchor="t" bIns="0" lIns="0" spcFirstLastPara="1" rIns="0" wrap="square" tIns="12700">
            <a:spAutoFit/>
          </a:bodyPr>
          <a:lstStyle/>
          <a:p>
            <a:pPr indent="0" lvl="0" marL="12700" rtl="0" algn="just">
              <a:lnSpc>
                <a:spcPct val="100000"/>
              </a:lnSpc>
              <a:spcBef>
                <a:spcPts val="0"/>
              </a:spcBef>
              <a:spcAft>
                <a:spcPts val="0"/>
              </a:spcAft>
              <a:buNone/>
            </a:pPr>
            <a:r>
              <a:rPr lang="en-US" sz="2400">
                <a:solidFill>
                  <a:schemeClr val="lt1"/>
                </a:solidFill>
                <a:latin typeface="Calibri"/>
                <a:ea typeface="Calibri"/>
                <a:cs typeface="Calibri"/>
                <a:sym typeface="Calibri"/>
              </a:rPr>
              <a:t>auto | &lt;numero&gt; | inherit</a:t>
            </a:r>
            <a:endParaRPr sz="2400">
              <a:solidFill>
                <a:schemeClr val="lt1"/>
              </a:solidFill>
              <a:latin typeface="Calibri"/>
              <a:ea typeface="Calibri"/>
              <a:cs typeface="Calibri"/>
              <a:sym typeface="Calibri"/>
            </a:endParaRPr>
          </a:p>
          <a:p>
            <a:pPr indent="0" lvl="0" marL="0" rtl="0" algn="just">
              <a:lnSpc>
                <a:spcPct val="100000"/>
              </a:lnSpc>
              <a:spcBef>
                <a:spcPts val="490"/>
              </a:spcBef>
              <a:spcAft>
                <a:spcPts val="0"/>
              </a:spcAft>
              <a:buNone/>
            </a:pPr>
            <a:r>
              <a:t/>
            </a:r>
            <a:endParaRPr sz="1000">
              <a:solidFill>
                <a:schemeClr val="lt1"/>
              </a:solidFill>
              <a:latin typeface="Calibri"/>
              <a:ea typeface="Calibri"/>
              <a:cs typeface="Calibri"/>
              <a:sym typeface="Calibri"/>
            </a:endParaRPr>
          </a:p>
          <a:p>
            <a:pPr indent="0" lvl="0" marL="83820" marR="408940" rtl="0" algn="just">
              <a:lnSpc>
                <a:spcPct val="100000"/>
              </a:lnSpc>
              <a:spcBef>
                <a:spcPts val="0"/>
              </a:spcBef>
              <a:spcAft>
                <a:spcPts val="0"/>
              </a:spcAft>
              <a:buNone/>
            </a:pPr>
            <a:r>
              <a:rPr lang="en-US" sz="2100">
                <a:solidFill>
                  <a:schemeClr val="lt1"/>
                </a:solidFill>
                <a:latin typeface="Calibri"/>
                <a:ea typeface="Calibri"/>
                <a:cs typeface="Calibri"/>
                <a:sym typeface="Calibri"/>
              </a:rPr>
              <a:t>El valor más común de la propiedad z-index es un número entero. Aunque la especificación oficial permite los números negativos, en general se considera el número </a:t>
            </a:r>
            <a:r>
              <a:rPr b="1" lang="en-US" sz="2100">
                <a:solidFill>
                  <a:schemeClr val="lt1"/>
                </a:solidFill>
                <a:latin typeface="Calibri"/>
                <a:ea typeface="Calibri"/>
                <a:cs typeface="Calibri"/>
                <a:sym typeface="Calibri"/>
              </a:rPr>
              <a:t>0 </a:t>
            </a:r>
            <a:r>
              <a:rPr lang="en-US" sz="2100">
                <a:solidFill>
                  <a:schemeClr val="lt1"/>
                </a:solidFill>
                <a:latin typeface="Calibri"/>
                <a:ea typeface="Calibri"/>
                <a:cs typeface="Calibri"/>
                <a:sym typeface="Calibri"/>
              </a:rPr>
              <a:t>como el nivel	más bajo.</a:t>
            </a:r>
            <a:endParaRPr sz="2100">
              <a:solidFill>
                <a:schemeClr val="lt1"/>
              </a:solidFill>
              <a:latin typeface="Calibri"/>
              <a:ea typeface="Calibri"/>
              <a:cs typeface="Calibri"/>
              <a:sym typeface="Calibri"/>
            </a:endParaRPr>
          </a:p>
          <a:p>
            <a:pPr indent="0" lvl="0" marL="83820" marR="757555" rtl="0" algn="just">
              <a:lnSpc>
                <a:spcPct val="100000"/>
              </a:lnSpc>
              <a:spcBef>
                <a:spcPts val="2885"/>
              </a:spcBef>
              <a:spcAft>
                <a:spcPts val="0"/>
              </a:spcAft>
              <a:buNone/>
            </a:pPr>
            <a:r>
              <a:rPr lang="en-US" sz="2100">
                <a:solidFill>
                  <a:schemeClr val="lt1"/>
                </a:solidFill>
                <a:latin typeface="Calibri"/>
                <a:ea typeface="Calibri"/>
                <a:cs typeface="Calibri"/>
                <a:sym typeface="Calibri"/>
              </a:rPr>
              <a:t>Cuanto más alto sea el valor numérico, más cerca del usuario se muestra la caja.</a:t>
            </a:r>
            <a:endParaRPr sz="2100">
              <a:solidFill>
                <a:schemeClr val="lt1"/>
              </a:solidFill>
              <a:latin typeface="Calibri"/>
              <a:ea typeface="Calibri"/>
              <a:cs typeface="Calibri"/>
              <a:sym typeface="Calibri"/>
            </a:endParaRPr>
          </a:p>
          <a:p>
            <a:pPr indent="0" lvl="0" marL="83820" rtl="0" algn="just">
              <a:lnSpc>
                <a:spcPct val="100000"/>
              </a:lnSpc>
              <a:spcBef>
                <a:spcPts val="2880"/>
              </a:spcBef>
              <a:spcAft>
                <a:spcPts val="0"/>
              </a:spcAft>
              <a:buNone/>
            </a:pPr>
            <a:r>
              <a:rPr lang="en-US" sz="2100">
                <a:solidFill>
                  <a:schemeClr val="lt1"/>
                </a:solidFill>
                <a:latin typeface="Calibri"/>
                <a:ea typeface="Calibri"/>
                <a:cs typeface="Calibri"/>
                <a:sym typeface="Calibri"/>
              </a:rPr>
              <a:t>Un elemento con z-index: 10 se muestra por encima de los elementos con z-index: 8 o z-index: 9, pero por debajo de elementos con z-index: 20 o z-index: 50.</a:t>
            </a:r>
            <a:endParaRPr sz="2100">
              <a:solidFill>
                <a:schemeClr val="lt1"/>
              </a:solidFill>
              <a:latin typeface="Calibri"/>
              <a:ea typeface="Calibri"/>
              <a:cs typeface="Calibri"/>
              <a:sym typeface="Calibri"/>
            </a:endParaRPr>
          </a:p>
          <a:p>
            <a:pPr indent="0" lvl="0" marL="83820" rtl="0" algn="just">
              <a:lnSpc>
                <a:spcPct val="100000"/>
              </a:lnSpc>
              <a:spcBef>
                <a:spcPts val="2880"/>
              </a:spcBef>
              <a:spcAft>
                <a:spcPts val="0"/>
              </a:spcAft>
              <a:buNone/>
            </a:pPr>
            <a:r>
              <a:rPr lang="en-US" sz="2100">
                <a:solidFill>
                  <a:schemeClr val="lt1"/>
                </a:solidFill>
                <a:latin typeface="Calibri"/>
                <a:ea typeface="Calibri"/>
                <a:cs typeface="Calibri"/>
                <a:sym typeface="Calibri"/>
              </a:rPr>
              <a:t>Se recomienda dejar al menos 10 unidades entre los valores de z-index de distintos elementos por si hubiera que en algún otro momento introducir otro elemento entre ambos.</a:t>
            </a:r>
            <a:endParaRPr sz="2100">
              <a:solidFill>
                <a:schemeClr val="lt1"/>
              </a:solidFill>
              <a:latin typeface="Calibri"/>
              <a:ea typeface="Calibri"/>
              <a:cs typeface="Calibri"/>
              <a:sym typeface="Calibri"/>
            </a:endParaRPr>
          </a:p>
        </p:txBody>
      </p:sp>
      <p:sp>
        <p:nvSpPr>
          <p:cNvPr id="499" name="Google Shape;499;p68"/>
          <p:cNvSpPr txBox="1"/>
          <p:nvPr>
            <p:ph type="title"/>
          </p:nvPr>
        </p:nvSpPr>
        <p:spPr>
          <a:xfrm>
            <a:off x="1297500" y="525000"/>
            <a:ext cx="7038900" cy="95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sz="4000"/>
              <a:t>Valores z-index</a:t>
            </a:r>
            <a:endParaRPr sz="40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9"/>
          <p:cNvSpPr txBox="1"/>
          <p:nvPr/>
        </p:nvSpPr>
        <p:spPr>
          <a:xfrm>
            <a:off x="302158" y="520064"/>
            <a:ext cx="8652000" cy="5901600"/>
          </a:xfrm>
          <a:prstGeom prst="rect">
            <a:avLst/>
          </a:prstGeom>
          <a:noFill/>
          <a:ln>
            <a:noFill/>
          </a:ln>
        </p:spPr>
        <p:txBody>
          <a:bodyPr anchorCtr="0" anchor="t" bIns="0" lIns="0" spcFirstLastPara="1" rIns="0" wrap="square" tIns="13325">
            <a:spAutoFit/>
          </a:bodyPr>
          <a:lstStyle/>
          <a:p>
            <a:pPr indent="0" lvl="0" marL="4209415" rtl="0" algn="l">
              <a:lnSpc>
                <a:spcPct val="100000"/>
              </a:lnSpc>
              <a:spcBef>
                <a:spcPts val="0"/>
              </a:spcBef>
              <a:spcAft>
                <a:spcPts val="0"/>
              </a:spcAft>
              <a:buNone/>
            </a:pPr>
            <a:r>
              <a:rPr lang="en-US" sz="1400">
                <a:solidFill>
                  <a:schemeClr val="lt1"/>
                </a:solidFill>
                <a:latin typeface="Calibri"/>
                <a:ea typeface="Calibri"/>
                <a:cs typeface="Calibri"/>
                <a:sym typeface="Calibri"/>
              </a:rPr>
              <a:t>div { position: absolute; }</a:t>
            </a:r>
            <a:endParaRPr sz="1400">
              <a:solidFill>
                <a:schemeClr val="lt1"/>
              </a:solidFill>
              <a:latin typeface="Calibri"/>
              <a:ea typeface="Calibri"/>
              <a:cs typeface="Calibri"/>
              <a:sym typeface="Calibri"/>
            </a:endParaRPr>
          </a:p>
          <a:p>
            <a:pPr indent="0" lvl="0" marL="4209415" marR="1465580" rtl="0" algn="l">
              <a:lnSpc>
                <a:spcPct val="100000"/>
              </a:lnSpc>
              <a:spcBef>
                <a:spcPts val="0"/>
              </a:spcBef>
              <a:spcAft>
                <a:spcPts val="0"/>
              </a:spcAft>
              <a:buNone/>
            </a:pPr>
            <a:r>
              <a:rPr lang="en-US" sz="1400">
                <a:solidFill>
                  <a:schemeClr val="lt1"/>
                </a:solidFill>
                <a:latin typeface="Calibri"/>
                <a:ea typeface="Calibri"/>
                <a:cs typeface="Calibri"/>
                <a:sym typeface="Calibri"/>
              </a:rPr>
              <a:t>#caja1 { z-index: </a:t>
            </a:r>
            <a:r>
              <a:rPr lang="en-US">
                <a:solidFill>
                  <a:schemeClr val="lt1"/>
                </a:solidFill>
                <a:latin typeface="Calibri"/>
                <a:ea typeface="Calibri"/>
                <a:cs typeface="Calibri"/>
                <a:sym typeface="Calibri"/>
              </a:rPr>
              <a:t>10</a:t>
            </a:r>
            <a:r>
              <a:rPr lang="en-US" sz="1400">
                <a:solidFill>
                  <a:schemeClr val="lt1"/>
                </a:solidFill>
                <a:latin typeface="Calibri"/>
                <a:ea typeface="Calibri"/>
                <a:cs typeface="Calibri"/>
                <a:sym typeface="Calibri"/>
              </a:rPr>
              <a:t>; top: 1em; left: 8em;} #caja2 { z-index: </a:t>
            </a:r>
            <a:r>
              <a:rPr lang="en-US">
                <a:solidFill>
                  <a:schemeClr val="lt1"/>
                </a:solidFill>
                <a:latin typeface="Calibri"/>
                <a:ea typeface="Calibri"/>
                <a:cs typeface="Calibri"/>
                <a:sym typeface="Calibri"/>
              </a:rPr>
              <a:t>20</a:t>
            </a:r>
            <a:r>
              <a:rPr lang="en-US" sz="1400">
                <a:solidFill>
                  <a:schemeClr val="lt1"/>
                </a:solidFill>
                <a:latin typeface="Calibri"/>
                <a:ea typeface="Calibri"/>
                <a:cs typeface="Calibri"/>
                <a:sym typeface="Calibri"/>
              </a:rPr>
              <a:t>; top: 5em; left: 5em;} #caja3 { z-index: </a:t>
            </a:r>
            <a:r>
              <a:rPr lang="en-US">
                <a:solidFill>
                  <a:schemeClr val="lt1"/>
                </a:solidFill>
                <a:latin typeface="Calibri"/>
                <a:ea typeface="Calibri"/>
                <a:cs typeface="Calibri"/>
                <a:sym typeface="Calibri"/>
              </a:rPr>
              <a:t>30</a:t>
            </a:r>
            <a:r>
              <a:rPr lang="en-US" sz="1400">
                <a:solidFill>
                  <a:schemeClr val="lt1"/>
                </a:solidFill>
                <a:latin typeface="Calibri"/>
                <a:ea typeface="Calibri"/>
                <a:cs typeface="Calibri"/>
                <a:sym typeface="Calibri"/>
              </a:rPr>
              <a:t>; top: 2em; left: 2em;}</a:t>
            </a:r>
            <a:endParaRPr sz="1400">
              <a:solidFill>
                <a:schemeClr val="lt1"/>
              </a:solidFill>
              <a:latin typeface="Calibri"/>
              <a:ea typeface="Calibri"/>
              <a:cs typeface="Calibri"/>
              <a:sym typeface="Calibri"/>
            </a:endParaRPr>
          </a:p>
          <a:p>
            <a:pPr indent="0" lvl="0" marL="4209415" marR="82550" rtl="0" algn="l">
              <a:lnSpc>
                <a:spcPct val="100000"/>
              </a:lnSpc>
              <a:spcBef>
                <a:spcPts val="1680"/>
              </a:spcBef>
              <a:spcAft>
                <a:spcPts val="0"/>
              </a:spcAft>
              <a:buNone/>
            </a:pPr>
            <a:r>
              <a:rPr lang="en-US" sz="1400">
                <a:solidFill>
                  <a:schemeClr val="lt1"/>
                </a:solidFill>
                <a:latin typeface="Calibri"/>
                <a:ea typeface="Calibri"/>
                <a:cs typeface="Calibri"/>
                <a:sym typeface="Calibri"/>
              </a:rPr>
              <a:t>&lt;div id="caja1"&gt;Caja 1 - Caja 1 - Caja 1 - Caja 1 - Caja 1 - Caja 1 - Caja 1 - Caja 1 - Caja 1 - Caja 1 - Caja 1 - Caja 1 - Caja 1 - Caja 1 - Caja 1 - Caja 1 - Caja 1 - Caja 1&lt;/div&gt;</a:t>
            </a:r>
            <a:endParaRPr sz="1400">
              <a:solidFill>
                <a:schemeClr val="lt1"/>
              </a:solidFill>
              <a:latin typeface="Calibri"/>
              <a:ea typeface="Calibri"/>
              <a:cs typeface="Calibri"/>
              <a:sym typeface="Calibri"/>
            </a:endParaRPr>
          </a:p>
          <a:p>
            <a:pPr indent="0" lvl="0" marL="4209415" marR="82550" rtl="0" algn="l">
              <a:lnSpc>
                <a:spcPct val="100000"/>
              </a:lnSpc>
              <a:spcBef>
                <a:spcPts val="1680"/>
              </a:spcBef>
              <a:spcAft>
                <a:spcPts val="0"/>
              </a:spcAft>
              <a:buNone/>
            </a:pPr>
            <a:r>
              <a:rPr lang="en-US" sz="1400">
                <a:solidFill>
                  <a:schemeClr val="lt1"/>
                </a:solidFill>
                <a:latin typeface="Calibri"/>
                <a:ea typeface="Calibri"/>
                <a:cs typeface="Calibri"/>
                <a:sym typeface="Calibri"/>
              </a:rPr>
              <a:t>&lt;div id="caja2"&gt;Caja 2 - Caja 2 - Caja 2 - Caja 2 - Caja 2 - Caja 2 - Caja 2 - Caja 2 - Caja 2 - Caja 2 - Caja 2 - Caja 2 - Caja 2 - Caja 2 - Caja 2 - Caja 2 - Caja 2 - Caja 2&lt;/div&gt;</a:t>
            </a:r>
            <a:endParaRPr sz="1400">
              <a:solidFill>
                <a:schemeClr val="lt1"/>
              </a:solidFill>
              <a:latin typeface="Calibri"/>
              <a:ea typeface="Calibri"/>
              <a:cs typeface="Calibri"/>
              <a:sym typeface="Calibri"/>
            </a:endParaRPr>
          </a:p>
          <a:p>
            <a:pPr indent="0" lvl="0" marL="4209415" marR="82550" rtl="0" algn="l">
              <a:lnSpc>
                <a:spcPct val="100400"/>
              </a:lnSpc>
              <a:spcBef>
                <a:spcPts val="1675"/>
              </a:spcBef>
              <a:spcAft>
                <a:spcPts val="0"/>
              </a:spcAft>
              <a:buNone/>
            </a:pPr>
            <a:r>
              <a:rPr lang="en-US" sz="1400">
                <a:solidFill>
                  <a:schemeClr val="lt1"/>
                </a:solidFill>
                <a:latin typeface="Calibri"/>
                <a:ea typeface="Calibri"/>
                <a:cs typeface="Calibri"/>
                <a:sym typeface="Calibri"/>
              </a:rPr>
              <a:t>&lt;div id="caja3"&gt;Caja 3 - Caja 3 - Caja 3 - Caja 3 - Caja 3 - Caja 3 - Caja 3 - Caja 3 - Caja 3 - Caja 3 - Caja 3 - Caja 3 - Caja 3 - Caja 3 - Caja 3 - Caja 3 - Caja 3 - Caja 3&lt;/div&gt;</a:t>
            </a:r>
            <a:endParaRPr sz="1400">
              <a:solidFill>
                <a:schemeClr val="lt1"/>
              </a:solidFill>
              <a:latin typeface="Calibri"/>
              <a:ea typeface="Calibri"/>
              <a:cs typeface="Calibri"/>
              <a:sym typeface="Calibri"/>
            </a:endParaRPr>
          </a:p>
          <a:p>
            <a:pPr indent="0" lvl="0" marL="0" rtl="0" algn="l">
              <a:lnSpc>
                <a:spcPct val="100000"/>
              </a:lnSpc>
              <a:spcBef>
                <a:spcPts val="180"/>
              </a:spcBef>
              <a:spcAft>
                <a:spcPts val="0"/>
              </a:spcAft>
              <a:buNone/>
            </a:pPr>
            <a:r>
              <a:t/>
            </a:r>
            <a:endParaRPr sz="1400">
              <a:solidFill>
                <a:schemeClr val="lt1"/>
              </a:solidFill>
              <a:latin typeface="Calibri"/>
              <a:ea typeface="Calibri"/>
              <a:cs typeface="Calibri"/>
              <a:sym typeface="Calibri"/>
            </a:endParaRPr>
          </a:p>
          <a:p>
            <a:pPr indent="1270" lvl="0" marL="12700" marR="850265" rtl="0" algn="l">
              <a:lnSpc>
                <a:spcPct val="100000"/>
              </a:lnSpc>
              <a:spcBef>
                <a:spcPts val="0"/>
              </a:spcBef>
              <a:spcAft>
                <a:spcPts val="0"/>
              </a:spcAft>
              <a:buNone/>
            </a:pPr>
            <a:r>
              <a:t/>
            </a:r>
            <a:endParaRPr sz="1800">
              <a:solidFill>
                <a:schemeClr val="lt1"/>
              </a:solidFill>
              <a:latin typeface="Calibri"/>
              <a:ea typeface="Calibri"/>
              <a:cs typeface="Calibri"/>
              <a:sym typeface="Calibri"/>
            </a:endParaRPr>
          </a:p>
          <a:p>
            <a:pPr indent="1270" lvl="0" marL="12700" marR="19718" rtl="0" algn="just">
              <a:lnSpc>
                <a:spcPct val="100000"/>
              </a:lnSpc>
              <a:spcBef>
                <a:spcPts val="0"/>
              </a:spcBef>
              <a:spcAft>
                <a:spcPts val="0"/>
              </a:spcAft>
              <a:buNone/>
            </a:pPr>
            <a:r>
              <a:rPr lang="en-US" sz="1800">
                <a:solidFill>
                  <a:schemeClr val="lt1"/>
                </a:solidFill>
                <a:latin typeface="Calibri"/>
                <a:ea typeface="Calibri"/>
                <a:cs typeface="Calibri"/>
                <a:sym typeface="Calibri"/>
              </a:rPr>
              <a:t>La propiedad z-index sólo tiene efecto en los elementos </a:t>
            </a:r>
            <a:r>
              <a:rPr b="1" lang="en-US" sz="1800">
                <a:solidFill>
                  <a:schemeClr val="lt1"/>
                </a:solidFill>
                <a:latin typeface="Calibri"/>
                <a:ea typeface="Calibri"/>
                <a:cs typeface="Calibri"/>
                <a:sym typeface="Calibri"/>
              </a:rPr>
              <a:t>posicionados</a:t>
            </a:r>
            <a:r>
              <a:rPr lang="en-US" sz="1800">
                <a:solidFill>
                  <a:schemeClr val="lt1"/>
                </a:solidFill>
                <a:latin typeface="Calibri"/>
                <a:ea typeface="Calibri"/>
                <a:cs typeface="Calibri"/>
                <a:sym typeface="Calibri"/>
              </a:rPr>
              <a:t>, por lo que es obligatorio que la propiedad z-index vaya acompañada de la propiedad </a:t>
            </a:r>
            <a:r>
              <a:rPr b="1" lang="en-US" sz="1800">
                <a:solidFill>
                  <a:schemeClr val="lt1"/>
                </a:solidFill>
                <a:latin typeface="Calibri"/>
                <a:ea typeface="Calibri"/>
                <a:cs typeface="Calibri"/>
                <a:sym typeface="Calibri"/>
              </a:rPr>
              <a:t>position</a:t>
            </a:r>
            <a:r>
              <a:rPr lang="en-US" sz="1800">
                <a:solidFill>
                  <a:schemeClr val="lt1"/>
                </a:solidFill>
                <a:latin typeface="Calibri"/>
                <a:ea typeface="Calibri"/>
                <a:cs typeface="Calibri"/>
                <a:sym typeface="Calibri"/>
              </a:rPr>
              <a:t>.</a:t>
            </a:r>
            <a:endParaRPr sz="1800">
              <a:solidFill>
                <a:schemeClr val="lt1"/>
              </a:solidFill>
              <a:latin typeface="Calibri"/>
              <a:ea typeface="Calibri"/>
              <a:cs typeface="Calibri"/>
              <a:sym typeface="Calibri"/>
            </a:endParaRPr>
          </a:p>
          <a:p>
            <a:pPr indent="1270" lvl="0" marL="12700" marR="19718" rtl="0" algn="just">
              <a:lnSpc>
                <a:spcPct val="100000"/>
              </a:lnSpc>
              <a:spcBef>
                <a:spcPts val="110"/>
              </a:spcBef>
              <a:spcAft>
                <a:spcPts val="0"/>
              </a:spcAft>
              <a:buNone/>
            </a:pPr>
            <a:r>
              <a:rPr lang="en-US" sz="1800">
                <a:solidFill>
                  <a:schemeClr val="lt1"/>
                </a:solidFill>
                <a:latin typeface="Calibri"/>
                <a:ea typeface="Calibri"/>
                <a:cs typeface="Calibri"/>
                <a:sym typeface="Calibri"/>
              </a:rPr>
              <a:t>Si debes posicionar un elemento pero no quieres moverlo de su posición original ni afectar al resto de elementos de la página, puedes utilizar el posicionamiento relativo (position: relative).</a:t>
            </a:r>
            <a:endParaRPr sz="1800">
              <a:solidFill>
                <a:schemeClr val="lt1"/>
              </a:solidFill>
              <a:latin typeface="Calibri"/>
              <a:ea typeface="Calibri"/>
              <a:cs typeface="Calibri"/>
              <a:sym typeface="Calibri"/>
            </a:endParaRPr>
          </a:p>
          <a:p>
            <a:pPr indent="0" lvl="0" marL="13970" rtl="0" algn="l">
              <a:lnSpc>
                <a:spcPct val="100000"/>
              </a:lnSpc>
              <a:spcBef>
                <a:spcPts val="90"/>
              </a:spcBef>
              <a:spcAft>
                <a:spcPts val="0"/>
              </a:spcAft>
              <a:buNone/>
            </a:pPr>
            <a:r>
              <a:rPr lang="en-US" sz="1800">
                <a:solidFill>
                  <a:schemeClr val="lt1"/>
                </a:solidFill>
                <a:latin typeface="Calibri"/>
                <a:ea typeface="Calibri"/>
                <a:cs typeface="Calibri"/>
                <a:sym typeface="Calibri"/>
              </a:rPr>
              <a:t>Ej</a:t>
            </a:r>
            <a:r>
              <a:rPr lang="en-US" sz="2000">
                <a:solidFill>
                  <a:schemeClr val="lt1"/>
                </a:solidFill>
                <a:latin typeface="Calibri"/>
                <a:ea typeface="Calibri"/>
                <a:cs typeface="Calibri"/>
                <a:sym typeface="Calibri"/>
              </a:rPr>
              <a:t>:</a:t>
            </a:r>
            <a:r>
              <a:rPr lang="en-US" sz="1200" u="sng">
                <a:solidFill>
                  <a:schemeClr val="lt1"/>
                </a:solidFill>
                <a:latin typeface="Calibri"/>
                <a:ea typeface="Calibri"/>
                <a:cs typeface="Calibri"/>
                <a:sym typeface="Calibri"/>
                <a:hlinkClick r:id="rId3">
                  <a:extLst>
                    <a:ext uri="{A12FA001-AC4F-418D-AE19-62706E023703}">
                      <ahyp:hlinkClr val="tx"/>
                    </a:ext>
                  </a:extLst>
                </a:hlinkClick>
              </a:rPr>
              <a:t>https://developer.mozilla.org/es/docs/Web/CSS/CSS_Positioning/entendiendo_z_index/ejemplo_1_del_contexto_de_apilamiento</a:t>
            </a:r>
            <a:endParaRPr sz="1200">
              <a:solidFill>
                <a:schemeClr val="lt1"/>
              </a:solidFill>
              <a:latin typeface="Calibri"/>
              <a:ea typeface="Calibri"/>
              <a:cs typeface="Calibri"/>
              <a:sym typeface="Calibri"/>
            </a:endParaRPr>
          </a:p>
          <a:p>
            <a:pPr indent="0" lvl="0" marL="13970" rtl="0" algn="l">
              <a:lnSpc>
                <a:spcPct val="100000"/>
              </a:lnSpc>
              <a:spcBef>
                <a:spcPts val="150"/>
              </a:spcBef>
              <a:spcAft>
                <a:spcPts val="0"/>
              </a:spcAft>
              <a:buNone/>
            </a:pPr>
            <a:r>
              <a:rPr lang="en-US" sz="1200" u="sng">
                <a:solidFill>
                  <a:schemeClr val="lt1"/>
                </a:solidFill>
                <a:latin typeface="Calibri"/>
                <a:ea typeface="Calibri"/>
                <a:cs typeface="Calibri"/>
                <a:sym typeface="Calibri"/>
                <a:hlinkClick r:id="rId4">
                  <a:extLst>
                    <a:ext uri="{A12FA001-AC4F-418D-AE19-62706E023703}">
                      <ahyp:hlinkClr val="tx"/>
                    </a:ext>
                  </a:extLst>
                </a:hlinkClick>
              </a:rPr>
              <a:t>http://www.sidar.org/recur/desdi/mcss/manual/ejemplos/zindex.html</a:t>
            </a:r>
            <a:endParaRPr sz="1200">
              <a:solidFill>
                <a:schemeClr val="lt1"/>
              </a:solidFill>
              <a:latin typeface="Calibri"/>
              <a:ea typeface="Calibri"/>
              <a:cs typeface="Calibri"/>
              <a:sym typeface="Calibri"/>
            </a:endParaRPr>
          </a:p>
        </p:txBody>
      </p:sp>
      <p:sp>
        <p:nvSpPr>
          <p:cNvPr id="505" name="Google Shape;505;p69"/>
          <p:cNvSpPr txBox="1"/>
          <p:nvPr>
            <p:ph type="title"/>
          </p:nvPr>
        </p:nvSpPr>
        <p:spPr>
          <a:xfrm>
            <a:off x="1297500" y="525000"/>
            <a:ext cx="7038900" cy="84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sz="4000"/>
              <a:t>Ejemplo</a:t>
            </a:r>
            <a:endParaRPr sz="4000"/>
          </a:p>
        </p:txBody>
      </p:sp>
      <p:pic>
        <p:nvPicPr>
          <p:cNvPr id="506" name="Google Shape;506;p69"/>
          <p:cNvPicPr preferRelativeResize="0"/>
          <p:nvPr/>
        </p:nvPicPr>
        <p:blipFill>
          <a:blip r:embed="rId5">
            <a:alphaModFix/>
          </a:blip>
          <a:stretch>
            <a:fillRect/>
          </a:stretch>
        </p:blipFill>
        <p:spPr>
          <a:xfrm>
            <a:off x="777318" y="1469700"/>
            <a:ext cx="3487882" cy="27146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