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Montserrat"/>
      <p:regular r:id="rId32"/>
      <p:bold r:id="rId33"/>
      <p:italic r:id="rId34"/>
      <p:boldItalic r:id="rId35"/>
    </p:embeddedFont>
    <p:embeddedFont>
      <p:font typeface="Lat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Montserrat-bold.fntdata"/><Relationship Id="rId10" Type="http://schemas.openxmlformats.org/officeDocument/2006/relationships/slide" Target="slides/slide5.xml"/><Relationship Id="rId32" Type="http://schemas.openxmlformats.org/officeDocument/2006/relationships/font" Target="fonts/Montserrat-regular.fntdata"/><Relationship Id="rId13" Type="http://schemas.openxmlformats.org/officeDocument/2006/relationships/slide" Target="slides/slide8.xml"/><Relationship Id="rId35" Type="http://schemas.openxmlformats.org/officeDocument/2006/relationships/font" Target="fonts/Montserrat-boldItalic.fntdata"/><Relationship Id="rId12" Type="http://schemas.openxmlformats.org/officeDocument/2006/relationships/slide" Target="slides/slide7.xml"/><Relationship Id="rId34" Type="http://schemas.openxmlformats.org/officeDocument/2006/relationships/font" Target="fonts/Montserrat-italic.fntdata"/><Relationship Id="rId15" Type="http://schemas.openxmlformats.org/officeDocument/2006/relationships/slide" Target="slides/slide10.xml"/><Relationship Id="rId37" Type="http://schemas.openxmlformats.org/officeDocument/2006/relationships/font" Target="fonts/Lato-bold.fntdata"/><Relationship Id="rId14" Type="http://schemas.openxmlformats.org/officeDocument/2006/relationships/slide" Target="slides/slide9.xml"/><Relationship Id="rId36" Type="http://schemas.openxmlformats.org/officeDocument/2006/relationships/font" Target="fonts/Lato-regular.fntdata"/><Relationship Id="rId17" Type="http://schemas.openxmlformats.org/officeDocument/2006/relationships/slide" Target="slides/slide12.xml"/><Relationship Id="rId39" Type="http://schemas.openxmlformats.org/officeDocument/2006/relationships/font" Target="fonts/Lato-boldItalic.fntdata"/><Relationship Id="rId16" Type="http://schemas.openxmlformats.org/officeDocument/2006/relationships/slide" Target="slides/slide11.xml"/><Relationship Id="rId38" Type="http://schemas.openxmlformats.org/officeDocument/2006/relationships/font" Target="fonts/La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81bd9d7f40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81bd9d7f40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81bd9d7f40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81bd9d7f40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81bd9d7f40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81bd9d7f4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81bd9d7f40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81bd9d7f40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81bd9d7f4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81bd9d7f4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81bd9d7f40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81bd9d7f40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81c0735f7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81c0735f7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81c0735f72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81c0735f72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81c0735f7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81c0735f7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81c0735f7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81c0735f7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81c0735f7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81c0735f7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81c0735f7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81c0735f7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81c0735f7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81c0735f7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81c0735f72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81c0735f72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81c0735f72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81c0735f72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81c0735f72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81c0735f72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81c0735f72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81c0735f72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81c0735f72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81c0735f7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81c0735f72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81c0735f72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81c0735f72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81c0735f72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81c0735f72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81c0735f72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81c0735f72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81c0735f72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81c0735f72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81c0735f72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82251e4fe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82251e4fe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82251e4fe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82251e4fe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developer.mozilla.org/en-US/docs/Web/CSS/transform-function/skew"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NUEVAS PROPIEDADES</a:t>
            </a:r>
            <a:endParaRPr/>
          </a:p>
          <a:p>
            <a:pPr indent="0" lvl="0" marL="0" rtl="0" algn="l">
              <a:spcBef>
                <a:spcPts val="0"/>
              </a:spcBef>
              <a:spcAft>
                <a:spcPts val="0"/>
              </a:spcAft>
              <a:buNone/>
            </a:pPr>
            <a:r>
              <a:rPr lang="es"/>
              <a:t>CSS3</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UD 02 - HOJAS DE ESTILOS (III)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ÍNDICE</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93700" lvl="0" marL="457200" rtl="0" algn="l">
              <a:spcBef>
                <a:spcPts val="0"/>
              </a:spcBef>
              <a:spcAft>
                <a:spcPts val="0"/>
              </a:spcAft>
              <a:buSzPts val="2600"/>
              <a:buChar char="●"/>
            </a:pPr>
            <a:r>
              <a:rPr lang="es" sz="2600"/>
              <a:t>SOMBRAS DE TEXTO</a:t>
            </a:r>
            <a:endParaRPr sz="2600"/>
          </a:p>
          <a:p>
            <a:pPr indent="-393700" lvl="0" marL="457200" rtl="0" algn="l">
              <a:spcBef>
                <a:spcPts val="0"/>
              </a:spcBef>
              <a:spcAft>
                <a:spcPts val="0"/>
              </a:spcAft>
              <a:buSzPts val="2600"/>
              <a:buChar char="●"/>
            </a:pPr>
            <a:r>
              <a:rPr lang="es" sz="2600"/>
              <a:t>TRANSFORMACIONES</a:t>
            </a:r>
            <a:endParaRPr sz="2600"/>
          </a:p>
          <a:p>
            <a:pPr indent="-393700" lvl="0" marL="457200" rtl="0" algn="l">
              <a:spcBef>
                <a:spcPts val="0"/>
              </a:spcBef>
              <a:spcAft>
                <a:spcPts val="0"/>
              </a:spcAft>
              <a:buSzPts val="2600"/>
              <a:buChar char="●"/>
            </a:pPr>
            <a:r>
              <a:rPr lang="es" sz="2600"/>
              <a:t>FONDOS MÚLTIPLES</a:t>
            </a:r>
            <a:endParaRPr sz="2600"/>
          </a:p>
          <a:p>
            <a:pPr indent="-393700" lvl="0" marL="457200" rtl="0" algn="l">
              <a:spcBef>
                <a:spcPts val="0"/>
              </a:spcBef>
              <a:spcAft>
                <a:spcPts val="0"/>
              </a:spcAft>
              <a:buSzPts val="2600"/>
              <a:buChar char="●"/>
            </a:pPr>
            <a:r>
              <a:rPr lang="es" sz="2600"/>
              <a:t>COLUMNAS MÚLTIPLES</a:t>
            </a:r>
            <a:endParaRPr sz="2600"/>
          </a:p>
          <a:p>
            <a:pPr indent="-393700" lvl="0" marL="457200" rtl="0" algn="l">
              <a:spcBef>
                <a:spcPts val="0"/>
              </a:spcBef>
              <a:spcAft>
                <a:spcPts val="0"/>
              </a:spcAft>
              <a:buSzPts val="2600"/>
              <a:buChar char="●"/>
            </a:pPr>
            <a:r>
              <a:rPr lang="es" sz="2600"/>
              <a:t>OPACIDAD</a:t>
            </a:r>
            <a:endParaRPr sz="2600"/>
          </a:p>
          <a:p>
            <a:pPr indent="-393700" lvl="0" marL="457200" rtl="0" algn="l">
              <a:spcBef>
                <a:spcPts val="0"/>
              </a:spcBef>
              <a:spcAft>
                <a:spcPts val="0"/>
              </a:spcAft>
              <a:buSzPts val="2600"/>
              <a:buChar char="●"/>
            </a:pPr>
            <a:r>
              <a:rPr lang="es" sz="2600"/>
              <a:t>TRANSPARENCIAS. RGBA()</a:t>
            </a:r>
            <a:endParaRPr sz="2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SOMBRAS DE TEXTO</a:t>
            </a:r>
            <a:endParaRPr/>
          </a:p>
        </p:txBody>
      </p:sp>
      <p:sp>
        <p:nvSpPr>
          <p:cNvPr id="147" name="Google Shape;147;p15"/>
          <p:cNvSpPr txBox="1"/>
          <p:nvPr>
            <p:ph idx="1" type="body"/>
          </p:nvPr>
        </p:nvSpPr>
        <p:spPr>
          <a:xfrm>
            <a:off x="1297450" y="996800"/>
            <a:ext cx="7038900" cy="4027200"/>
          </a:xfrm>
          <a:prstGeom prst="rect">
            <a:avLst/>
          </a:prstGeom>
        </p:spPr>
        <p:txBody>
          <a:bodyPr anchorCtr="0" anchor="t" bIns="90000" lIns="91425" spcFirstLastPara="1" rIns="91425" wrap="square" tIns="126000">
            <a:normAutofit/>
          </a:bodyPr>
          <a:lstStyle/>
          <a:p>
            <a:pPr indent="0" lvl="0" marL="0" rtl="0" algn="l">
              <a:spcBef>
                <a:spcPts val="0"/>
              </a:spcBef>
              <a:spcAft>
                <a:spcPts val="0"/>
              </a:spcAft>
              <a:buNone/>
            </a:pPr>
            <a:r>
              <a:rPr lang="es"/>
              <a:t>La propiedad </a:t>
            </a:r>
            <a:r>
              <a:rPr b="1" lang="es" u="sng"/>
              <a:t>text-shadow </a:t>
            </a:r>
            <a:r>
              <a:rPr lang="es"/>
              <a:t>nos permite definir una sombra a un texto, la sintaxis más común es:</a:t>
            </a:r>
            <a:endParaRPr/>
          </a:p>
          <a:p>
            <a:pPr indent="0" lvl="0" marL="457200" rtl="0" algn="l">
              <a:spcBef>
                <a:spcPts val="1200"/>
              </a:spcBef>
              <a:spcAft>
                <a:spcPts val="0"/>
              </a:spcAft>
              <a:buNone/>
            </a:pPr>
            <a:r>
              <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lang="es"/>
              <a:t>La propiedad tiene 4 valores que son los siguientes:</a:t>
            </a:r>
            <a:endParaRPr/>
          </a:p>
          <a:p>
            <a:pPr indent="-311150" lvl="0" marL="457200" rtl="0" algn="l">
              <a:spcBef>
                <a:spcPts val="1200"/>
              </a:spcBef>
              <a:spcAft>
                <a:spcPts val="0"/>
              </a:spcAft>
              <a:buSzPts val="1300"/>
              <a:buAutoNum type="arabicPeriod"/>
            </a:pPr>
            <a:r>
              <a:rPr lang="es"/>
              <a:t> El desplazamiento horizontal(eje X) de la sombra, un desplazamiento negativo pondrá la sombra a la izquierda. </a:t>
            </a:r>
            <a:endParaRPr/>
          </a:p>
          <a:p>
            <a:pPr indent="-311150" lvl="0" marL="457200" rtl="0" algn="l">
              <a:spcBef>
                <a:spcPts val="0"/>
              </a:spcBef>
              <a:spcAft>
                <a:spcPts val="0"/>
              </a:spcAft>
              <a:buSzPts val="1300"/>
              <a:buAutoNum type="arabicPeriod"/>
            </a:pPr>
            <a:r>
              <a:rPr lang="es"/>
              <a:t>El desplazamiento vertical (eje Y), un valor negativo dispone la sombra en la parte superior del texto, uno positivo la sombra estará por debajo del texto.</a:t>
            </a:r>
            <a:endParaRPr/>
          </a:p>
          <a:p>
            <a:pPr indent="-311150" lvl="0" marL="457200" rtl="0" algn="l">
              <a:spcBef>
                <a:spcPts val="0"/>
              </a:spcBef>
              <a:spcAft>
                <a:spcPts val="0"/>
              </a:spcAft>
              <a:buSzPts val="1300"/>
              <a:buAutoNum type="arabicPeriod"/>
            </a:pPr>
            <a:r>
              <a:rPr lang="es"/>
              <a:t>El tercer parámetro es el radio de desenfoque, si se pone a 0 la sombra será fuerte y con color liso, cuanto más grande el número, más borrosa será. </a:t>
            </a:r>
            <a:endParaRPr/>
          </a:p>
          <a:p>
            <a:pPr indent="-311150" lvl="0" marL="457200" rtl="0" algn="l">
              <a:spcBef>
                <a:spcPts val="0"/>
              </a:spcBef>
              <a:spcAft>
                <a:spcPts val="0"/>
              </a:spcAft>
              <a:buSzPts val="1300"/>
              <a:buAutoNum type="arabicPeriod"/>
            </a:pPr>
            <a:r>
              <a:rPr lang="es"/>
              <a:t>El último parámetro es el color de la sombra.</a:t>
            </a:r>
            <a:endParaRPr/>
          </a:p>
        </p:txBody>
      </p:sp>
      <p:pic>
        <p:nvPicPr>
          <p:cNvPr id="148" name="Google Shape;148;p15"/>
          <p:cNvPicPr preferRelativeResize="0"/>
          <p:nvPr/>
        </p:nvPicPr>
        <p:blipFill>
          <a:blip r:embed="rId3">
            <a:alphaModFix/>
          </a:blip>
          <a:stretch>
            <a:fillRect/>
          </a:stretch>
        </p:blipFill>
        <p:spPr>
          <a:xfrm>
            <a:off x="1642438" y="1568250"/>
            <a:ext cx="5514975" cy="876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SOMBRAS DE TEXTO</a:t>
            </a:r>
            <a:endParaRPr/>
          </a:p>
        </p:txBody>
      </p:sp>
      <p:sp>
        <p:nvSpPr>
          <p:cNvPr id="154" name="Google Shape;154;p16"/>
          <p:cNvSpPr txBox="1"/>
          <p:nvPr>
            <p:ph idx="1" type="body"/>
          </p:nvPr>
        </p:nvSpPr>
        <p:spPr>
          <a:xfrm>
            <a:off x="1297500" y="1307850"/>
            <a:ext cx="7038900" cy="3716400"/>
          </a:xfrm>
          <a:prstGeom prst="rect">
            <a:avLst/>
          </a:prstGeom>
        </p:spPr>
        <p:txBody>
          <a:bodyPr anchorCtr="0" anchor="t" bIns="90000" lIns="91425" spcFirstLastPara="1" rIns="91425" wrap="square" tIns="126000">
            <a:normAutofit/>
          </a:bodyPr>
          <a:lstStyle/>
          <a:p>
            <a:pPr indent="0" lvl="0" marL="0" rtl="0" algn="l">
              <a:spcBef>
                <a:spcPts val="0"/>
              </a:spcBef>
              <a:spcAft>
                <a:spcPts val="0"/>
              </a:spcAft>
              <a:buNone/>
            </a:pPr>
            <a:r>
              <a:rPr lang="es"/>
              <a:t>Ejemplo:</a:t>
            </a:r>
            <a:endParaRPr/>
          </a:p>
          <a:p>
            <a:pPr indent="0" lvl="0" marL="0" rtl="0" algn="l">
              <a:spcBef>
                <a:spcPts val="1200"/>
              </a:spcBef>
              <a:spcAft>
                <a:spcPts val="1200"/>
              </a:spcAft>
              <a:buNone/>
            </a:pPr>
            <a:r>
              <a:rPr lang="es"/>
              <a:t>Q</a:t>
            </a:r>
            <a:r>
              <a:rPr lang="es"/>
              <a:t>ueremos que un texto tenga una sombra en la parte inferior a derecha con un pequeño desenfoque de color gris luego debemos implementar el siguiente código:</a:t>
            </a:r>
            <a:endParaRPr/>
          </a:p>
        </p:txBody>
      </p:sp>
      <p:pic>
        <p:nvPicPr>
          <p:cNvPr id="155" name="Google Shape;155;p16"/>
          <p:cNvPicPr preferRelativeResize="0"/>
          <p:nvPr/>
        </p:nvPicPr>
        <p:blipFill>
          <a:blip r:embed="rId3">
            <a:alphaModFix/>
          </a:blip>
          <a:stretch>
            <a:fillRect/>
          </a:stretch>
        </p:blipFill>
        <p:spPr>
          <a:xfrm>
            <a:off x="1738313" y="2903300"/>
            <a:ext cx="5667375" cy="1352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SOMBRAS DE TEXTO</a:t>
            </a:r>
            <a:endParaRPr/>
          </a:p>
        </p:txBody>
      </p:sp>
      <p:sp>
        <p:nvSpPr>
          <p:cNvPr id="161" name="Google Shape;161;p17"/>
          <p:cNvSpPr txBox="1"/>
          <p:nvPr>
            <p:ph idx="1" type="body"/>
          </p:nvPr>
        </p:nvSpPr>
        <p:spPr>
          <a:xfrm>
            <a:off x="1297500" y="1307850"/>
            <a:ext cx="7038900" cy="3716400"/>
          </a:xfrm>
          <a:prstGeom prst="rect">
            <a:avLst/>
          </a:prstGeom>
        </p:spPr>
        <p:txBody>
          <a:bodyPr anchorCtr="0" anchor="t" bIns="90000" lIns="91425" spcFirstLastPara="1" rIns="91425" wrap="square" tIns="126000">
            <a:normAutofit/>
          </a:bodyPr>
          <a:lstStyle/>
          <a:p>
            <a:pPr indent="0" lvl="0" marL="0" rtl="0" algn="l">
              <a:spcBef>
                <a:spcPts val="0"/>
              </a:spcBef>
              <a:spcAft>
                <a:spcPts val="0"/>
              </a:spcAft>
              <a:buNone/>
            </a:pPr>
            <a:r>
              <a:rPr lang="es"/>
              <a:t>Ejemplo:</a:t>
            </a:r>
            <a:endParaRPr/>
          </a:p>
          <a:p>
            <a:pPr indent="0" lvl="0" marL="0" rtl="0" algn="l">
              <a:spcBef>
                <a:spcPts val="1200"/>
              </a:spcBef>
              <a:spcAft>
                <a:spcPts val="1200"/>
              </a:spcAft>
              <a:buNone/>
            </a:pPr>
            <a:r>
              <a:rPr lang="es"/>
              <a:t>Q</a:t>
            </a:r>
            <a:r>
              <a:rPr lang="es"/>
              <a:t>ueremos que la sombra se disponga en la parte superior izquierda de cada letra luego debemos definir los siguientes valores: </a:t>
            </a:r>
            <a:endParaRPr/>
          </a:p>
        </p:txBody>
      </p:sp>
      <p:pic>
        <p:nvPicPr>
          <p:cNvPr id="162" name="Google Shape;162;p17"/>
          <p:cNvPicPr preferRelativeResize="0"/>
          <p:nvPr/>
        </p:nvPicPr>
        <p:blipFill>
          <a:blip r:embed="rId3">
            <a:alphaModFix/>
          </a:blip>
          <a:stretch>
            <a:fillRect/>
          </a:stretch>
        </p:blipFill>
        <p:spPr>
          <a:xfrm>
            <a:off x="1762125" y="2934463"/>
            <a:ext cx="5619750" cy="1304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SOMBRAS DE TEXTO</a:t>
            </a:r>
            <a:endParaRPr/>
          </a:p>
        </p:txBody>
      </p:sp>
      <p:sp>
        <p:nvSpPr>
          <p:cNvPr id="168" name="Google Shape;168;p18"/>
          <p:cNvSpPr txBox="1"/>
          <p:nvPr>
            <p:ph idx="1" type="body"/>
          </p:nvPr>
        </p:nvSpPr>
        <p:spPr>
          <a:xfrm>
            <a:off x="1297500" y="1307850"/>
            <a:ext cx="7038900" cy="3716400"/>
          </a:xfrm>
          <a:prstGeom prst="rect">
            <a:avLst/>
          </a:prstGeom>
        </p:spPr>
        <p:txBody>
          <a:bodyPr anchorCtr="0" anchor="t" bIns="90000" lIns="91425" spcFirstLastPara="1" rIns="91425" wrap="square" tIns="126000">
            <a:normAutofit/>
          </a:bodyPr>
          <a:lstStyle/>
          <a:p>
            <a:pPr indent="0" lvl="0" marL="0" rtl="0" algn="l">
              <a:spcBef>
                <a:spcPts val="0"/>
              </a:spcBef>
              <a:spcAft>
                <a:spcPts val="1200"/>
              </a:spcAft>
              <a:buNone/>
            </a:pPr>
            <a:r>
              <a:rPr lang="es"/>
              <a:t>Otra sintaxis de text-shadow es aplicar varias sombras al texto, por ejemplo:</a:t>
            </a:r>
            <a:endParaRPr/>
          </a:p>
        </p:txBody>
      </p:sp>
      <p:pic>
        <p:nvPicPr>
          <p:cNvPr id="169" name="Google Shape;169;p18"/>
          <p:cNvPicPr preferRelativeResize="0"/>
          <p:nvPr/>
        </p:nvPicPr>
        <p:blipFill>
          <a:blip r:embed="rId3">
            <a:alphaModFix/>
          </a:blip>
          <a:stretch>
            <a:fillRect/>
          </a:stretch>
        </p:blipFill>
        <p:spPr>
          <a:xfrm>
            <a:off x="1743075" y="2446900"/>
            <a:ext cx="5657850" cy="1743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TRANSFORMACIONES</a:t>
            </a:r>
            <a:endParaRPr/>
          </a:p>
        </p:txBody>
      </p:sp>
      <p:sp>
        <p:nvSpPr>
          <p:cNvPr id="175" name="Google Shape;175;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https://lenguajecss.com/css/animaciones/transformaciones/ </a:t>
            </a:r>
            <a:endParaRPr/>
          </a:p>
          <a:p>
            <a:pPr indent="0" lvl="0" marL="0" rtl="0" algn="l">
              <a:spcBef>
                <a:spcPts val="1200"/>
              </a:spcBef>
              <a:spcAft>
                <a:spcPts val="0"/>
              </a:spcAft>
              <a:buNone/>
            </a:pPr>
            <a:r>
              <a:rPr lang="es"/>
              <a:t>Las transformaciones es uno de los elementos más interesantes que se introducen en CSS3 para convertir el lenguaje de hojas de estilo en un sistema capaz de realizar todo tipo de efectos visuales, incluido 2D y 3D. </a:t>
            </a:r>
            <a:endParaRPr/>
          </a:p>
          <a:p>
            <a:pPr indent="0" lvl="0" marL="0" rtl="0" algn="l">
              <a:spcBef>
                <a:spcPts val="1200"/>
              </a:spcBef>
              <a:spcAft>
                <a:spcPts val="0"/>
              </a:spcAft>
              <a:buNone/>
            </a:pPr>
            <a:r>
              <a:rPr lang="es"/>
              <a:t>Tengamos en cuenta que la propiedad de transformación 2D definitiva será:</a:t>
            </a:r>
            <a:endParaRPr/>
          </a:p>
          <a:p>
            <a:pPr indent="457200" lvl="0" marL="0" rtl="0" algn="l">
              <a:spcBef>
                <a:spcPts val="1200"/>
              </a:spcBef>
              <a:spcAft>
                <a:spcPts val="0"/>
              </a:spcAft>
              <a:buNone/>
            </a:pPr>
            <a:r>
              <a:rPr lang="es">
                <a:solidFill>
                  <a:schemeClr val="lt2"/>
                </a:solidFill>
              </a:rPr>
              <a:t>Elemento { </a:t>
            </a:r>
            <a:endParaRPr>
              <a:solidFill>
                <a:schemeClr val="lt2"/>
              </a:solidFill>
            </a:endParaRPr>
          </a:p>
          <a:p>
            <a:pPr indent="457200" lvl="0" marL="457200" rtl="0" algn="l">
              <a:spcBef>
                <a:spcPts val="1200"/>
              </a:spcBef>
              <a:spcAft>
                <a:spcPts val="0"/>
              </a:spcAft>
              <a:buNone/>
            </a:pPr>
            <a:r>
              <a:rPr b="1" lang="es">
                <a:solidFill>
                  <a:schemeClr val="lt2"/>
                </a:solidFill>
              </a:rPr>
              <a:t>transform</a:t>
            </a:r>
            <a:r>
              <a:rPr lang="es">
                <a:solidFill>
                  <a:schemeClr val="lt2"/>
                </a:solidFill>
              </a:rPr>
              <a:t>: </a:t>
            </a:r>
            <a:r>
              <a:rPr i="1" lang="es">
                <a:solidFill>
                  <a:schemeClr val="lt2"/>
                </a:solidFill>
              </a:rPr>
              <a:t>función de transformación</a:t>
            </a:r>
            <a:r>
              <a:rPr lang="es">
                <a:solidFill>
                  <a:schemeClr val="lt2"/>
                </a:solidFill>
              </a:rPr>
              <a:t>(</a:t>
            </a:r>
            <a:r>
              <a:rPr i="1" lang="es">
                <a:solidFill>
                  <a:schemeClr val="lt2"/>
                </a:solidFill>
              </a:rPr>
              <a:t>valor</a:t>
            </a:r>
            <a:r>
              <a:rPr lang="es">
                <a:solidFill>
                  <a:schemeClr val="lt2"/>
                </a:solidFill>
              </a:rPr>
              <a:t>(</a:t>
            </a:r>
            <a:r>
              <a:rPr i="1" lang="es">
                <a:solidFill>
                  <a:schemeClr val="lt2"/>
                </a:solidFill>
              </a:rPr>
              <a:t>es</a:t>
            </a:r>
            <a:r>
              <a:rPr lang="es">
                <a:solidFill>
                  <a:schemeClr val="lt2"/>
                </a:solidFill>
              </a:rPr>
              <a:t>)); </a:t>
            </a:r>
            <a:endParaRPr>
              <a:solidFill>
                <a:schemeClr val="lt2"/>
              </a:solidFill>
            </a:endParaRPr>
          </a:p>
          <a:p>
            <a:pPr indent="0" lvl="0" marL="457200" rtl="0" algn="l">
              <a:spcBef>
                <a:spcPts val="1200"/>
              </a:spcBef>
              <a:spcAft>
                <a:spcPts val="1200"/>
              </a:spcAft>
              <a:buNone/>
            </a:pPr>
            <a:r>
              <a:rPr lang="es">
                <a:solidFill>
                  <a:schemeClr val="lt2"/>
                </a:solidFill>
              </a:rPr>
              <a:t>}</a:t>
            </a:r>
            <a:endParaRPr>
              <a:solidFill>
                <a:schemeClr val="lt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TRANSFORMACIONES</a:t>
            </a:r>
            <a:endParaRPr/>
          </a:p>
        </p:txBody>
      </p:sp>
      <p:sp>
        <p:nvSpPr>
          <p:cNvPr id="181" name="Google Shape;181;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Estas son las transformaciones que podremos realizar:</a:t>
            </a:r>
            <a:endParaRPr/>
          </a:p>
          <a:p>
            <a:pPr indent="0" lvl="0" marL="0" rtl="0" algn="l">
              <a:spcBef>
                <a:spcPts val="1200"/>
              </a:spcBef>
              <a:spcAft>
                <a:spcPts val="1200"/>
              </a:spcAft>
              <a:buNone/>
            </a:pPr>
            <a:r>
              <a:t/>
            </a:r>
            <a:endParaRPr/>
          </a:p>
        </p:txBody>
      </p:sp>
      <p:pic>
        <p:nvPicPr>
          <p:cNvPr id="182" name="Google Shape;182;p20"/>
          <p:cNvPicPr preferRelativeResize="0"/>
          <p:nvPr/>
        </p:nvPicPr>
        <p:blipFill>
          <a:blip r:embed="rId3">
            <a:alphaModFix/>
          </a:blip>
          <a:stretch>
            <a:fillRect/>
          </a:stretch>
        </p:blipFill>
        <p:spPr>
          <a:xfrm>
            <a:off x="1297500" y="2409050"/>
            <a:ext cx="6627950" cy="1886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TRANSFORMACIONES: TRANSLATE</a:t>
            </a:r>
            <a:endParaRPr/>
          </a:p>
        </p:txBody>
      </p:sp>
      <p:sp>
        <p:nvSpPr>
          <p:cNvPr id="188" name="Google Shape;188;p21"/>
          <p:cNvSpPr txBox="1"/>
          <p:nvPr>
            <p:ph idx="1" type="body"/>
          </p:nvPr>
        </p:nvSpPr>
        <p:spPr>
          <a:xfrm>
            <a:off x="1297500" y="1457825"/>
            <a:ext cx="7038900" cy="302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400">
                <a:solidFill>
                  <a:schemeClr val="lt2"/>
                </a:solidFill>
              </a:rPr>
              <a:t>translate(&lt;translation-value&gt;[, </a:t>
            </a:r>
            <a:r>
              <a:rPr lang="es" sz="1400">
                <a:solidFill>
                  <a:schemeClr val="lt2"/>
                </a:solidFill>
              </a:rPr>
              <a:t>&lt;translation-value&gt;</a:t>
            </a:r>
            <a:r>
              <a:rPr lang="es" sz="1400">
                <a:solidFill>
                  <a:schemeClr val="lt2"/>
                </a:solidFill>
              </a:rPr>
              <a:t> ])</a:t>
            </a:r>
            <a:endParaRPr sz="1400">
              <a:solidFill>
                <a:schemeClr val="lt2"/>
              </a:solidFill>
            </a:endParaRPr>
          </a:p>
          <a:p>
            <a:pPr indent="0" lvl="0" marL="0" rtl="0" algn="l">
              <a:spcBef>
                <a:spcPts val="1200"/>
              </a:spcBef>
              <a:spcAft>
                <a:spcPts val="0"/>
              </a:spcAft>
              <a:buNone/>
            </a:pPr>
            <a:r>
              <a:rPr lang="es" sz="1400"/>
              <a:t>Aplica una traslación 2D especificada por el vector [tx, ty]. Si no se indica el valor ty, su valor por defecto es 0. </a:t>
            </a:r>
            <a:endParaRPr sz="1400"/>
          </a:p>
          <a:p>
            <a:pPr indent="-317500" lvl="0" marL="457200" rtl="0" algn="l">
              <a:spcBef>
                <a:spcPts val="1200"/>
              </a:spcBef>
              <a:spcAft>
                <a:spcPts val="0"/>
              </a:spcAft>
              <a:buSzPts val="1400"/>
              <a:buChar char="●"/>
            </a:pPr>
            <a:r>
              <a:rPr lang="es" sz="1400"/>
              <a:t>TranslateX(): aplica una traslación 2D en el eje x. </a:t>
            </a:r>
            <a:endParaRPr sz="1400"/>
          </a:p>
          <a:p>
            <a:pPr indent="-317500" lvl="0" marL="457200" rtl="0" algn="l">
              <a:spcBef>
                <a:spcPts val="0"/>
              </a:spcBef>
              <a:spcAft>
                <a:spcPts val="0"/>
              </a:spcAft>
              <a:buSzPts val="1400"/>
              <a:buChar char="●"/>
            </a:pPr>
            <a:r>
              <a:rPr lang="es" sz="1400"/>
              <a:t>TranslateY(): aplica una traslación 2D en el eje y.</a:t>
            </a:r>
            <a:endParaRPr sz="1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TRANSFORMACIONES: SCALE</a:t>
            </a:r>
            <a:endParaRPr/>
          </a:p>
        </p:txBody>
      </p:sp>
      <p:sp>
        <p:nvSpPr>
          <p:cNvPr id="194" name="Google Shape;194;p22"/>
          <p:cNvSpPr txBox="1"/>
          <p:nvPr>
            <p:ph idx="1" type="body"/>
          </p:nvPr>
        </p:nvSpPr>
        <p:spPr>
          <a:xfrm>
            <a:off x="1297500" y="1457825"/>
            <a:ext cx="7038900" cy="302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a:t>
            </a:r>
            <a:r>
              <a:rPr lang="es"/>
              <a:t>sta función permite agrandar o reducir el tamaño del elemento. La primera sintaxis que podemos utilizar es la siguiente: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s"/>
              <a:t>El primer parámetro indica la escala para </a:t>
            </a:r>
            <a:r>
              <a:rPr lang="es">
                <a:solidFill>
                  <a:schemeClr val="lt2"/>
                </a:solidFill>
              </a:rPr>
              <a:t>x</a:t>
            </a:r>
            <a:r>
              <a:rPr lang="es"/>
              <a:t> y el segundo parámetro es para la escala en </a:t>
            </a:r>
            <a:r>
              <a:rPr lang="es">
                <a:solidFill>
                  <a:schemeClr val="lt2"/>
                </a:solidFill>
              </a:rPr>
              <a:t>y</a:t>
            </a:r>
            <a:r>
              <a:rPr lang="es"/>
              <a:t>. </a:t>
            </a:r>
            <a:endParaRPr/>
          </a:p>
          <a:p>
            <a:pPr indent="0" lvl="0" marL="0" rtl="0" algn="l">
              <a:spcBef>
                <a:spcPts val="1200"/>
              </a:spcBef>
              <a:spcAft>
                <a:spcPts val="1200"/>
              </a:spcAft>
              <a:buNone/>
            </a:pPr>
            <a:r>
              <a:rPr lang="es"/>
              <a:t>C</a:t>
            </a:r>
            <a:r>
              <a:rPr lang="es"/>
              <a:t>on el valor 1 el elemento queda como está, con un valor mayor crece y con un valor menor decrece. </a:t>
            </a:r>
            <a:endParaRPr/>
          </a:p>
        </p:txBody>
      </p:sp>
      <p:pic>
        <p:nvPicPr>
          <p:cNvPr id="195" name="Google Shape;195;p22"/>
          <p:cNvPicPr preferRelativeResize="0"/>
          <p:nvPr/>
        </p:nvPicPr>
        <p:blipFill>
          <a:blip r:embed="rId3">
            <a:alphaModFix/>
          </a:blip>
          <a:stretch>
            <a:fillRect/>
          </a:stretch>
        </p:blipFill>
        <p:spPr>
          <a:xfrm>
            <a:off x="1546075" y="2288075"/>
            <a:ext cx="5604224" cy="649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TRANSFORMACIONES: SCALE</a:t>
            </a:r>
            <a:endParaRPr/>
          </a:p>
        </p:txBody>
      </p:sp>
      <p:sp>
        <p:nvSpPr>
          <p:cNvPr id="201" name="Google Shape;201;p23"/>
          <p:cNvSpPr txBox="1"/>
          <p:nvPr>
            <p:ph idx="1" type="body"/>
          </p:nvPr>
        </p:nvSpPr>
        <p:spPr>
          <a:xfrm>
            <a:off x="1297500" y="1457825"/>
            <a:ext cx="7038900" cy="302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400"/>
              <a:t>Por ejemplo si queremos que sea del doble de ancho y la mitad de altura luego será:</a:t>
            </a:r>
            <a:endParaRPr sz="1400"/>
          </a:p>
          <a:p>
            <a:pPr indent="0" lvl="0" marL="0" rtl="0" algn="l">
              <a:spcBef>
                <a:spcPts val="1200"/>
              </a:spcBef>
              <a:spcAft>
                <a:spcPts val="0"/>
              </a:spcAft>
              <a:buNone/>
            </a:pPr>
            <a:r>
              <a:t/>
            </a:r>
            <a:endParaRPr sz="1400"/>
          </a:p>
          <a:p>
            <a:pPr indent="0" lvl="0" marL="0" rtl="0" algn="l">
              <a:spcBef>
                <a:spcPts val="1200"/>
              </a:spcBef>
              <a:spcAft>
                <a:spcPts val="0"/>
              </a:spcAft>
              <a:buNone/>
            </a:pPr>
            <a:r>
              <a:t/>
            </a:r>
            <a:endParaRPr sz="1400"/>
          </a:p>
          <a:p>
            <a:pPr indent="0" lvl="0" marL="0" rtl="0" algn="l">
              <a:spcBef>
                <a:spcPts val="1200"/>
              </a:spcBef>
              <a:spcAft>
                <a:spcPts val="0"/>
              </a:spcAft>
              <a:buNone/>
            </a:pPr>
            <a:r>
              <a:rPr lang="es" sz="1400"/>
              <a:t>Si tenemos que escalar solo en </a:t>
            </a:r>
            <a:r>
              <a:rPr lang="es" sz="1400">
                <a:solidFill>
                  <a:schemeClr val="lt2"/>
                </a:solidFill>
              </a:rPr>
              <a:t>x </a:t>
            </a:r>
            <a:r>
              <a:rPr lang="es" sz="1400"/>
              <a:t>o en </a:t>
            </a:r>
            <a:r>
              <a:rPr lang="es" sz="1400">
                <a:solidFill>
                  <a:schemeClr val="lt2"/>
                </a:solidFill>
              </a:rPr>
              <a:t>y </a:t>
            </a:r>
            <a:r>
              <a:rPr lang="es" sz="1400"/>
              <a:t>podemos utilizar alguna de las dos funciones </a:t>
            </a:r>
            <a:r>
              <a:rPr lang="es" sz="1400">
                <a:solidFill>
                  <a:schemeClr val="lt2"/>
                </a:solidFill>
              </a:rPr>
              <a:t>scaleX </a:t>
            </a:r>
            <a:r>
              <a:rPr lang="es" sz="1400"/>
              <a:t>o </a:t>
            </a:r>
            <a:r>
              <a:rPr lang="es" sz="1400">
                <a:solidFill>
                  <a:schemeClr val="lt2"/>
                </a:solidFill>
              </a:rPr>
              <a:t>scaleY</a:t>
            </a:r>
            <a:r>
              <a:rPr lang="es" sz="1400"/>
              <a:t>.</a:t>
            </a:r>
            <a:endParaRPr sz="1400"/>
          </a:p>
          <a:p>
            <a:pPr indent="0" lvl="0" marL="0" rtl="0" algn="l">
              <a:spcBef>
                <a:spcPts val="1200"/>
              </a:spcBef>
              <a:spcAft>
                <a:spcPts val="1200"/>
              </a:spcAft>
              <a:buNone/>
            </a:pPr>
            <a:r>
              <a:rPr lang="es" sz="1400"/>
              <a:t>Otra posibilidad es utilizar un </a:t>
            </a:r>
            <a:r>
              <a:rPr lang="es" sz="1400">
                <a:solidFill>
                  <a:schemeClr val="lt2"/>
                </a:solidFill>
              </a:rPr>
              <a:t>valor negativo</a:t>
            </a:r>
            <a:r>
              <a:rPr lang="es" sz="1400"/>
              <a:t>, lo que nos permite tener una </a:t>
            </a:r>
            <a:r>
              <a:rPr lang="es" sz="1400">
                <a:solidFill>
                  <a:schemeClr val="lt2"/>
                </a:solidFill>
              </a:rPr>
              <a:t>reflexión </a:t>
            </a:r>
            <a:r>
              <a:rPr lang="es" sz="1400"/>
              <a:t>del elemento.</a:t>
            </a:r>
            <a:endParaRPr sz="1400"/>
          </a:p>
        </p:txBody>
      </p:sp>
      <p:pic>
        <p:nvPicPr>
          <p:cNvPr id="202" name="Google Shape;202;p23"/>
          <p:cNvPicPr preferRelativeResize="0"/>
          <p:nvPr/>
        </p:nvPicPr>
        <p:blipFill>
          <a:blip r:embed="rId3">
            <a:alphaModFix/>
          </a:blip>
          <a:stretch>
            <a:fillRect/>
          </a:stretch>
        </p:blipFill>
        <p:spPr>
          <a:xfrm>
            <a:off x="2982862" y="1924150"/>
            <a:ext cx="3178266" cy="647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TRANSFORMACIONES: ROTATE</a:t>
            </a:r>
            <a:endParaRPr/>
          </a:p>
        </p:txBody>
      </p:sp>
      <p:sp>
        <p:nvSpPr>
          <p:cNvPr id="208" name="Google Shape;208;p24"/>
          <p:cNvSpPr txBox="1"/>
          <p:nvPr>
            <p:ph idx="1" type="body"/>
          </p:nvPr>
        </p:nvSpPr>
        <p:spPr>
          <a:xfrm>
            <a:off x="1297500" y="1507950"/>
            <a:ext cx="7038900" cy="297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La función de rotación se llama </a:t>
            </a:r>
            <a:r>
              <a:rPr lang="es">
                <a:solidFill>
                  <a:schemeClr val="lt2"/>
                </a:solidFill>
              </a:rPr>
              <a:t>rotate </a:t>
            </a:r>
            <a:r>
              <a:rPr lang="es"/>
              <a:t>y tiene un </a:t>
            </a:r>
            <a:r>
              <a:rPr lang="es">
                <a:solidFill>
                  <a:schemeClr val="lt2"/>
                </a:solidFill>
              </a:rPr>
              <a:t>parámetro </a:t>
            </a:r>
            <a:r>
              <a:rPr lang="es"/>
              <a:t>que indica la cantidad de </a:t>
            </a:r>
            <a:r>
              <a:rPr lang="es">
                <a:solidFill>
                  <a:schemeClr val="lt2"/>
                </a:solidFill>
              </a:rPr>
              <a:t>grados </a:t>
            </a:r>
            <a:r>
              <a:rPr lang="es"/>
              <a:t>a rotar.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s"/>
              <a:t>La rotación es en el </a:t>
            </a:r>
            <a:r>
              <a:rPr lang="es">
                <a:solidFill>
                  <a:schemeClr val="lt2"/>
                </a:solidFill>
              </a:rPr>
              <a:t>sentido de las agujas del reloj</a:t>
            </a:r>
            <a:r>
              <a:rPr lang="es"/>
              <a:t>.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s"/>
              <a:t>Podemos indicar un valor </a:t>
            </a:r>
            <a:r>
              <a:rPr lang="es">
                <a:solidFill>
                  <a:schemeClr val="lt2"/>
                </a:solidFill>
              </a:rPr>
              <a:t>negativo </a:t>
            </a:r>
            <a:r>
              <a:rPr lang="es"/>
              <a:t>para rotar en sentido </a:t>
            </a:r>
            <a:r>
              <a:rPr lang="es">
                <a:solidFill>
                  <a:schemeClr val="lt2"/>
                </a:solidFill>
              </a:rPr>
              <a:t>antihorario</a:t>
            </a:r>
            <a:r>
              <a:rPr lang="es"/>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TRANSFORMACIONES: ROTATE</a:t>
            </a:r>
            <a:endParaRPr/>
          </a:p>
        </p:txBody>
      </p:sp>
      <p:sp>
        <p:nvSpPr>
          <p:cNvPr id="214" name="Google Shape;214;p25"/>
          <p:cNvSpPr txBox="1"/>
          <p:nvPr>
            <p:ph idx="1" type="body"/>
          </p:nvPr>
        </p:nvSpPr>
        <p:spPr>
          <a:xfrm>
            <a:off x="1297500" y="1457825"/>
            <a:ext cx="7038900" cy="3021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Para rotar un recuadro 45 grados en sentidos de las agujas de un reloj y que funcione en la mayoría de los navegadores deberemos implementar el siguiente código: </a:t>
            </a:r>
            <a:endParaRPr/>
          </a:p>
        </p:txBody>
      </p:sp>
      <p:pic>
        <p:nvPicPr>
          <p:cNvPr id="215" name="Google Shape;215;p25"/>
          <p:cNvPicPr preferRelativeResize="0"/>
          <p:nvPr/>
        </p:nvPicPr>
        <p:blipFill>
          <a:blip r:embed="rId3">
            <a:alphaModFix/>
          </a:blip>
          <a:stretch>
            <a:fillRect/>
          </a:stretch>
        </p:blipFill>
        <p:spPr>
          <a:xfrm>
            <a:off x="3048000" y="2293288"/>
            <a:ext cx="3048000" cy="2562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TRANSFORMACIONES: ROTATE</a:t>
            </a:r>
            <a:endParaRPr/>
          </a:p>
        </p:txBody>
      </p:sp>
      <p:sp>
        <p:nvSpPr>
          <p:cNvPr id="221" name="Google Shape;221;p26"/>
          <p:cNvSpPr txBox="1"/>
          <p:nvPr>
            <p:ph idx="1" type="body"/>
          </p:nvPr>
        </p:nvSpPr>
        <p:spPr>
          <a:xfrm>
            <a:off x="1297500" y="1457825"/>
            <a:ext cx="7038900" cy="3021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a:t>
            </a:r>
            <a:r>
              <a:rPr lang="es"/>
              <a:t>l punto de rotación coincide con el centro del recuadro (es como clavar una alfiler en el centro del recuadro y luego rotar el recuadro en el sentido de las agujas del reloj.</a:t>
            </a:r>
            <a:endParaRPr/>
          </a:p>
        </p:txBody>
      </p:sp>
      <p:pic>
        <p:nvPicPr>
          <p:cNvPr id="222" name="Google Shape;222;p26"/>
          <p:cNvPicPr preferRelativeResize="0"/>
          <p:nvPr/>
        </p:nvPicPr>
        <p:blipFill>
          <a:blip r:embed="rId3">
            <a:alphaModFix/>
          </a:blip>
          <a:stretch>
            <a:fillRect/>
          </a:stretch>
        </p:blipFill>
        <p:spPr>
          <a:xfrm>
            <a:off x="3720887" y="2239874"/>
            <a:ext cx="1702225" cy="26687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TRANSFORMACIONES: ROTATE</a:t>
            </a:r>
            <a:endParaRPr/>
          </a:p>
        </p:txBody>
      </p:sp>
      <p:sp>
        <p:nvSpPr>
          <p:cNvPr id="228" name="Google Shape;228;p27"/>
          <p:cNvSpPr txBox="1"/>
          <p:nvPr>
            <p:ph idx="1" type="body"/>
          </p:nvPr>
        </p:nvSpPr>
        <p:spPr>
          <a:xfrm>
            <a:off x="1297500" y="1457825"/>
            <a:ext cx="7038900" cy="302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PROPIEDAD </a:t>
            </a:r>
            <a:r>
              <a:rPr b="1" lang="es" u="sng">
                <a:solidFill>
                  <a:schemeClr val="lt2"/>
                </a:solidFill>
              </a:rPr>
              <a:t>transform-origin</a:t>
            </a:r>
            <a:endParaRPr b="1" u="sng">
              <a:solidFill>
                <a:schemeClr val="lt2"/>
              </a:solidFill>
            </a:endParaRPr>
          </a:p>
          <a:p>
            <a:pPr indent="0" lvl="0" marL="0" rtl="0" algn="l">
              <a:spcBef>
                <a:spcPts val="1200"/>
              </a:spcBef>
              <a:spcAft>
                <a:spcPts val="1200"/>
              </a:spcAft>
              <a:buNone/>
            </a:pPr>
            <a:r>
              <a:rPr lang="es"/>
              <a:t>Podemos variar dicho punto y ubicar por ejemplo en cualquiera de los cuatro vértices del recuadro con la siguiente sintaxis:</a:t>
            </a:r>
            <a:endParaRPr/>
          </a:p>
        </p:txBody>
      </p:sp>
      <p:pic>
        <p:nvPicPr>
          <p:cNvPr id="229" name="Google Shape;229;p27"/>
          <p:cNvPicPr preferRelativeResize="0"/>
          <p:nvPr/>
        </p:nvPicPr>
        <p:blipFill>
          <a:blip r:embed="rId3">
            <a:alphaModFix/>
          </a:blip>
          <a:stretch>
            <a:fillRect/>
          </a:stretch>
        </p:blipFill>
        <p:spPr>
          <a:xfrm>
            <a:off x="2534650" y="2571750"/>
            <a:ext cx="4074700" cy="2484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TRANSFORMACIONES: ROTATE</a:t>
            </a:r>
            <a:endParaRPr/>
          </a:p>
        </p:txBody>
      </p:sp>
      <p:sp>
        <p:nvSpPr>
          <p:cNvPr id="235" name="Google Shape;235;p28"/>
          <p:cNvSpPr txBox="1"/>
          <p:nvPr>
            <p:ph idx="1" type="body"/>
          </p:nvPr>
        </p:nvSpPr>
        <p:spPr>
          <a:xfrm>
            <a:off x="1297500" y="1457825"/>
            <a:ext cx="7038900" cy="345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Posibles valores para el x-axis (el eje horizontal):</a:t>
            </a:r>
            <a:endParaRPr/>
          </a:p>
          <a:p>
            <a:pPr indent="-311150" lvl="0" marL="457200" rtl="0" algn="l">
              <a:spcBef>
                <a:spcPts val="1200"/>
              </a:spcBef>
              <a:spcAft>
                <a:spcPts val="0"/>
              </a:spcAft>
              <a:buSzPts val="1300"/>
              <a:buChar char="●"/>
            </a:pPr>
            <a:r>
              <a:rPr lang="es"/>
              <a:t>left (izquierda) </a:t>
            </a:r>
            <a:endParaRPr/>
          </a:p>
          <a:p>
            <a:pPr indent="-311150" lvl="0" marL="457200" rtl="0" algn="l">
              <a:spcBef>
                <a:spcPts val="0"/>
              </a:spcBef>
              <a:spcAft>
                <a:spcPts val="0"/>
              </a:spcAft>
              <a:buSzPts val="1300"/>
              <a:buChar char="●"/>
            </a:pPr>
            <a:r>
              <a:rPr lang="es"/>
              <a:t>center (centro) </a:t>
            </a:r>
            <a:endParaRPr/>
          </a:p>
          <a:p>
            <a:pPr indent="-311150" lvl="0" marL="457200" rtl="0" algn="l">
              <a:spcBef>
                <a:spcPts val="0"/>
              </a:spcBef>
              <a:spcAft>
                <a:spcPts val="0"/>
              </a:spcAft>
              <a:buSzPts val="1300"/>
              <a:buChar char="●"/>
            </a:pPr>
            <a:r>
              <a:rPr lang="es"/>
              <a:t>right (derecha) </a:t>
            </a:r>
            <a:endParaRPr/>
          </a:p>
          <a:p>
            <a:pPr indent="-311150" lvl="0" marL="457200" rtl="0" algn="l">
              <a:spcBef>
                <a:spcPts val="0"/>
              </a:spcBef>
              <a:spcAft>
                <a:spcPts val="0"/>
              </a:spcAft>
              <a:buSzPts val="1300"/>
              <a:buChar char="●"/>
            </a:pPr>
            <a:r>
              <a:rPr lang="es"/>
              <a:t>distancia </a:t>
            </a:r>
            <a:endParaRPr/>
          </a:p>
          <a:p>
            <a:pPr indent="-311150" lvl="0" marL="457200" rtl="0" algn="l">
              <a:spcBef>
                <a:spcPts val="0"/>
              </a:spcBef>
              <a:spcAft>
                <a:spcPts val="0"/>
              </a:spcAft>
              <a:buSzPts val="1300"/>
              <a:buChar char="●"/>
            </a:pPr>
            <a:r>
              <a:rPr lang="es"/>
              <a:t>% </a:t>
            </a:r>
            <a:endParaRPr/>
          </a:p>
          <a:p>
            <a:pPr indent="0" lvl="0" marL="0" rtl="0" algn="l">
              <a:spcBef>
                <a:spcPts val="1200"/>
              </a:spcBef>
              <a:spcAft>
                <a:spcPts val="0"/>
              </a:spcAft>
              <a:buNone/>
            </a:pPr>
            <a:r>
              <a:rPr lang="es"/>
              <a:t>Posibles valores para y-axis (el eje vertical) : </a:t>
            </a:r>
            <a:endParaRPr/>
          </a:p>
          <a:p>
            <a:pPr indent="-311150" lvl="0" marL="457200" rtl="0" algn="l">
              <a:spcBef>
                <a:spcPts val="1200"/>
              </a:spcBef>
              <a:spcAft>
                <a:spcPts val="0"/>
              </a:spcAft>
              <a:buSzPts val="1300"/>
              <a:buChar char="●"/>
            </a:pPr>
            <a:r>
              <a:rPr lang="es"/>
              <a:t>top (arriba) </a:t>
            </a:r>
            <a:endParaRPr/>
          </a:p>
          <a:p>
            <a:pPr indent="-311150" lvl="0" marL="457200" rtl="0" algn="l">
              <a:spcBef>
                <a:spcPts val="0"/>
              </a:spcBef>
              <a:spcAft>
                <a:spcPts val="0"/>
              </a:spcAft>
              <a:buSzPts val="1300"/>
              <a:buChar char="●"/>
            </a:pPr>
            <a:r>
              <a:rPr lang="es"/>
              <a:t>center (centro) </a:t>
            </a:r>
            <a:endParaRPr/>
          </a:p>
          <a:p>
            <a:pPr indent="-311150" lvl="0" marL="457200" rtl="0" algn="l">
              <a:spcBef>
                <a:spcPts val="0"/>
              </a:spcBef>
              <a:spcAft>
                <a:spcPts val="0"/>
              </a:spcAft>
              <a:buSzPts val="1300"/>
              <a:buChar char="●"/>
            </a:pPr>
            <a:r>
              <a:rPr lang="es"/>
              <a:t>bottom (abajo) </a:t>
            </a:r>
            <a:endParaRPr/>
          </a:p>
          <a:p>
            <a:pPr indent="-311150" lvl="0" marL="457200" rtl="0" algn="l">
              <a:spcBef>
                <a:spcPts val="0"/>
              </a:spcBef>
              <a:spcAft>
                <a:spcPts val="0"/>
              </a:spcAft>
              <a:buSzPts val="1300"/>
              <a:buChar char="●"/>
            </a:pPr>
            <a:r>
              <a:rPr lang="es"/>
              <a:t>distancia </a:t>
            </a:r>
            <a:endParaRPr/>
          </a:p>
          <a:p>
            <a:pPr indent="-311150" lvl="0" marL="457200" rtl="0" algn="l">
              <a:spcBef>
                <a:spcPts val="0"/>
              </a:spcBef>
              <a:spcAft>
                <a:spcPts val="0"/>
              </a:spcAft>
              <a:buSzPts val="1300"/>
              <a:buChar char="●"/>
            </a:pPr>
            <a:r>
              <a:rPr lang="es"/>
              <a:t>%</a:t>
            </a:r>
            <a:endParaRPr/>
          </a:p>
        </p:txBody>
      </p:sp>
      <p:sp>
        <p:nvSpPr>
          <p:cNvPr id="236" name="Google Shape;236;p28"/>
          <p:cNvSpPr/>
          <p:nvPr/>
        </p:nvSpPr>
        <p:spPr>
          <a:xfrm>
            <a:off x="5783100" y="1574100"/>
            <a:ext cx="2835600" cy="1995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lang="es">
                <a:latin typeface="Lato"/>
                <a:ea typeface="Lato"/>
                <a:cs typeface="Lato"/>
                <a:sym typeface="Lato"/>
              </a:rPr>
              <a:t>El primer valor representa las "x" y el segundo valor representa las "y". </a:t>
            </a:r>
            <a:endParaRPr>
              <a:latin typeface="Lato"/>
              <a:ea typeface="Lato"/>
              <a:cs typeface="Lato"/>
              <a:sym typeface="Lato"/>
            </a:endParaRPr>
          </a:p>
          <a:p>
            <a:pPr indent="0" lvl="0" marL="0" rtl="0" algn="just">
              <a:spcBef>
                <a:spcPts val="0"/>
              </a:spcBef>
              <a:spcAft>
                <a:spcPts val="0"/>
              </a:spcAft>
              <a:buNone/>
            </a:pPr>
            <a:r>
              <a:t/>
            </a:r>
            <a:endParaRPr>
              <a:latin typeface="Lato"/>
              <a:ea typeface="Lato"/>
              <a:cs typeface="Lato"/>
              <a:sym typeface="Lato"/>
            </a:endParaRPr>
          </a:p>
          <a:p>
            <a:pPr indent="0" lvl="0" marL="0" rtl="0" algn="just">
              <a:spcBef>
                <a:spcPts val="0"/>
              </a:spcBef>
              <a:spcAft>
                <a:spcPts val="0"/>
              </a:spcAft>
              <a:buNone/>
            </a:pPr>
            <a:r>
              <a:rPr lang="es">
                <a:latin typeface="Lato"/>
                <a:ea typeface="Lato"/>
                <a:cs typeface="Lato"/>
                <a:sym typeface="Lato"/>
              </a:rPr>
              <a:t>El valor por defecto, si no se dice nada, de transform-origin: 50% 50%</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TRANSFORMACIONES: SKEW</a:t>
            </a:r>
            <a:endParaRPr/>
          </a:p>
        </p:txBody>
      </p:sp>
      <p:sp>
        <p:nvSpPr>
          <p:cNvPr id="242" name="Google Shape;242;p29"/>
          <p:cNvSpPr txBox="1"/>
          <p:nvPr>
            <p:ph idx="1" type="body"/>
          </p:nvPr>
        </p:nvSpPr>
        <p:spPr>
          <a:xfrm>
            <a:off x="1297500" y="1457825"/>
            <a:ext cx="7038900" cy="302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solidFill>
                  <a:schemeClr val="lt2"/>
                </a:solidFill>
              </a:rPr>
              <a:t>skew(&lt;angle&gt;[, &lt;angle&gt; ])</a:t>
            </a:r>
            <a:endParaRPr>
              <a:solidFill>
                <a:schemeClr val="lt2"/>
              </a:solidFill>
            </a:endParaRPr>
          </a:p>
          <a:p>
            <a:pPr indent="0" lvl="0" marL="0" rtl="0" algn="l">
              <a:spcBef>
                <a:spcPts val="1200"/>
              </a:spcBef>
              <a:spcAft>
                <a:spcPts val="0"/>
              </a:spcAft>
              <a:buNone/>
            </a:pPr>
            <a:r>
              <a:rPr lang="es"/>
              <a:t>A</a:t>
            </a:r>
            <a:r>
              <a:rPr lang="es"/>
              <a:t>plica una operación de inclinación especificada por el vector </a:t>
            </a:r>
            <a:r>
              <a:rPr lang="es">
                <a:solidFill>
                  <a:schemeClr val="lt2"/>
                </a:solidFill>
              </a:rPr>
              <a:t>[ax, ay]</a:t>
            </a:r>
            <a:r>
              <a:rPr lang="es"/>
              <a:t>. </a:t>
            </a:r>
            <a:endParaRPr/>
          </a:p>
          <a:p>
            <a:pPr indent="0" lvl="0" marL="0" rtl="0" algn="l">
              <a:spcBef>
                <a:spcPts val="1200"/>
              </a:spcBef>
              <a:spcAft>
                <a:spcPts val="0"/>
              </a:spcAft>
              <a:buNone/>
            </a:pPr>
            <a:r>
              <a:rPr lang="es"/>
              <a:t>Si no se indica el valor de </a:t>
            </a:r>
            <a:r>
              <a:rPr lang="es">
                <a:solidFill>
                  <a:schemeClr val="lt2"/>
                </a:solidFill>
              </a:rPr>
              <a:t>ay</a:t>
            </a:r>
            <a:r>
              <a:rPr lang="es"/>
              <a:t>, su valor es </a:t>
            </a:r>
            <a:r>
              <a:rPr lang="es">
                <a:solidFill>
                  <a:schemeClr val="lt2"/>
                </a:solidFill>
              </a:rPr>
              <a:t>0</a:t>
            </a:r>
            <a:r>
              <a:rPr lang="es"/>
              <a:t>. </a:t>
            </a:r>
            <a:endParaRPr/>
          </a:p>
          <a:p>
            <a:pPr indent="0" lvl="0" marL="0" rtl="0" algn="l">
              <a:spcBef>
                <a:spcPts val="1200"/>
              </a:spcBef>
              <a:spcAft>
                <a:spcPts val="0"/>
              </a:spcAft>
              <a:buNone/>
            </a:pPr>
            <a:r>
              <a:rPr lang="es" u="sng">
                <a:solidFill>
                  <a:schemeClr val="hlink"/>
                </a:solidFill>
                <a:hlinkClick r:id="rId3"/>
              </a:rPr>
              <a:t>https://developer.mozilla.org/en-US/docs/Web/CSS/transform-function/skew</a:t>
            </a:r>
            <a:endParaRPr/>
          </a:p>
          <a:p>
            <a:pPr indent="-311150" lvl="0" marL="457200" rtl="0" algn="l">
              <a:spcBef>
                <a:spcPts val="1200"/>
              </a:spcBef>
              <a:spcAft>
                <a:spcPts val="0"/>
              </a:spcAft>
              <a:buSzPts val="1300"/>
              <a:buChar char="●"/>
            </a:pPr>
            <a:r>
              <a:rPr lang="es"/>
              <a:t>skewX(): aplica una operación de inclinación en el eje x.</a:t>
            </a:r>
            <a:endParaRPr/>
          </a:p>
          <a:p>
            <a:pPr indent="-311150" lvl="0" marL="457200" rtl="0" algn="l">
              <a:spcBef>
                <a:spcPts val="0"/>
              </a:spcBef>
              <a:spcAft>
                <a:spcPts val="0"/>
              </a:spcAft>
              <a:buSzPts val="1300"/>
              <a:buChar char="●"/>
            </a:pPr>
            <a:r>
              <a:rPr lang="es"/>
              <a:t>skewY(): aplica una operación de inclinación en el eje 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FONDOS MÚLTIPLES</a:t>
            </a:r>
            <a:endParaRPr/>
          </a:p>
        </p:txBody>
      </p:sp>
      <p:sp>
        <p:nvSpPr>
          <p:cNvPr id="248" name="Google Shape;248;p30"/>
          <p:cNvSpPr txBox="1"/>
          <p:nvPr>
            <p:ph idx="1" type="body"/>
          </p:nvPr>
        </p:nvSpPr>
        <p:spPr>
          <a:xfrm>
            <a:off x="1297500" y="1457825"/>
            <a:ext cx="7038900" cy="3419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a:t>En CSS3 es posible declarar varios fondos de imagen a un elemento de la página.</a:t>
            </a:r>
            <a:endParaRPr/>
          </a:p>
          <a:p>
            <a:pPr indent="0" lvl="0" marL="0" rtl="0" algn="l">
              <a:spcBef>
                <a:spcPts val="1200"/>
              </a:spcBef>
              <a:spcAft>
                <a:spcPts val="0"/>
              </a:spcAft>
              <a:buNone/>
            </a:pPr>
            <a:r>
              <a:rPr lang="es"/>
              <a:t>Hasta ahora esto era posible, creando varios elementos anidados y colocando un fondo en cada uno. Esto se puede hacer en CSS3 con un solo elemento, al que aplicaremos varios fondos distintos.</a:t>
            </a:r>
            <a:endParaRPr/>
          </a:p>
          <a:p>
            <a:pPr indent="0" lvl="0" marL="0" rtl="0" algn="l">
              <a:spcBef>
                <a:spcPts val="1200"/>
              </a:spcBef>
              <a:spcAft>
                <a:spcPts val="0"/>
              </a:spcAft>
              <a:buNone/>
            </a:pPr>
            <a:r>
              <a:rPr lang="es"/>
              <a:t>El HTML del ejemplo de varias imágenes de fondo sería el siguiente:</a:t>
            </a:r>
            <a:endParaRPr/>
          </a:p>
          <a:p>
            <a:pPr indent="0" lvl="0" marL="2430000" rtl="0" algn="l">
              <a:spcBef>
                <a:spcPts val="1200"/>
              </a:spcBef>
              <a:spcAft>
                <a:spcPts val="0"/>
              </a:spcAft>
              <a:buNone/>
            </a:pPr>
            <a:r>
              <a:rPr lang="es">
                <a:solidFill>
                  <a:schemeClr val="lt2"/>
                </a:solidFill>
              </a:rPr>
              <a:t>&lt;div id="fondos"&gt;</a:t>
            </a:r>
            <a:endParaRPr>
              <a:solidFill>
                <a:schemeClr val="lt2"/>
              </a:solidFill>
            </a:endParaRPr>
          </a:p>
          <a:p>
            <a:pPr indent="0" lvl="0" marL="2430000" rtl="0" algn="l">
              <a:spcBef>
                <a:spcPts val="1200"/>
              </a:spcBef>
              <a:spcAft>
                <a:spcPts val="0"/>
              </a:spcAft>
              <a:buNone/>
            </a:pPr>
            <a:r>
              <a:rPr lang="es">
                <a:solidFill>
                  <a:schemeClr val="lt2"/>
                </a:solidFill>
              </a:rPr>
              <a:t>texto de un único elemento</a:t>
            </a:r>
            <a:endParaRPr>
              <a:solidFill>
                <a:schemeClr val="lt2"/>
              </a:solidFill>
            </a:endParaRPr>
          </a:p>
          <a:p>
            <a:pPr indent="0" lvl="0" marL="2430000" rtl="0" algn="l">
              <a:spcBef>
                <a:spcPts val="1200"/>
              </a:spcBef>
              <a:spcAft>
                <a:spcPts val="0"/>
              </a:spcAft>
              <a:buNone/>
            </a:pPr>
            <a:r>
              <a:rPr lang="es">
                <a:solidFill>
                  <a:schemeClr val="lt2"/>
                </a:solidFill>
              </a:rPr>
              <a:t>...</a:t>
            </a:r>
            <a:endParaRPr>
              <a:solidFill>
                <a:schemeClr val="lt2"/>
              </a:solidFill>
            </a:endParaRPr>
          </a:p>
          <a:p>
            <a:pPr indent="0" lvl="0" marL="2430000" rtl="0" algn="l">
              <a:spcBef>
                <a:spcPts val="1200"/>
              </a:spcBef>
              <a:spcAft>
                <a:spcPts val="0"/>
              </a:spcAft>
              <a:buNone/>
            </a:pPr>
            <a:r>
              <a:rPr lang="es">
                <a:solidFill>
                  <a:schemeClr val="lt2"/>
                </a:solidFill>
              </a:rPr>
              <a:t>&lt;/div</a:t>
            </a:r>
            <a:endParaRPr>
              <a:solidFill>
                <a:schemeClr val="lt2"/>
              </a:solidFill>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FONDOS MÚLTIPLES</a:t>
            </a:r>
            <a:endParaRPr/>
          </a:p>
        </p:txBody>
      </p:sp>
      <p:sp>
        <p:nvSpPr>
          <p:cNvPr id="254" name="Google Shape;254;p31"/>
          <p:cNvSpPr txBox="1"/>
          <p:nvPr>
            <p:ph idx="1" type="body"/>
          </p:nvPr>
        </p:nvSpPr>
        <p:spPr>
          <a:xfrm>
            <a:off x="1297500" y="1457825"/>
            <a:ext cx="7038900" cy="3419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a:t>Ahora veamos el CSS  válido para este ejemplo:</a:t>
            </a:r>
            <a:endParaRPr/>
          </a:p>
          <a:p>
            <a:pPr indent="-180000" lvl="0" marL="1529999" rtl="0" algn="l">
              <a:spcBef>
                <a:spcPts val="1200"/>
              </a:spcBef>
              <a:spcAft>
                <a:spcPts val="0"/>
              </a:spcAft>
              <a:buNone/>
            </a:pPr>
            <a:r>
              <a:rPr lang="es">
                <a:solidFill>
                  <a:schemeClr val="lt2"/>
                </a:solidFill>
              </a:rPr>
              <a:t>#fondos{ </a:t>
            </a:r>
            <a:endParaRPr>
              <a:solidFill>
                <a:schemeClr val="lt2"/>
              </a:solidFill>
            </a:endParaRPr>
          </a:p>
          <a:p>
            <a:pPr indent="-180000" lvl="0" marL="1529999" rtl="0" algn="l">
              <a:spcBef>
                <a:spcPts val="1200"/>
              </a:spcBef>
              <a:spcAft>
                <a:spcPts val="0"/>
              </a:spcAft>
              <a:buNone/>
            </a:pPr>
            <a:r>
              <a:rPr lang="es">
                <a:solidFill>
                  <a:schemeClr val="lt2"/>
                </a:solidFill>
              </a:rPr>
              <a:t>background: url(fondo3.png) bottom right no-repeat, </a:t>
            </a:r>
            <a:endParaRPr>
              <a:solidFill>
                <a:schemeClr val="lt2"/>
              </a:solidFill>
            </a:endParaRPr>
          </a:p>
          <a:p>
            <a:pPr indent="-180000" lvl="0" marL="1529999" rtl="0" algn="l">
              <a:spcBef>
                <a:spcPts val="1200"/>
              </a:spcBef>
              <a:spcAft>
                <a:spcPts val="0"/>
              </a:spcAft>
              <a:buNone/>
            </a:pPr>
            <a:r>
              <a:rPr lang="es">
                <a:solidFill>
                  <a:schemeClr val="lt2"/>
                </a:solidFill>
              </a:rPr>
              <a:t>url(fondo2.png) center no-repeat, </a:t>
            </a:r>
            <a:endParaRPr>
              <a:solidFill>
                <a:schemeClr val="lt2"/>
              </a:solidFill>
            </a:endParaRPr>
          </a:p>
          <a:p>
            <a:pPr indent="-180000" lvl="0" marL="1529999" rtl="0" algn="l">
              <a:spcBef>
                <a:spcPts val="1200"/>
              </a:spcBef>
              <a:spcAft>
                <a:spcPts val="0"/>
              </a:spcAft>
              <a:buNone/>
            </a:pPr>
            <a:r>
              <a:rPr lang="es">
                <a:solidFill>
                  <a:schemeClr val="lt2"/>
                </a:solidFill>
              </a:rPr>
              <a:t>url(fondo1.gif) center repeat; </a:t>
            </a:r>
            <a:endParaRPr>
              <a:solidFill>
                <a:schemeClr val="lt2"/>
              </a:solidFill>
            </a:endParaRPr>
          </a:p>
          <a:p>
            <a:pPr indent="-180000" lvl="0" marL="1529999" rtl="0" algn="l">
              <a:spcBef>
                <a:spcPts val="1200"/>
              </a:spcBef>
              <a:spcAft>
                <a:spcPts val="0"/>
              </a:spcAft>
              <a:buNone/>
            </a:pPr>
            <a:r>
              <a:rPr lang="es">
                <a:solidFill>
                  <a:schemeClr val="lt2"/>
                </a:solidFill>
              </a:rPr>
              <a:t>width: 300px; </a:t>
            </a:r>
            <a:endParaRPr>
              <a:solidFill>
                <a:schemeClr val="lt2"/>
              </a:solidFill>
            </a:endParaRPr>
          </a:p>
          <a:p>
            <a:pPr indent="-180000" lvl="0" marL="1529999" rtl="0" algn="l">
              <a:spcBef>
                <a:spcPts val="1200"/>
              </a:spcBef>
              <a:spcAft>
                <a:spcPts val="0"/>
              </a:spcAft>
              <a:buNone/>
            </a:pPr>
            <a:r>
              <a:rPr lang="es">
                <a:solidFill>
                  <a:schemeClr val="lt2"/>
                </a:solidFill>
              </a:rPr>
              <a:t>}</a:t>
            </a:r>
            <a:endParaRPr>
              <a:solidFill>
                <a:schemeClr val="lt2"/>
              </a:solidFill>
            </a:endParaRPr>
          </a:p>
          <a:p>
            <a:pPr indent="0" lvl="0" marL="0" rtl="0" algn="l">
              <a:spcBef>
                <a:spcPts val="1200"/>
              </a:spcBef>
              <a:spcAft>
                <a:spcPts val="1200"/>
              </a:spcAft>
              <a:buNone/>
            </a:pPr>
            <a:r>
              <a:rPr lang="es"/>
              <a:t>Las imágenes que declaramos se van colocando de modo que la primera aparece sobre las siguientes. Así pues, en esta declaración, fondo1.gif, que está colocada como último fondo, es la que aparece detrás del todo.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FONDOS MÚLTIPLES</a:t>
            </a:r>
            <a:endParaRPr/>
          </a:p>
        </p:txBody>
      </p:sp>
      <p:sp>
        <p:nvSpPr>
          <p:cNvPr id="260" name="Google Shape;260;p32"/>
          <p:cNvSpPr txBox="1"/>
          <p:nvPr>
            <p:ph idx="1" type="body"/>
          </p:nvPr>
        </p:nvSpPr>
        <p:spPr>
          <a:xfrm>
            <a:off x="1297500" y="1457825"/>
            <a:ext cx="7038900" cy="3419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También se pueden establecer varios fondos mediante la propiedad </a:t>
            </a:r>
            <a:r>
              <a:rPr lang="es">
                <a:solidFill>
                  <a:schemeClr val="lt2"/>
                </a:solidFill>
              </a:rPr>
              <a:t>background-image</a:t>
            </a:r>
            <a:r>
              <a:rPr lang="es"/>
              <a:t>, separando las URL por comas.</a:t>
            </a:r>
            <a:endParaRPr/>
          </a:p>
          <a:p>
            <a:pPr indent="-180000" lvl="0" marL="1529999" rtl="0" algn="l">
              <a:spcBef>
                <a:spcPts val="1200"/>
              </a:spcBef>
              <a:spcAft>
                <a:spcPts val="0"/>
              </a:spcAft>
              <a:buNone/>
            </a:pPr>
            <a:r>
              <a:rPr lang="es">
                <a:solidFill>
                  <a:schemeClr val="lt2"/>
                </a:solidFill>
              </a:rPr>
              <a:t>Elemento { background-image: url("imagen1"), url("imagen2"), ...; }</a:t>
            </a:r>
            <a:endParaRPr>
              <a:solidFill>
                <a:schemeClr val="lt2"/>
              </a:solidFill>
            </a:endParaRPr>
          </a:p>
          <a:p>
            <a:pPr indent="0" lvl="0" marL="0" rtl="0" algn="l">
              <a:spcBef>
                <a:spcPts val="1200"/>
              </a:spcBef>
              <a:spcAft>
                <a:spcPts val="0"/>
              </a:spcAft>
              <a:buNone/>
            </a:pPr>
            <a:r>
              <a:rPr lang="es"/>
              <a:t>Podemos mediante la propiedad </a:t>
            </a:r>
            <a:r>
              <a:rPr lang="es">
                <a:solidFill>
                  <a:schemeClr val="lt2"/>
                </a:solidFill>
              </a:rPr>
              <a:t>background-position</a:t>
            </a:r>
            <a:r>
              <a:rPr lang="es"/>
              <a:t> indicar la posición de la imagen con respecto al contenedor.</a:t>
            </a:r>
            <a:endParaRPr/>
          </a:p>
          <a:p>
            <a:pPr indent="0" lvl="0" marL="1350000" rtl="0" algn="l">
              <a:spcBef>
                <a:spcPts val="1200"/>
              </a:spcBef>
              <a:spcAft>
                <a:spcPts val="0"/>
              </a:spcAft>
              <a:buNone/>
            </a:pPr>
            <a:r>
              <a:rPr lang="es">
                <a:solidFill>
                  <a:schemeClr val="lt2"/>
                </a:solidFill>
              </a:rPr>
              <a:t>Elemento { </a:t>
            </a:r>
            <a:endParaRPr>
              <a:solidFill>
                <a:schemeClr val="lt2"/>
              </a:solidFill>
            </a:endParaRPr>
          </a:p>
          <a:p>
            <a:pPr indent="21600" lvl="0" marL="1807200" rtl="0" algn="l">
              <a:spcBef>
                <a:spcPts val="1200"/>
              </a:spcBef>
              <a:spcAft>
                <a:spcPts val="0"/>
              </a:spcAft>
              <a:buNone/>
            </a:pPr>
            <a:r>
              <a:rPr lang="es">
                <a:solidFill>
                  <a:schemeClr val="lt2"/>
                </a:solidFill>
              </a:rPr>
              <a:t>background-image: url("imagen1"), url("imagen2"), ...;</a:t>
            </a:r>
            <a:endParaRPr/>
          </a:p>
          <a:p>
            <a:pPr indent="21600" lvl="0" marL="1807200" rtl="0" algn="l">
              <a:spcBef>
                <a:spcPts val="1200"/>
              </a:spcBef>
              <a:spcAft>
                <a:spcPts val="0"/>
              </a:spcAft>
              <a:buNone/>
            </a:pPr>
            <a:r>
              <a:rPr lang="es">
                <a:solidFill>
                  <a:schemeClr val="lt2"/>
                </a:solidFill>
              </a:rPr>
              <a:t>background-position: posX posY, posX posY…;</a:t>
            </a:r>
            <a:endParaRPr>
              <a:solidFill>
                <a:schemeClr val="lt2"/>
              </a:solidFill>
            </a:endParaRPr>
          </a:p>
          <a:p>
            <a:pPr indent="0" lvl="0" marL="1350000" rtl="0" algn="l">
              <a:spcBef>
                <a:spcPts val="1200"/>
              </a:spcBef>
              <a:spcAft>
                <a:spcPts val="1200"/>
              </a:spcAft>
              <a:buNone/>
            </a:pPr>
            <a:r>
              <a:rPr lang="es">
                <a:solidFill>
                  <a:schemeClr val="lt2"/>
                </a:solidFill>
              </a:rPr>
              <a:t>}</a:t>
            </a:r>
            <a:endParaRPr>
              <a:solidFill>
                <a:schemeClr val="lt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FONDOS MÚLTIPLES</a:t>
            </a:r>
            <a:endParaRPr/>
          </a:p>
        </p:txBody>
      </p:sp>
      <p:sp>
        <p:nvSpPr>
          <p:cNvPr id="266" name="Google Shape;266;p33"/>
          <p:cNvSpPr txBox="1"/>
          <p:nvPr>
            <p:ph idx="1" type="body"/>
          </p:nvPr>
        </p:nvSpPr>
        <p:spPr>
          <a:xfrm>
            <a:off x="1297500" y="1457825"/>
            <a:ext cx="7677900" cy="3419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La </a:t>
            </a:r>
            <a:r>
              <a:rPr lang="es"/>
              <a:t>propiedad </a:t>
            </a:r>
            <a:r>
              <a:rPr lang="es">
                <a:solidFill>
                  <a:schemeClr val="lt2"/>
                </a:solidFill>
              </a:rPr>
              <a:t>background-size</a:t>
            </a:r>
            <a:r>
              <a:rPr lang="es"/>
              <a:t> nos permite escalar una imagen dispuesta en el fondo</a:t>
            </a:r>
            <a:endParaRPr/>
          </a:p>
          <a:p>
            <a:pPr indent="-180000" lvl="0" marL="1529999" rtl="0" algn="l">
              <a:spcBef>
                <a:spcPts val="1200"/>
              </a:spcBef>
              <a:spcAft>
                <a:spcPts val="0"/>
              </a:spcAft>
              <a:buNone/>
            </a:pPr>
            <a:r>
              <a:rPr lang="es">
                <a:solidFill>
                  <a:schemeClr val="lt2"/>
                </a:solidFill>
              </a:rPr>
              <a:t>Elemento { background-size: ancho alto; }</a:t>
            </a:r>
            <a:endParaRPr>
              <a:solidFill>
                <a:schemeClr val="lt2"/>
              </a:solidFill>
            </a:endParaRPr>
          </a:p>
          <a:p>
            <a:pPr indent="0" lvl="0" marL="0" rtl="0" algn="l">
              <a:spcBef>
                <a:spcPts val="1200"/>
              </a:spcBef>
              <a:spcAft>
                <a:spcPts val="0"/>
              </a:spcAft>
              <a:buNone/>
            </a:pPr>
            <a:r>
              <a:rPr lang="es"/>
              <a:t>Además de estos valores la propiedad background-size admite dos valores especiales: </a:t>
            </a:r>
            <a:r>
              <a:rPr lang="es">
                <a:solidFill>
                  <a:schemeClr val="lt2"/>
                </a:solidFill>
              </a:rPr>
              <a:t>contain </a:t>
            </a:r>
            <a:r>
              <a:rPr lang="es"/>
              <a:t>y </a:t>
            </a:r>
            <a:r>
              <a:rPr lang="es">
                <a:solidFill>
                  <a:schemeClr val="lt2"/>
                </a:solidFill>
              </a:rPr>
              <a:t>cover</a:t>
            </a:r>
            <a:r>
              <a:rPr lang="es"/>
              <a:t>.</a:t>
            </a:r>
            <a:endParaRPr/>
          </a:p>
          <a:p>
            <a:pPr indent="-311150" lvl="0" marL="457200" rtl="0" algn="just">
              <a:spcBef>
                <a:spcPts val="1200"/>
              </a:spcBef>
              <a:spcAft>
                <a:spcPts val="0"/>
              </a:spcAft>
              <a:buSzPts val="1300"/>
              <a:buChar char="●"/>
            </a:pPr>
            <a:r>
              <a:rPr b="1" lang="es" u="sng">
                <a:solidFill>
                  <a:schemeClr val="lt2"/>
                </a:solidFill>
              </a:rPr>
              <a:t>contain</a:t>
            </a:r>
            <a:r>
              <a:rPr lang="es"/>
              <a:t>: en este caso, la imagen es redimensionada </a:t>
            </a:r>
            <a:r>
              <a:rPr lang="es">
                <a:solidFill>
                  <a:schemeClr val="lt2"/>
                </a:solidFill>
              </a:rPr>
              <a:t>manteniendo sus proporciones originales</a:t>
            </a:r>
            <a:r>
              <a:rPr lang="es"/>
              <a:t>, de tal manera que cada lado sea tan grande como sea posible mientras que no exceda la longitud del lado correspondiente del contenedor. La imagen </a:t>
            </a:r>
            <a:r>
              <a:rPr lang="es">
                <a:solidFill>
                  <a:schemeClr val="lt2"/>
                </a:solidFill>
              </a:rPr>
              <a:t>nunca excede el tamaño de su contenedor</a:t>
            </a:r>
            <a:r>
              <a:rPr lang="es"/>
              <a:t>, por lo que si no coincide con el tamaño de su contenedor, </a:t>
            </a:r>
            <a:r>
              <a:rPr lang="es">
                <a:solidFill>
                  <a:schemeClr val="lt2"/>
                </a:solidFill>
              </a:rPr>
              <a:t>pueden existir zonas del fondo que no queden cubiertas</a:t>
            </a:r>
            <a:r>
              <a:rPr lang="es"/>
              <a:t> por la imagen.</a:t>
            </a:r>
            <a:endParaRPr/>
          </a:p>
          <a:p>
            <a:pPr indent="-311150" lvl="0" marL="457200" rtl="0" algn="just">
              <a:spcBef>
                <a:spcPts val="0"/>
              </a:spcBef>
              <a:spcAft>
                <a:spcPts val="0"/>
              </a:spcAft>
              <a:buSzPts val="1300"/>
              <a:buChar char="●"/>
            </a:pPr>
            <a:r>
              <a:rPr lang="es" u="sng">
                <a:solidFill>
                  <a:schemeClr val="lt2"/>
                </a:solidFill>
              </a:rPr>
              <a:t>cover</a:t>
            </a:r>
            <a:r>
              <a:rPr lang="es"/>
              <a:t>: en este otro caso, la imagen es redimensionada </a:t>
            </a:r>
            <a:r>
              <a:rPr lang="es">
                <a:solidFill>
                  <a:schemeClr val="lt2"/>
                </a:solidFill>
              </a:rPr>
              <a:t>manteniendo sus proporciones originales</a:t>
            </a:r>
            <a:r>
              <a:rPr lang="es"/>
              <a:t>, de tal manera que el </a:t>
            </a:r>
            <a:r>
              <a:rPr lang="es">
                <a:solidFill>
                  <a:schemeClr val="lt2"/>
                </a:solidFill>
              </a:rPr>
              <a:t>área completa del fondo es siempre cubierta</a:t>
            </a:r>
            <a:r>
              <a:rPr lang="es"/>
              <a:t> por la imagen de fondo. En este caso, el tamaño de la imagen siempre es </a:t>
            </a:r>
            <a:r>
              <a:rPr lang="es">
                <a:solidFill>
                  <a:schemeClr val="lt2"/>
                </a:solidFill>
              </a:rPr>
              <a:t>igual o superior al área del fondo a cubrir</a:t>
            </a:r>
            <a:r>
              <a:rPr lang="es"/>
              <a:t>, </a:t>
            </a:r>
            <a:r>
              <a:rPr lang="es">
                <a:solidFill>
                  <a:schemeClr val="lt2"/>
                </a:solidFill>
              </a:rPr>
              <a:t>pudiendo existir zonas de la imagen que no sean visibles</a:t>
            </a:r>
            <a:r>
              <a:rPr lang="es"/>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COLUMNAS MÚLTIPLES</a:t>
            </a:r>
            <a:endParaRPr/>
          </a:p>
        </p:txBody>
      </p:sp>
      <p:sp>
        <p:nvSpPr>
          <p:cNvPr id="272" name="Google Shape;272;p34"/>
          <p:cNvSpPr txBox="1"/>
          <p:nvPr>
            <p:ph idx="1" type="body"/>
          </p:nvPr>
        </p:nvSpPr>
        <p:spPr>
          <a:xfrm>
            <a:off x="1297500" y="1457825"/>
            <a:ext cx="7677900" cy="35193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Nos permite disponer de un bloque de texto en múltiples columnas indicando la </a:t>
            </a:r>
            <a:r>
              <a:rPr lang="es" u="sng"/>
              <a:t>cantidad de columnas</a:t>
            </a:r>
            <a:r>
              <a:rPr lang="es"/>
              <a:t>.</a:t>
            </a:r>
            <a:endParaRPr/>
          </a:p>
          <a:p>
            <a:pPr indent="1440000" lvl="0" marL="0" rtl="0" algn="just">
              <a:spcBef>
                <a:spcPts val="1200"/>
              </a:spcBef>
              <a:spcAft>
                <a:spcPts val="0"/>
              </a:spcAft>
              <a:buNone/>
            </a:pPr>
            <a:r>
              <a:rPr lang="es">
                <a:solidFill>
                  <a:schemeClr val="lt2"/>
                </a:solidFill>
              </a:rPr>
              <a:t>Elemento {</a:t>
            </a:r>
            <a:endParaRPr>
              <a:solidFill>
                <a:schemeClr val="lt2"/>
              </a:solidFill>
            </a:endParaRPr>
          </a:p>
          <a:p>
            <a:pPr indent="1440000" lvl="0" marL="457200" rtl="0" algn="just">
              <a:spcBef>
                <a:spcPts val="1200"/>
              </a:spcBef>
              <a:spcAft>
                <a:spcPts val="0"/>
              </a:spcAft>
              <a:buNone/>
            </a:pPr>
            <a:r>
              <a:rPr lang="es">
                <a:solidFill>
                  <a:schemeClr val="lt2"/>
                </a:solidFill>
              </a:rPr>
              <a:t>column-count: cantidad de columnas; </a:t>
            </a:r>
            <a:endParaRPr>
              <a:solidFill>
                <a:schemeClr val="lt2"/>
              </a:solidFill>
            </a:endParaRPr>
          </a:p>
          <a:p>
            <a:pPr indent="0" lvl="0" marL="1371600" rtl="0" algn="just">
              <a:spcBef>
                <a:spcPts val="1200"/>
              </a:spcBef>
              <a:spcAft>
                <a:spcPts val="0"/>
              </a:spcAft>
              <a:buNone/>
            </a:pPr>
            <a:r>
              <a:rPr lang="es">
                <a:solidFill>
                  <a:schemeClr val="lt2"/>
                </a:solidFill>
              </a:rPr>
              <a:t>  }</a:t>
            </a:r>
            <a:endParaRPr>
              <a:solidFill>
                <a:schemeClr val="lt2"/>
              </a:solidFill>
            </a:endParaRPr>
          </a:p>
          <a:p>
            <a:pPr indent="0" lvl="0" marL="0" rtl="0" algn="just">
              <a:spcBef>
                <a:spcPts val="1200"/>
              </a:spcBef>
              <a:spcAft>
                <a:spcPts val="0"/>
              </a:spcAft>
              <a:buNone/>
            </a:pPr>
            <a:r>
              <a:rPr lang="es"/>
              <a:t> CSS3 nos permite también especificar la </a:t>
            </a:r>
            <a:r>
              <a:rPr lang="es" u="sng"/>
              <a:t>separación entre las columnas</a:t>
            </a:r>
            <a:r>
              <a:rPr lang="es"/>
              <a:t>.</a:t>
            </a:r>
            <a:endParaRPr/>
          </a:p>
          <a:p>
            <a:pPr indent="1440000" lvl="0" marL="0" rtl="0" algn="just">
              <a:spcBef>
                <a:spcPts val="1200"/>
              </a:spcBef>
              <a:spcAft>
                <a:spcPts val="0"/>
              </a:spcAft>
              <a:buNone/>
            </a:pPr>
            <a:r>
              <a:rPr lang="es">
                <a:solidFill>
                  <a:schemeClr val="lt2"/>
                </a:solidFill>
              </a:rPr>
              <a:t>Elemento {</a:t>
            </a:r>
            <a:endParaRPr>
              <a:solidFill>
                <a:schemeClr val="lt2"/>
              </a:solidFill>
            </a:endParaRPr>
          </a:p>
          <a:p>
            <a:pPr indent="1440000" lvl="0" marL="457200" rtl="0" algn="just">
              <a:spcBef>
                <a:spcPts val="1200"/>
              </a:spcBef>
              <a:spcAft>
                <a:spcPts val="0"/>
              </a:spcAft>
              <a:buNone/>
            </a:pPr>
            <a:r>
              <a:rPr lang="es">
                <a:solidFill>
                  <a:schemeClr val="lt2"/>
                </a:solidFill>
              </a:rPr>
              <a:t>column-gap: valor; </a:t>
            </a:r>
            <a:endParaRPr>
              <a:solidFill>
                <a:schemeClr val="lt2"/>
              </a:solidFill>
            </a:endParaRPr>
          </a:p>
          <a:p>
            <a:pPr indent="0" lvl="0" marL="1371600" rtl="0" algn="just">
              <a:spcBef>
                <a:spcPts val="1200"/>
              </a:spcBef>
              <a:spcAft>
                <a:spcPts val="0"/>
              </a:spcAft>
              <a:buNone/>
            </a:pPr>
            <a:r>
              <a:rPr lang="es">
                <a:solidFill>
                  <a:schemeClr val="lt2"/>
                </a:solidFill>
              </a:rPr>
              <a:t>  }</a:t>
            </a:r>
            <a:endParaRPr>
              <a:solidFill>
                <a:schemeClr val="lt2"/>
              </a:solidFill>
            </a:endParaRPr>
          </a:p>
          <a:p>
            <a:pPr indent="0" lvl="0" marL="0" rtl="0" algn="just">
              <a:spcBef>
                <a:spcPts val="1200"/>
              </a:spcBef>
              <a:spcAft>
                <a:spcPts val="1200"/>
              </a:spcAft>
              <a:buNone/>
            </a:pPr>
            <a:r>
              <a:rPr lang="es"/>
              <a:t>Podemos utilizar cualquier unidad para indicar la separación entre columnas (px, em etc.)</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COLUMNAS </a:t>
            </a:r>
            <a:r>
              <a:rPr lang="es"/>
              <a:t>MÚLTIPLES</a:t>
            </a:r>
            <a:endParaRPr/>
          </a:p>
        </p:txBody>
      </p:sp>
      <p:sp>
        <p:nvSpPr>
          <p:cNvPr id="278" name="Google Shape;278;p35"/>
          <p:cNvSpPr txBox="1"/>
          <p:nvPr>
            <p:ph idx="1" type="body"/>
          </p:nvPr>
        </p:nvSpPr>
        <p:spPr>
          <a:xfrm>
            <a:off x="1297500" y="1457825"/>
            <a:ext cx="7677900" cy="35193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Podemos configurar una línea separadora entre las columnas cuando utilizamos múltiples columnas.</a:t>
            </a:r>
            <a:endParaRPr/>
          </a:p>
          <a:p>
            <a:pPr indent="1440000" lvl="0" marL="0" rtl="0" algn="just">
              <a:spcBef>
                <a:spcPts val="1200"/>
              </a:spcBef>
              <a:spcAft>
                <a:spcPts val="0"/>
              </a:spcAft>
              <a:buNone/>
            </a:pPr>
            <a:r>
              <a:rPr lang="es">
                <a:solidFill>
                  <a:schemeClr val="lt2"/>
                </a:solidFill>
              </a:rPr>
              <a:t>Elemento {</a:t>
            </a:r>
            <a:endParaRPr>
              <a:solidFill>
                <a:schemeClr val="lt2"/>
              </a:solidFill>
            </a:endParaRPr>
          </a:p>
          <a:p>
            <a:pPr indent="1440000" lvl="0" marL="457200" rtl="0" algn="just">
              <a:spcBef>
                <a:spcPts val="1200"/>
              </a:spcBef>
              <a:spcAft>
                <a:spcPts val="0"/>
              </a:spcAft>
              <a:buNone/>
            </a:pPr>
            <a:r>
              <a:rPr lang="es">
                <a:solidFill>
                  <a:schemeClr val="lt2"/>
                </a:solidFill>
              </a:rPr>
              <a:t>column-rule: grosor estilo color; </a:t>
            </a:r>
            <a:endParaRPr>
              <a:solidFill>
                <a:schemeClr val="lt2"/>
              </a:solidFill>
            </a:endParaRPr>
          </a:p>
          <a:p>
            <a:pPr indent="0" lvl="0" marL="1371600" rtl="0" algn="just">
              <a:spcBef>
                <a:spcPts val="1200"/>
              </a:spcBef>
              <a:spcAft>
                <a:spcPts val="0"/>
              </a:spcAft>
              <a:buNone/>
            </a:pPr>
            <a:r>
              <a:rPr lang="es">
                <a:solidFill>
                  <a:schemeClr val="lt2"/>
                </a:solidFill>
              </a:rPr>
              <a:t>  }</a:t>
            </a:r>
            <a:endParaRPr>
              <a:solidFill>
                <a:schemeClr val="lt2"/>
              </a:solidFill>
            </a:endParaRPr>
          </a:p>
          <a:p>
            <a:pPr indent="0" lvl="0" marL="0" rtl="0" algn="just">
              <a:spcBef>
                <a:spcPts val="1200"/>
              </a:spcBef>
              <a:spcAft>
                <a:spcPts val="0"/>
              </a:spcAft>
              <a:buNone/>
            </a:pPr>
            <a:r>
              <a:rPr lang="es"/>
              <a:t> El grosor se establecerá con unidades de medida (px, em, rem…)</a:t>
            </a:r>
            <a:endParaRPr/>
          </a:p>
          <a:p>
            <a:pPr indent="0" lvl="0" marL="0" rtl="0" algn="just">
              <a:spcBef>
                <a:spcPts val="1200"/>
              </a:spcBef>
              <a:spcAft>
                <a:spcPts val="0"/>
              </a:spcAft>
              <a:buNone/>
            </a:pPr>
            <a:r>
              <a:rPr lang="es"/>
              <a:t>El estilo con la palabra </a:t>
            </a:r>
            <a:r>
              <a:rPr lang="es"/>
              <a:t>reservada</a:t>
            </a:r>
            <a:r>
              <a:rPr lang="es"/>
              <a:t> (solid, dashed, dotted…)</a:t>
            </a:r>
            <a:endParaRPr/>
          </a:p>
          <a:p>
            <a:pPr indent="0" lvl="0" marL="0" rtl="0" algn="just">
              <a:spcBef>
                <a:spcPts val="1200"/>
              </a:spcBef>
              <a:spcAft>
                <a:spcPts val="1200"/>
              </a:spcAft>
              <a:buNone/>
            </a:pPr>
            <a:r>
              <a:rPr lang="es"/>
              <a:t>Y el color con palabras reservadas, </a:t>
            </a:r>
            <a:r>
              <a:rPr lang="es"/>
              <a:t>código</a:t>
            </a:r>
            <a:r>
              <a:rPr lang="es"/>
              <a:t> hexadecimal o rgb().</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OPACIDAD</a:t>
            </a:r>
            <a:endParaRPr/>
          </a:p>
        </p:txBody>
      </p:sp>
      <p:sp>
        <p:nvSpPr>
          <p:cNvPr id="284" name="Google Shape;284;p36"/>
          <p:cNvSpPr txBox="1"/>
          <p:nvPr>
            <p:ph idx="1" type="body"/>
          </p:nvPr>
        </p:nvSpPr>
        <p:spPr>
          <a:xfrm>
            <a:off x="1297500" y="1457825"/>
            <a:ext cx="7677900" cy="35193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La opacidad es una característica de los objetos de no dejar pasar la luz (mientras un objeto es más opaco significa que deja pasar menos luz). Un elemento HTML dispone de la propiedad opacity para definir </a:t>
            </a:r>
            <a:r>
              <a:rPr lang="es"/>
              <a:t>cuál</a:t>
            </a:r>
            <a:r>
              <a:rPr lang="es"/>
              <a:t> es su opacidad.</a:t>
            </a:r>
            <a:endParaRPr/>
          </a:p>
          <a:p>
            <a:pPr indent="0" lvl="0" marL="2070000" rtl="0" algn="just">
              <a:spcBef>
                <a:spcPts val="1200"/>
              </a:spcBef>
              <a:spcAft>
                <a:spcPts val="0"/>
              </a:spcAft>
              <a:buNone/>
            </a:pPr>
            <a:r>
              <a:rPr lang="es">
                <a:solidFill>
                  <a:schemeClr val="lt2"/>
                </a:solidFill>
              </a:rPr>
              <a:t>Elemento { </a:t>
            </a:r>
            <a:endParaRPr>
              <a:solidFill>
                <a:schemeClr val="lt2"/>
              </a:solidFill>
            </a:endParaRPr>
          </a:p>
          <a:p>
            <a:pPr indent="0" lvl="0" marL="2527200" rtl="0" algn="just">
              <a:spcBef>
                <a:spcPts val="1200"/>
              </a:spcBef>
              <a:spcAft>
                <a:spcPts val="0"/>
              </a:spcAft>
              <a:buNone/>
            </a:pPr>
            <a:r>
              <a:rPr lang="es">
                <a:solidFill>
                  <a:schemeClr val="lt2"/>
                </a:solidFill>
              </a:rPr>
              <a:t>opacity: valor; </a:t>
            </a:r>
            <a:endParaRPr>
              <a:solidFill>
                <a:schemeClr val="lt2"/>
              </a:solidFill>
            </a:endParaRPr>
          </a:p>
          <a:p>
            <a:pPr indent="457200" lvl="0" marL="1828800" rtl="0" algn="just">
              <a:spcBef>
                <a:spcPts val="1200"/>
              </a:spcBef>
              <a:spcAft>
                <a:spcPts val="0"/>
              </a:spcAft>
              <a:buNone/>
            </a:pPr>
            <a:r>
              <a:rPr lang="es">
                <a:solidFill>
                  <a:schemeClr val="lt2"/>
                </a:solidFill>
              </a:rPr>
              <a:t>} </a:t>
            </a:r>
            <a:endParaRPr>
              <a:solidFill>
                <a:schemeClr val="lt2"/>
              </a:solidFill>
            </a:endParaRPr>
          </a:p>
          <a:p>
            <a:pPr indent="0" lvl="0" marL="0" rtl="0" algn="just">
              <a:spcBef>
                <a:spcPts val="1200"/>
              </a:spcBef>
              <a:spcAft>
                <a:spcPts val="0"/>
              </a:spcAft>
              <a:buNone/>
            </a:pPr>
            <a:r>
              <a:t/>
            </a:r>
            <a:endParaRPr/>
          </a:p>
          <a:p>
            <a:pPr indent="0" lvl="0" marL="0" rtl="0" algn="just">
              <a:spcBef>
                <a:spcPts val="1200"/>
              </a:spcBef>
              <a:spcAft>
                <a:spcPts val="1200"/>
              </a:spcAft>
              <a:buNone/>
            </a:pPr>
            <a:r>
              <a:rPr lang="es"/>
              <a:t>El valor es un número comprendido entre 0 y 1. El 0 significa que es totalmente transparente (luego no se verá nada en pantalla, pero el espacio ocupado por el elemento HTML queda reservado), el 1 significa que es totalmente opaco (no deja pasar la luz).</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OPACIDAD</a:t>
            </a:r>
            <a:endParaRPr/>
          </a:p>
        </p:txBody>
      </p:sp>
      <p:sp>
        <p:nvSpPr>
          <p:cNvPr id="290" name="Google Shape;290;p37"/>
          <p:cNvSpPr txBox="1"/>
          <p:nvPr>
            <p:ph idx="1" type="body"/>
          </p:nvPr>
        </p:nvSpPr>
        <p:spPr>
          <a:xfrm>
            <a:off x="1297500" y="1457825"/>
            <a:ext cx="7677900" cy="35193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s"/>
              <a:t>C</a:t>
            </a:r>
            <a:r>
              <a:rPr lang="es"/>
              <a:t>uando le asignamos una opacidad a un elemento HTML luego todos los elementos contenidos en dicho elementos heredan dicha opacidad</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457200" lvl="0" marL="457200" rtl="0" algn="just">
              <a:spcBef>
                <a:spcPts val="1200"/>
              </a:spcBef>
              <a:spcAft>
                <a:spcPts val="1200"/>
              </a:spcAft>
              <a:buNone/>
            </a:pPr>
            <a:r>
              <a:rPr lang="es"/>
              <a:t>opacity: 1								opacity: 0.2</a:t>
            </a:r>
            <a:endParaRPr/>
          </a:p>
        </p:txBody>
      </p:sp>
      <p:pic>
        <p:nvPicPr>
          <p:cNvPr id="291" name="Google Shape;291;p37"/>
          <p:cNvPicPr preferRelativeResize="0"/>
          <p:nvPr/>
        </p:nvPicPr>
        <p:blipFill>
          <a:blip r:embed="rId3">
            <a:alphaModFix/>
          </a:blip>
          <a:stretch>
            <a:fillRect/>
          </a:stretch>
        </p:blipFill>
        <p:spPr>
          <a:xfrm>
            <a:off x="1297496" y="2428050"/>
            <a:ext cx="3203400" cy="2017700"/>
          </a:xfrm>
          <a:prstGeom prst="rect">
            <a:avLst/>
          </a:prstGeom>
          <a:noFill/>
          <a:ln>
            <a:noFill/>
          </a:ln>
        </p:spPr>
      </p:pic>
      <p:pic>
        <p:nvPicPr>
          <p:cNvPr id="292" name="Google Shape;292;p37"/>
          <p:cNvPicPr preferRelativeResize="0"/>
          <p:nvPr/>
        </p:nvPicPr>
        <p:blipFill>
          <a:blip r:embed="rId4">
            <a:alphaModFix/>
          </a:blip>
          <a:stretch>
            <a:fillRect/>
          </a:stretch>
        </p:blipFill>
        <p:spPr>
          <a:xfrm>
            <a:off x="5133000" y="2449294"/>
            <a:ext cx="3203400" cy="197521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FUNCIÓN rgba()</a:t>
            </a:r>
            <a:endParaRPr/>
          </a:p>
        </p:txBody>
      </p:sp>
      <p:sp>
        <p:nvSpPr>
          <p:cNvPr id="298" name="Google Shape;298;p38"/>
          <p:cNvSpPr txBox="1"/>
          <p:nvPr>
            <p:ph idx="1" type="body"/>
          </p:nvPr>
        </p:nvSpPr>
        <p:spPr>
          <a:xfrm>
            <a:off x="1297500" y="1242325"/>
            <a:ext cx="7677900" cy="14202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La notación RGBA es una manera de especificar colores en la que se definen cuatro valores. </a:t>
            </a:r>
            <a:endParaRPr/>
          </a:p>
          <a:p>
            <a:pPr indent="0" lvl="0" marL="0" rtl="0" algn="just">
              <a:spcBef>
                <a:spcPts val="1200"/>
              </a:spcBef>
              <a:spcAft>
                <a:spcPts val="0"/>
              </a:spcAft>
              <a:buNone/>
            </a:pPr>
            <a:r>
              <a:rPr lang="es"/>
              <a:t>Los tres primeros son los bien conocidos canales RGB (rojo, verde y azul) y el cuarto parámetro es el </a:t>
            </a:r>
            <a:r>
              <a:rPr lang="es">
                <a:solidFill>
                  <a:schemeClr val="lt2"/>
                </a:solidFill>
              </a:rPr>
              <a:t>canal Alpha</a:t>
            </a:r>
            <a:r>
              <a:rPr lang="es"/>
              <a:t>, que no es más que el </a:t>
            </a:r>
            <a:r>
              <a:rPr lang="es">
                <a:solidFill>
                  <a:schemeClr val="lt2"/>
                </a:solidFill>
              </a:rPr>
              <a:t>grado de transparencia</a:t>
            </a:r>
            <a:r>
              <a:rPr lang="es"/>
              <a:t> u opacidad del color.</a:t>
            </a:r>
            <a:endParaRPr/>
          </a:p>
          <a:p>
            <a:pPr indent="0" lvl="0" marL="0" rtl="0" algn="just">
              <a:spcBef>
                <a:spcPts val="1200"/>
              </a:spcBef>
              <a:spcAft>
                <a:spcPts val="1200"/>
              </a:spcAft>
              <a:buNone/>
            </a:pPr>
            <a:r>
              <a:rPr lang="es"/>
              <a:t>El canal Alpha es un valor entre cero y uno, siendo 0 totalmente transparente y 1 totalmente opaco.</a:t>
            </a:r>
            <a:endParaRPr/>
          </a:p>
        </p:txBody>
      </p:sp>
      <p:pic>
        <p:nvPicPr>
          <p:cNvPr id="299" name="Google Shape;299;p38"/>
          <p:cNvPicPr preferRelativeResize="0"/>
          <p:nvPr/>
        </p:nvPicPr>
        <p:blipFill>
          <a:blip r:embed="rId3">
            <a:alphaModFix/>
          </a:blip>
          <a:stretch>
            <a:fillRect/>
          </a:stretch>
        </p:blipFill>
        <p:spPr>
          <a:xfrm>
            <a:off x="2264513" y="2686188"/>
            <a:ext cx="1857375" cy="1838325"/>
          </a:xfrm>
          <a:prstGeom prst="rect">
            <a:avLst/>
          </a:prstGeom>
          <a:noFill/>
          <a:ln>
            <a:noFill/>
          </a:ln>
        </p:spPr>
      </p:pic>
      <p:pic>
        <p:nvPicPr>
          <p:cNvPr id="300" name="Google Shape;300;p38"/>
          <p:cNvPicPr preferRelativeResize="0"/>
          <p:nvPr/>
        </p:nvPicPr>
        <p:blipFill>
          <a:blip r:embed="rId4">
            <a:alphaModFix/>
          </a:blip>
          <a:stretch>
            <a:fillRect/>
          </a:stretch>
        </p:blipFill>
        <p:spPr>
          <a:xfrm>
            <a:off x="5460288" y="2662388"/>
            <a:ext cx="1895475" cy="1885950"/>
          </a:xfrm>
          <a:prstGeom prst="rect">
            <a:avLst/>
          </a:prstGeom>
          <a:noFill/>
          <a:ln>
            <a:noFill/>
          </a:ln>
        </p:spPr>
      </p:pic>
      <p:sp>
        <p:nvSpPr>
          <p:cNvPr id="301" name="Google Shape;301;p38"/>
          <p:cNvSpPr txBox="1"/>
          <p:nvPr/>
        </p:nvSpPr>
        <p:spPr>
          <a:xfrm>
            <a:off x="1357875" y="4651450"/>
            <a:ext cx="7641600" cy="4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lt1"/>
                </a:solidFill>
                <a:latin typeface="Lato"/>
                <a:ea typeface="Lato"/>
                <a:cs typeface="Lato"/>
                <a:sym typeface="Lato"/>
              </a:rPr>
              <a:t>Cuando usamos la función rgba() la opacidad se aplica </a:t>
            </a:r>
            <a:r>
              <a:rPr lang="es">
                <a:solidFill>
                  <a:schemeClr val="lt1"/>
                </a:solidFill>
                <a:latin typeface="Lato"/>
                <a:ea typeface="Lato"/>
                <a:cs typeface="Lato"/>
                <a:sym typeface="Lato"/>
              </a:rPr>
              <a:t>sólo</a:t>
            </a:r>
            <a:r>
              <a:rPr lang="es">
                <a:solidFill>
                  <a:schemeClr val="lt1"/>
                </a:solidFill>
                <a:latin typeface="Lato"/>
                <a:ea typeface="Lato"/>
                <a:cs typeface="Lato"/>
                <a:sym typeface="Lato"/>
              </a:rPr>
              <a:t> al elemento y no a sus hijos.</a:t>
            </a:r>
            <a:endParaRPr>
              <a:solidFill>
                <a:schemeClr val="lt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