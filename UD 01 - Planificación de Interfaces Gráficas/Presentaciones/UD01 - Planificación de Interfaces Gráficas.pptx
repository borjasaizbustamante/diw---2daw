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  <p:embeddedFont>
      <p:font typeface="Maven Pro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avenPro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3398935ad_0_4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e3398935ad_0_4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3398935ad_0_3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3398935ad_0_3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47e30db4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247e30db4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247e30db4e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247e30db4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247e30db4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247e30db4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247e30db4e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247e30db4e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47e30db4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247e30db4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247e30db4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247e30db4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247e30db4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247e30db4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47e30db4e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247e30db4e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247e30db4e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247e30db4e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47e30db4e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47e30db4e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247e30db4e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247e30db4e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247e30db4e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247e30db4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47e30db4e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247e30db4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247e30db4e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247e30db4e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247e30db4e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247e30db4e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247e30db4e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247e30db4e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247e30db4e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247e30db4e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247e30db4e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247e30db4e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6390" y="156705"/>
            <a:ext cx="2342520" cy="68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-16891" l="0" r="-2543" t="0"/>
          <a:stretch/>
        </p:blipFill>
        <p:spPr>
          <a:xfrm>
            <a:off x="6577520" y="203969"/>
            <a:ext cx="19240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ven Pro"/>
              <a:buNone/>
              <a:defRPr b="1" sz="3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0183" y="4552000"/>
            <a:ext cx="112138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ven Pro"/>
              <a:buNone/>
              <a:defRPr b="1" sz="15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ven Pro"/>
              <a:buNone/>
              <a:defRPr b="1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19" name="Google Shape;19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" name="Google Shape;20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3" name="Google Shape;23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" name="Google Shape;26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7" name="Google Shape;27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" name="Google Shape;31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32" name="Google Shape;32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" name="Google Shape;35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36" name="Google Shape;36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" name="Google Shape;50;p3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4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8" name="Google Shape;58;p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488925" y="1464525"/>
            <a:ext cx="37020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929525" y="1464525"/>
            <a:ext cx="37020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536550" y="1279950"/>
            <a:ext cx="3825900" cy="25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4781550" y="1197300"/>
            <a:ext cx="36648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3" name="Google Shape;7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350" y="18075"/>
            <a:ext cx="2103376" cy="5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79" name="Google Shape;79;p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" name="Google Shape;81;p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82" name="Google Shape;82;p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86" name="Google Shape;86;p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" name="Google Shape;90;p7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91" name="Google Shape;91;p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92" name="Google Shape;92;p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" name="Google Shape;94;p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04" name="Google Shape;104;p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8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9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120" name="Google Shape;120;p9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21" name="Google Shape;121;p9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" name="Google Shape;123;p9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24" name="Google Shape;124;p9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9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p9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28" name="Google Shape;128;p9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9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" name="Google Shape;132;p9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133" name="Google Shape;133;p9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9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37" name="Google Shape;137;p9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p9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41" name="Google Shape;141;p9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" name="Google Shape;151;p9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6" name="Google Shape;156;p10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1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162" name="Google Shape;162;p11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63" name="Google Shape;163;p11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1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66" name="Google Shape;166;p11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70" name="Google Shape;170;p11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" name="Google Shape;174;p11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175" name="Google Shape;175;p11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76" name="Google Shape;176;p11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79" name="Google Shape;179;p11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p11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83" name="Google Shape;183;p11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" name="Google Shape;187;p11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88" name="Google Shape;188;p11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" name="Google Shape;193;p11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7" name="Google Shape;197;p12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8" name="Google Shape;198;p12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204" name="Google Shape;204;p1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5" name="Google Shape;205;p1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p1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08" name="Google Shape;208;p1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" name="Google Shape;211;p1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12" name="Google Shape;212;p1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6" name="Google Shape;216;p1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217" name="Google Shape;217;p1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18" name="Google Shape;218;p1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1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21" name="Google Shape;221;p1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1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25" name="Google Shape;225;p1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1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30" name="Google Shape;230;p1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5" name="Google Shape;235;p13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1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39" name="Google Shape;239;p14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14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b="1"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b="1" sz="1500">
                <a:solidFill>
                  <a:schemeClr val="dk2"/>
                </a:solidFill>
              </a:defRPr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  <a:defRPr b="1" sz="1300">
                <a:solidFill>
                  <a:schemeClr val="dk2"/>
                </a:solidFill>
              </a:defRPr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uifrommars.com/10-reglas-heuristicas-como-aplicarla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igma.com/es-es/circulo-cromatico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iro.com/es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9" name="Google Shape;249;p15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 1: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Planificación de Interfaces Gráficas</a:t>
            </a:r>
            <a:endParaRPr/>
          </a:p>
        </p:txBody>
      </p:sp>
      <p:sp>
        <p:nvSpPr>
          <p:cNvPr id="250" name="Google Shape;250;p15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de Interfaces Web</a:t>
            </a:r>
            <a:endParaRPr/>
          </a:p>
        </p:txBody>
      </p:sp>
      <p:sp>
        <p:nvSpPr>
          <p:cNvPr id="251" name="Google Shape;251;p15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2º DESARROLLO 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APLICACIONES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7" name="Google Shape;257;p16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Definición y objetivos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s"/>
              <a:t>Definición y objetivos</a:t>
            </a:r>
            <a:endParaRPr/>
          </a:p>
        </p:txBody>
      </p:sp>
      <p:sp>
        <p:nvSpPr>
          <p:cNvPr id="263" name="Google Shape;263;p17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Definición de interfaz gráfica:</a:t>
            </a:r>
            <a:r>
              <a:rPr lang="es"/>
              <a:t> Una interfaz gráfica es el </a:t>
            </a:r>
            <a:r>
              <a:rPr lang="es">
                <a:solidFill>
                  <a:schemeClr val="dk1"/>
                </a:solidFill>
              </a:rPr>
              <a:t>medio visual</a:t>
            </a:r>
            <a:r>
              <a:rPr lang="es"/>
              <a:t> a través del cual los </a:t>
            </a:r>
            <a:r>
              <a:rPr lang="es">
                <a:solidFill>
                  <a:schemeClr val="dk1"/>
                </a:solidFill>
              </a:rPr>
              <a:t>usuarios interactúan</a:t>
            </a:r>
            <a:r>
              <a:rPr lang="es"/>
              <a:t> con una aplicación o sistema. Se compone de elementos como botones, menús, formularios, íconos, y otros componentes visuales que </a:t>
            </a:r>
            <a:r>
              <a:rPr lang="es">
                <a:solidFill>
                  <a:schemeClr val="dk1"/>
                </a:solidFill>
              </a:rPr>
              <a:t>facilitan la comunicación entre el usuario y el sistema</a:t>
            </a:r>
            <a:r>
              <a:rPr lang="es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Importancia de la UI en el desarrollo de aplicaciones web:</a:t>
            </a:r>
            <a:r>
              <a:rPr lang="es"/>
              <a:t> La UI es fundamental para la UX (Experiencia de Usuario), ya que una interfaz intuitiva, accesible y visualmente atractiva mejora la satisfacción del usuario, facilita la navegación y aumenta la probabilidad de que el usuario cumpla con sus objetivos dentro de la aplicación.</a:t>
            </a:r>
            <a:endParaRPr/>
          </a:p>
        </p:txBody>
      </p:sp>
      <p:sp>
        <p:nvSpPr>
          <p:cNvPr id="264" name="Google Shape;264;p1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73333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Objetivos de la planificación de interfaces:</a:t>
            </a:r>
            <a:endParaRPr>
              <a:solidFill>
                <a:schemeClr val="dk1"/>
              </a:solidFill>
            </a:endParaRPr>
          </a:p>
          <a:p>
            <a:pPr indent="-309563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Usabilidad:</a:t>
            </a:r>
            <a:r>
              <a:rPr lang="es"/>
              <a:t> Crear interfaces que permitan a los usuarios realizar tareas de manera efectiva y eficiente.</a:t>
            </a:r>
            <a:endParaRPr/>
          </a:p>
          <a:p>
            <a:pPr indent="-309563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Accesibilidad:</a:t>
            </a:r>
            <a:r>
              <a:rPr lang="es"/>
              <a:t> Garantizar que la interfaz sea utilizable por personas con discapacidades, cumpliendo con normativas como WCAG.</a:t>
            </a:r>
            <a:endParaRPr/>
          </a:p>
          <a:p>
            <a:pPr indent="-309563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Estética: </a:t>
            </a:r>
            <a:r>
              <a:rPr lang="es"/>
              <a:t>Desarrollar una interfaz atractiva visualmente que también sea funcional.</a:t>
            </a:r>
            <a:endParaRPr/>
          </a:p>
          <a:p>
            <a:pPr indent="-309563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Funcionalidad:</a:t>
            </a:r>
            <a:r>
              <a:rPr lang="es"/>
              <a:t> Asegurar que la interfaz cumpla con los objetivos del usuario y del negocio.</a:t>
            </a:r>
            <a:endParaRPr/>
          </a:p>
        </p:txBody>
      </p:sp>
      <p:sp>
        <p:nvSpPr>
          <p:cNvPr id="270" name="Google Shape;270;p18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1" name="Google Shape;271;p18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s"/>
              <a:t>Definición y objetivos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7" name="Google Shape;277;p19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73333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2.1. Usabilidad</a:t>
            </a:r>
            <a:endParaRPr>
              <a:solidFill>
                <a:schemeClr val="dk1"/>
              </a:solidFill>
            </a:endParaRPr>
          </a:p>
          <a:p>
            <a:pPr indent="-302419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Principios de usabilidad</a:t>
            </a:r>
            <a:r>
              <a:rPr lang="es"/>
              <a:t>:</a:t>
            </a:r>
            <a:endParaRPr/>
          </a:p>
          <a:p>
            <a:pPr indent="-292576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>
                <a:solidFill>
                  <a:schemeClr val="dk1"/>
                </a:solidFill>
              </a:rPr>
              <a:t>Eficiencia</a:t>
            </a:r>
            <a:r>
              <a:rPr lang="es"/>
              <a:t>: La interfaz debe permitir al usuario completar tareas con el menor esfuerzo posible.</a:t>
            </a:r>
            <a:endParaRPr/>
          </a:p>
          <a:p>
            <a:pPr indent="-292576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>
                <a:solidFill>
                  <a:schemeClr val="dk1"/>
                </a:solidFill>
              </a:rPr>
              <a:t>Efectividad</a:t>
            </a:r>
            <a:r>
              <a:rPr lang="es"/>
              <a:t>: Los usuarios deben poder realizar las tareas correctamente y sin errores.</a:t>
            </a:r>
            <a:endParaRPr/>
          </a:p>
          <a:p>
            <a:pPr indent="-292576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>
                <a:solidFill>
                  <a:schemeClr val="dk1"/>
                </a:solidFill>
              </a:rPr>
              <a:t>Satisfacción del usuario</a:t>
            </a:r>
            <a:r>
              <a:rPr lang="es"/>
              <a:t>: La interfaz debe proporcionar una experiencia agradable y libre de frustraciones.</a:t>
            </a:r>
            <a:endParaRPr/>
          </a:p>
          <a:p>
            <a:pPr indent="-302419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Métodos para evaluar la usabilidad</a:t>
            </a:r>
            <a:r>
              <a:rPr lang="es"/>
              <a:t>:</a:t>
            </a:r>
            <a:endParaRPr/>
          </a:p>
          <a:p>
            <a:pPr indent="-292576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>
                <a:solidFill>
                  <a:schemeClr val="dk1"/>
                </a:solidFill>
              </a:rPr>
              <a:t>Pruebas de usabilidad</a:t>
            </a:r>
            <a:r>
              <a:rPr lang="es"/>
              <a:t>: Observación directa de cómo los usuarios interactúan con la interfaz para identificar problemas y áreas de mejora.</a:t>
            </a:r>
            <a:endParaRPr/>
          </a:p>
          <a:p>
            <a:pPr indent="-292576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>
                <a:solidFill>
                  <a:schemeClr val="dk1"/>
                </a:solidFill>
              </a:rPr>
              <a:t>Heurísticas de usabilidad</a:t>
            </a:r>
            <a:r>
              <a:rPr lang="es"/>
              <a:t>: Evaluación basada en reglas generales como las </a:t>
            </a:r>
            <a:r>
              <a:rPr lang="es" u="sng">
                <a:solidFill>
                  <a:schemeClr val="hlink"/>
                </a:solidFill>
                <a:hlinkClick r:id="rId3"/>
              </a:rPr>
              <a:t>heurísticas de Nielsen</a:t>
            </a:r>
            <a:r>
              <a:rPr lang="es"/>
              <a:t>, que incluyen principios como la visibilidad del estado del sistema y la libertad del usuario.</a:t>
            </a:r>
            <a:endParaRPr/>
          </a:p>
        </p:txBody>
      </p:sp>
      <p:sp>
        <p:nvSpPr>
          <p:cNvPr id="283" name="Google Shape;283;p2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4" name="Google Shape;284;p2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>
            <p:ph idx="1" type="body"/>
          </p:nvPr>
        </p:nvSpPr>
        <p:spPr>
          <a:xfrm>
            <a:off x="500700" y="1464525"/>
            <a:ext cx="8142600" cy="3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2.2. Accesibilidad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>
                <a:solidFill>
                  <a:schemeClr val="dk1"/>
                </a:solidFill>
              </a:rPr>
              <a:t>Normativas y directrices de accesibilidad web (WCAG)</a:t>
            </a:r>
            <a:r>
              <a:rPr lang="es"/>
              <a:t>:</a:t>
            </a:r>
            <a:endParaRPr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>
                <a:solidFill>
                  <a:schemeClr val="dk1"/>
                </a:solidFill>
              </a:rPr>
              <a:t>WCAG 2.1</a:t>
            </a:r>
            <a:r>
              <a:rPr lang="es"/>
              <a:t>: Directrices que establecen estándares para que el contenido web sea accesible para personas con diversas discapacidades, incluyendo visuales, auditivas, motoras y cognitivas.</a:t>
            </a:r>
            <a:endParaRPr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>
                <a:solidFill>
                  <a:schemeClr val="dk1"/>
                </a:solidFill>
              </a:rPr>
              <a:t>Herramientas para evaluar la accesibilidad</a:t>
            </a:r>
            <a:r>
              <a:rPr lang="es"/>
              <a:t>:</a:t>
            </a:r>
            <a:endParaRPr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>
                <a:solidFill>
                  <a:schemeClr val="dk1"/>
                </a:solidFill>
              </a:rPr>
              <a:t>WAVE</a:t>
            </a:r>
            <a:r>
              <a:rPr lang="es"/>
              <a:t>: Herramienta que identifica problemas de accesibilidad en sitios web.</a:t>
            </a:r>
            <a:endParaRPr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>
                <a:solidFill>
                  <a:schemeClr val="dk1"/>
                </a:solidFill>
              </a:rPr>
              <a:t>Lighthouse</a:t>
            </a:r>
            <a:r>
              <a:rPr lang="es"/>
              <a:t>: Herramienta de auditoría automatizada. Se usa para analizar páginas web y dar un informe con puntuaciones y recomendaciones de mejora.</a:t>
            </a:r>
            <a:endParaRPr/>
          </a:p>
        </p:txBody>
      </p:sp>
      <p:sp>
        <p:nvSpPr>
          <p:cNvPr id="290" name="Google Shape;290;p2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1" name="Google Shape;291;p21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2.3. Estética y Diseño Visual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73333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Principios básicos de diseño gráfico</a:t>
            </a:r>
            <a:r>
              <a:rPr lang="es"/>
              <a:t>:</a:t>
            </a:r>
            <a:endParaRPr/>
          </a:p>
          <a:p>
            <a:pPr indent="-309563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Contraste</a:t>
            </a:r>
            <a:r>
              <a:rPr lang="es"/>
              <a:t>: Uso de </a:t>
            </a:r>
            <a:r>
              <a:rPr lang="es">
                <a:solidFill>
                  <a:schemeClr val="dk1"/>
                </a:solidFill>
              </a:rPr>
              <a:t>colores y formas</a:t>
            </a:r>
            <a:r>
              <a:rPr lang="es"/>
              <a:t> para destacar </a:t>
            </a:r>
            <a:r>
              <a:rPr lang="es">
                <a:solidFill>
                  <a:schemeClr val="dk1"/>
                </a:solidFill>
              </a:rPr>
              <a:t>elementos importantes</a:t>
            </a:r>
            <a:r>
              <a:rPr lang="es"/>
              <a:t> y mejorar la legibilidad.</a:t>
            </a:r>
            <a:endParaRPr/>
          </a:p>
          <a:p>
            <a:pPr indent="-309563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Alineación</a:t>
            </a:r>
            <a:r>
              <a:rPr lang="es"/>
              <a:t>: Organización visual de los elementos para crear una estructura clara y ordenada.</a:t>
            </a:r>
            <a:endParaRPr/>
          </a:p>
          <a:p>
            <a:pPr indent="-309563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Proximidad</a:t>
            </a:r>
            <a:r>
              <a:rPr lang="es"/>
              <a:t>:</a:t>
            </a:r>
            <a:r>
              <a:rPr lang="es"/>
              <a:t> Agrupación de elementos relacionados para facilitar la comprensión.</a:t>
            </a:r>
            <a:endParaRPr/>
          </a:p>
          <a:p>
            <a:pPr indent="-309563" lvl="0" marL="457200" rtl="0" algn="just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Repetición</a:t>
            </a:r>
            <a:r>
              <a:rPr lang="es"/>
              <a:t>: Uso consistente de estilos visuales para crear coherencia y reforzar la identidad visual.</a:t>
            </a:r>
            <a:endParaRPr/>
          </a:p>
        </p:txBody>
      </p:sp>
      <p:sp>
        <p:nvSpPr>
          <p:cNvPr id="297" name="Google Shape;297;p2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8" name="Google Shape;298;p22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2.3. Estética y Diseño Visual (II)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Teoría del color y su aplicación en la web</a:t>
            </a:r>
            <a:r>
              <a:rPr lang="es"/>
              <a:t>:</a:t>
            </a:r>
            <a:endParaRPr/>
          </a:p>
          <a:p>
            <a:pPr indent="-295275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Paletas de colores</a:t>
            </a:r>
            <a:r>
              <a:rPr lang="es"/>
              <a:t>: </a:t>
            </a:r>
            <a:r>
              <a:rPr lang="es"/>
              <a:t>Selección de paletas armónicas (monocromáticas, análogas, complementarias, triádicas) que refuercen la identidad visual de la marca y mejoren la legibilidad. Herramientas como </a:t>
            </a:r>
            <a:r>
              <a:rPr lang="es" u="sng">
                <a:solidFill>
                  <a:schemeClr val="hlink"/>
                </a:solidFill>
                <a:hlinkClick r:id="rId3"/>
              </a:rPr>
              <a:t>círculo cromático de Figma</a:t>
            </a:r>
            <a:r>
              <a:rPr lang="es"/>
              <a:t>.</a:t>
            </a:r>
            <a:endParaRPr/>
          </a:p>
          <a:p>
            <a:pPr indent="-295275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Psicología del color</a:t>
            </a:r>
            <a:r>
              <a:rPr lang="es"/>
              <a:t>: </a:t>
            </a:r>
            <a:r>
              <a:rPr lang="es"/>
              <a:t>Comprensión de cómo los colores influyen en las emociones y percepciones del usuario. Por ejemplo, el azul transmite confianza y seguridad, mientras que el rojo puede evocar urgencia o peligro.</a:t>
            </a:r>
            <a:endParaRPr/>
          </a:p>
          <a:p>
            <a:pPr indent="-295275" lvl="0" marL="457200" rtl="0" algn="just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Accesibilidad del color</a:t>
            </a:r>
            <a:r>
              <a:rPr lang="es"/>
              <a:t>: </a:t>
            </a:r>
            <a:r>
              <a:rPr lang="es"/>
              <a:t>Asegurar que las combinaciones de colores cumplan con los ratios de contraste recomendados por las WCAG para asegurar la legibilidad para todos los usuarios, incluidos aquellos con daltonismo u otras deficiencias visuales.</a:t>
            </a:r>
            <a:endParaRPr/>
          </a:p>
        </p:txBody>
      </p:sp>
      <p:sp>
        <p:nvSpPr>
          <p:cNvPr id="304" name="Google Shape;304;p2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05" name="Google Shape;305;p2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2.3. Estética y Diseño Visual (III)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Tipografía en interfaces gráficas</a:t>
            </a:r>
            <a:r>
              <a:rPr lang="es"/>
              <a:t>:</a:t>
            </a:r>
            <a:endParaRPr/>
          </a:p>
          <a:p>
            <a:pPr indent="-302419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Selección de fuentes</a:t>
            </a:r>
            <a:r>
              <a:rPr lang="es"/>
              <a:t>: </a:t>
            </a:r>
            <a:r>
              <a:rPr lang="es"/>
              <a:t>Elegir tipografías que mejoren la legibilidad y refuercen la identidad visual de la marca. Es preferible el uso de tipografías sans-serif en interfaces web debido a su claridad en pantalla.</a:t>
            </a:r>
            <a:endParaRPr/>
          </a:p>
          <a:p>
            <a:pPr indent="-302419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Jerarquía tipográfica</a:t>
            </a:r>
            <a:r>
              <a:rPr lang="es"/>
              <a:t>: </a:t>
            </a:r>
            <a:r>
              <a:rPr lang="es"/>
              <a:t>Uso de diferentes tamaños, pesos y estilos tipográficos para guiar la atención del usuario, asegurando una lectura fluida y una fácil navegación.</a:t>
            </a:r>
            <a:endParaRPr/>
          </a:p>
          <a:p>
            <a:pPr indent="-302419" lvl="0" marL="457200" rtl="0" algn="just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Accesibilidad tipográfica</a:t>
            </a:r>
            <a:r>
              <a:rPr lang="es"/>
              <a:t>: </a:t>
            </a:r>
            <a:r>
              <a:rPr lang="es"/>
              <a:t>Asegurar que el texto sea legible en todos los dispositivos, considerando factores como el tamaño mínimo de la fuente, el interlineado y el espaciado entre caracteres.</a:t>
            </a:r>
            <a:endParaRPr/>
          </a:p>
        </p:txBody>
      </p:sp>
      <p:sp>
        <p:nvSpPr>
          <p:cNvPr id="311" name="Google Shape;311;p2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12" name="Google Shape;312;p2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2.4. Consistencia y Coherencia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Uso de patrones de diseño</a:t>
            </a:r>
            <a:r>
              <a:rPr lang="es">
                <a:solidFill>
                  <a:schemeClr val="accent6"/>
                </a:solidFill>
              </a:rPr>
              <a:t>: Implementar </a:t>
            </a:r>
            <a:r>
              <a:rPr lang="es">
                <a:solidFill>
                  <a:schemeClr val="dk1"/>
                </a:solidFill>
              </a:rPr>
              <a:t>patrones de diseño UI conocidos </a:t>
            </a:r>
            <a:r>
              <a:rPr lang="es">
                <a:solidFill>
                  <a:schemeClr val="accent6"/>
                </a:solidFill>
              </a:rPr>
              <a:t>que faciliten la familiaridad y previsibilidad en la interacción, como los menús hamburguesa en dispositivos móviles o el uso de breadcrumb para navegación.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73333"/>
              <a:buFont typeface="Arial"/>
              <a:buNone/>
            </a:pPr>
            <a:r>
              <a:rPr lang="es">
                <a:solidFill>
                  <a:schemeClr val="accent6"/>
                </a:solidFill>
              </a:rPr>
              <a:t>  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Creación de guías de estilo</a:t>
            </a:r>
            <a:r>
              <a:rPr lang="es">
                <a:solidFill>
                  <a:schemeClr val="accent6"/>
                </a:solidFill>
              </a:rPr>
              <a:t>: Documentación que incluye la paleta de colores, tipografías, iconografía, y patrones de diseño utilizados, asegurando una </a:t>
            </a:r>
            <a:r>
              <a:rPr lang="es">
                <a:solidFill>
                  <a:schemeClr val="dk1"/>
                </a:solidFill>
              </a:rPr>
              <a:t>experiencia consistente en todas las plataformas y versiones</a:t>
            </a:r>
            <a:r>
              <a:rPr lang="es">
                <a:solidFill>
                  <a:schemeClr val="accent6"/>
                </a:solidFill>
              </a:rPr>
              <a:t> del producto.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8" name="Google Shape;318;p2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Principios de Diseño de Interfaces Gráficas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AB7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5" name="Google Shape;325;p26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1" name="Google Shape;331;p27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Proceso de Diseño de Interfaces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3.1. Análisis de Requisitos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Identificación de las necesidades del usuario</a:t>
            </a:r>
            <a:r>
              <a:rPr lang="es">
                <a:solidFill>
                  <a:schemeClr val="accent6"/>
                </a:solidFill>
              </a:rPr>
              <a:t>: Usar técnicas como entrevistas, encuestas, y análisis de tareas para entender las expectativas y problemas de los usuarios.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Definición de objetivos del proyecto</a:t>
            </a:r>
            <a:r>
              <a:rPr lang="es">
                <a:solidFill>
                  <a:schemeClr val="accent6"/>
                </a:solidFill>
              </a:rPr>
              <a:t>: Establecer metas claras tanto desde la perspectiva del negocio como del usuario final.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Investigación de usuarios (personas, escenarios de uso)</a:t>
            </a:r>
            <a:r>
              <a:rPr lang="es">
                <a:solidFill>
                  <a:schemeClr val="accent6"/>
                </a:solidFill>
              </a:rPr>
              <a:t>:</a:t>
            </a:r>
            <a:endParaRPr>
              <a:solidFill>
                <a:schemeClr val="accent6"/>
              </a:solidFill>
            </a:endParaRPr>
          </a:p>
          <a:p>
            <a:pPr indent="-302419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-"/>
            </a:pPr>
            <a:r>
              <a:rPr lang="es">
                <a:solidFill>
                  <a:schemeClr val="accent6"/>
                </a:solidFill>
              </a:rPr>
              <a:t>Personas: Creación de perfiles detallados que representen a los usuarios típicos.</a:t>
            </a:r>
            <a:endParaRPr>
              <a:solidFill>
                <a:schemeClr val="accent6"/>
              </a:solidFill>
            </a:endParaRPr>
          </a:p>
          <a:p>
            <a:pPr indent="-302419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-"/>
            </a:pPr>
            <a:r>
              <a:rPr lang="es">
                <a:solidFill>
                  <a:schemeClr val="accent6"/>
                </a:solidFill>
              </a:rPr>
              <a:t>Escenarios de uso: Descripciones detalladas de cómo los usuarios interactuarían con la interfaz en diferentes contextos.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37" name="Google Shape;337;p28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8" name="Google Shape;338;p28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Proceso de Diseño de Interfaces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3.2. Wireframing y Prototipado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Definición y uso de wireframes</a:t>
            </a:r>
            <a:r>
              <a:rPr lang="es">
                <a:solidFill>
                  <a:schemeClr val="accent6"/>
                </a:solidFill>
              </a:rPr>
              <a:t>: Creación de </a:t>
            </a:r>
            <a:r>
              <a:rPr lang="es">
                <a:solidFill>
                  <a:schemeClr val="dk1"/>
                </a:solidFill>
              </a:rPr>
              <a:t>bocetos simplificados</a:t>
            </a:r>
            <a:r>
              <a:rPr lang="es">
                <a:solidFill>
                  <a:schemeClr val="accent6"/>
                </a:solidFill>
              </a:rPr>
              <a:t> de la interfaz que muestran la disposición de los elementos sin detalles estéticos, permitiendo enfocar la discusión en la funcionalidad y flujo de la interfaz.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Herramientas para crear wireframes</a:t>
            </a:r>
            <a:r>
              <a:rPr lang="es">
                <a:solidFill>
                  <a:schemeClr val="accent6"/>
                </a:solidFill>
              </a:rPr>
              <a:t>: Uso de herramientas como Figma, Sketch, Adobe XD o </a:t>
            </a:r>
            <a:r>
              <a:rPr lang="es" u="sng">
                <a:solidFill>
                  <a:schemeClr val="hlink"/>
                </a:solidFill>
                <a:hlinkClick r:id="rId3"/>
              </a:rPr>
              <a:t>Miro</a:t>
            </a:r>
            <a:r>
              <a:rPr lang="es">
                <a:solidFill>
                  <a:schemeClr val="accent6"/>
                </a:solidFill>
              </a:rPr>
              <a:t> para crear wireframes de manera rápida y colaborativa.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Prototipado de alta y baja fidelidad</a:t>
            </a:r>
            <a:r>
              <a:rPr lang="es">
                <a:solidFill>
                  <a:schemeClr val="accent6"/>
                </a:solidFill>
              </a:rPr>
              <a:t>: Desarrollar prototipos que varíen en detalle, desde simples esquemas (baja fidelidad) hasta simulaciones cercanas al producto final (alta fidelidad).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44" name="Google Shape;344;p29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45" name="Google Shape;345;p29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Proceso de Diseño de Interfaces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3.3. Iteración y Feedback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Métodos para la validación de interfaces</a:t>
            </a:r>
            <a:r>
              <a:rPr lang="es">
                <a:solidFill>
                  <a:schemeClr val="accent6"/>
                </a:solidFill>
              </a:rPr>
              <a:t>: </a:t>
            </a:r>
            <a:endParaRPr>
              <a:solidFill>
                <a:schemeClr val="accent6"/>
              </a:solidFill>
            </a:endParaRPr>
          </a:p>
          <a:p>
            <a:pPr indent="-309563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Test con usuarios</a:t>
            </a:r>
            <a:r>
              <a:rPr lang="es">
                <a:solidFill>
                  <a:schemeClr val="accent6"/>
                </a:solidFill>
              </a:rPr>
              <a:t>: Realizar pruebas donde los usuarios interactúan con el prototipo para identificar problemas y recopilar feedback.</a:t>
            </a:r>
            <a:endParaRPr>
              <a:solidFill>
                <a:schemeClr val="accent6"/>
              </a:solidFill>
            </a:endParaRPr>
          </a:p>
          <a:p>
            <a:pPr indent="-309563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A/B testing</a:t>
            </a:r>
            <a:r>
              <a:rPr lang="es">
                <a:solidFill>
                  <a:schemeClr val="accent6"/>
                </a:solidFill>
              </a:rPr>
              <a:t>: Comparación de dos versiones de una interfaz para determinar cuál ofrece una mejor experiencia al usuario.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Incorporación de feedback en el diseño</a:t>
            </a:r>
            <a:r>
              <a:rPr lang="es">
                <a:solidFill>
                  <a:schemeClr val="accent6"/>
                </a:solidFill>
              </a:rPr>
              <a:t>: </a:t>
            </a:r>
            <a:r>
              <a:rPr lang="es">
                <a:solidFill>
                  <a:schemeClr val="accent6"/>
                </a:solidFill>
              </a:rPr>
              <a:t>Ajustar el diseño basado en los resultados de las pruebas y la retroalimentación recibida, siguiendo un proceso iterativo que refine continuamente la interfaz.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51" name="Google Shape;351;p3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52" name="Google Shape;352;p3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Proceso de Diseño de Interfaces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58" name="Google Shape;358;p31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r>
              <a:rPr lang="es"/>
              <a:t>. Tendencias Actuales en el Diseño de Interfaces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4.1. Diseño Responsive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Importancia del diseño responsive o adaptative</a:t>
            </a:r>
            <a:r>
              <a:rPr lang="es">
                <a:solidFill>
                  <a:schemeClr val="accent6"/>
                </a:solidFill>
              </a:rPr>
              <a:t>: Con la proliferación de dispositivos con diferentes tamaños de pantalla, desde móviles hasta televisores, es crucial que las interfaces se adapten a todas las resoluciones de manera efectiva.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Técnicas para diseñar interfaces responsivas y/o adaptativas</a:t>
            </a:r>
            <a:r>
              <a:rPr lang="es">
                <a:solidFill>
                  <a:schemeClr val="accent6"/>
                </a:solidFill>
              </a:rPr>
              <a:t>:</a:t>
            </a:r>
            <a:endParaRPr>
              <a:solidFill>
                <a:schemeClr val="accent6"/>
              </a:solidFill>
            </a:endParaRPr>
          </a:p>
          <a:p>
            <a:pPr indent="-316706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Media queries</a:t>
            </a:r>
            <a:r>
              <a:rPr lang="es">
                <a:solidFill>
                  <a:schemeClr val="accent6"/>
                </a:solidFill>
              </a:rPr>
              <a:t>: Uso de CSS para aplicar estilos específicos según el tamaño de la pantalla.</a:t>
            </a:r>
            <a:endParaRPr>
              <a:solidFill>
                <a:schemeClr val="accent6"/>
              </a:solidFill>
            </a:endParaRPr>
          </a:p>
          <a:p>
            <a:pPr indent="-316706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Flexbox y Grid</a:t>
            </a:r>
            <a:r>
              <a:rPr lang="es">
                <a:solidFill>
                  <a:schemeClr val="accent6"/>
                </a:solidFill>
              </a:rPr>
              <a:t>: Herramientas de diseño CSS que permiten crear layouts flexibles.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64" name="Google Shape;364;p3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5" name="Google Shape;365;p32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r>
              <a:rPr lang="es"/>
              <a:t>. Tendencias Actuales en el Diseño de Interfaces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4.</a:t>
            </a:r>
            <a:r>
              <a:rPr lang="es">
                <a:solidFill>
                  <a:schemeClr val="dk1"/>
                </a:solidFill>
              </a:rPr>
              <a:t>2. Mobile-first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Principios del diseño mobile-first</a:t>
            </a:r>
            <a:r>
              <a:rPr lang="es">
                <a:solidFill>
                  <a:schemeClr val="accent6"/>
                </a:solidFill>
              </a:rPr>
              <a:t>: Iniciar el diseño pensando en dispositivos móviles, que suelen tener mayores limitaciones de espacio y recursos, y luego escalar a pantallas más grandes.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Adaptación de interfaces a dispositivos móviles</a:t>
            </a:r>
            <a:r>
              <a:rPr lang="es">
                <a:solidFill>
                  <a:schemeClr val="accent6"/>
                </a:solidFill>
              </a:rPr>
              <a:t>: Simplificar la navegación, reducir contenido innecesario, optimizar imágenes y priorizar la velocidad de carga para mejorar la experiencia en dispositivos móviles.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71" name="Google Shape;371;p3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2" name="Google Shape;372;p3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Tendencias Actuales en el Diseño de Interfaces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4.</a:t>
            </a:r>
            <a:r>
              <a:rPr lang="es">
                <a:solidFill>
                  <a:schemeClr val="dk1"/>
                </a:solidFill>
              </a:rPr>
              <a:t>3. Diseño Inclusivo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Concepto y principios del diseño inclusivo</a:t>
            </a:r>
            <a:r>
              <a:rPr lang="es">
                <a:solidFill>
                  <a:schemeClr val="accent6"/>
                </a:solidFill>
              </a:rPr>
              <a:t>: Considerar la diversidad de usuarios, incluyendo personas con diferentes niveles de habilidad, discapacidades y contextos de uso.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73333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Ejemplos de diseño inclusivo en interfaces web</a:t>
            </a:r>
            <a:r>
              <a:rPr lang="es">
                <a:solidFill>
                  <a:schemeClr val="accent6"/>
                </a:solidFill>
              </a:rPr>
              <a:t>: </a:t>
            </a:r>
            <a:endParaRPr>
              <a:solidFill>
                <a:schemeClr val="accent6"/>
              </a:solidFill>
            </a:endParaRPr>
          </a:p>
          <a:p>
            <a:pPr indent="-316706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Contraste adecuado</a:t>
            </a:r>
            <a:r>
              <a:rPr lang="es">
                <a:solidFill>
                  <a:schemeClr val="accent6"/>
                </a:solidFill>
              </a:rPr>
              <a:t> para usuarios con dificultades visuales.</a:t>
            </a:r>
            <a:endParaRPr>
              <a:solidFill>
                <a:schemeClr val="accent6"/>
              </a:solidFill>
            </a:endParaRPr>
          </a:p>
          <a:p>
            <a:pPr indent="-316706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Texto ajustable</a:t>
            </a:r>
            <a:r>
              <a:rPr lang="es">
                <a:solidFill>
                  <a:schemeClr val="accent6"/>
                </a:solidFill>
              </a:rPr>
              <a:t> para aquellos con discapacidades visuales.</a:t>
            </a:r>
            <a:endParaRPr>
              <a:solidFill>
                <a:schemeClr val="accent6"/>
              </a:solidFill>
            </a:endParaRPr>
          </a:p>
          <a:p>
            <a:pPr indent="-316706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Soporte para tecnologías de asistencia</a:t>
            </a:r>
            <a:r>
              <a:rPr lang="es">
                <a:solidFill>
                  <a:schemeClr val="accent6"/>
                </a:solidFill>
              </a:rPr>
              <a:t> como lectores de pantalla.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78" name="Google Shape;378;p3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9" name="Google Shape;379;p3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Tendencias Actuales en el Diseño de Interfaces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4.</a:t>
            </a:r>
            <a:r>
              <a:rPr lang="es">
                <a:solidFill>
                  <a:schemeClr val="dk1"/>
                </a:solidFill>
              </a:rPr>
              <a:t>4. Dark Mode y Personalización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Dark Mode</a:t>
            </a:r>
            <a:r>
              <a:rPr lang="es">
                <a:solidFill>
                  <a:schemeClr val="accent6"/>
                </a:solidFill>
              </a:rPr>
              <a:t>: </a:t>
            </a:r>
            <a:r>
              <a:rPr lang="es">
                <a:solidFill>
                  <a:schemeClr val="accent6"/>
                </a:solidFill>
              </a:rPr>
              <a:t>Ofrece una opción de visualización en tonos oscuros que reduce la fatiga visual en entornos con poca luz. </a:t>
            </a:r>
            <a:endParaRPr>
              <a:solidFill>
                <a:schemeClr val="accent6"/>
              </a:solidFill>
            </a:endParaRPr>
          </a:p>
          <a:p>
            <a:pPr indent="-316706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➔"/>
            </a:pPr>
            <a:r>
              <a:rPr lang="es">
                <a:solidFill>
                  <a:schemeClr val="dk1"/>
                </a:solidFill>
              </a:rPr>
              <a:t>Implementación del dark mode en interfaces web</a:t>
            </a:r>
            <a:r>
              <a:rPr lang="es">
                <a:solidFill>
                  <a:schemeClr val="accent6"/>
                </a:solidFill>
              </a:rPr>
              <a:t>: Uso de variables CSS y estrategias como la detección de la preferencia de color del sistema para cambiar fácilmente entre modos claro y oscuro.</a:t>
            </a:r>
            <a:endParaRPr>
              <a:solidFill>
                <a:schemeClr val="accent6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Personalización</a:t>
            </a:r>
            <a:r>
              <a:rPr lang="es">
                <a:solidFill>
                  <a:schemeClr val="accent6"/>
                </a:solidFill>
              </a:rPr>
              <a:t>: </a:t>
            </a:r>
            <a:r>
              <a:rPr lang="es">
                <a:solidFill>
                  <a:schemeClr val="accent6"/>
                </a:solidFill>
              </a:rPr>
              <a:t>Permitir que los usuarios adapten la interfaz a sus preferencias personales mejora la experiencia del usuario y su satisfacción.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5" name="Google Shape;385;p3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6" name="Google Shape;386;p35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Tendencias Actuales en el Diseño de Interfaces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